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315" r:id="rId6"/>
    <p:sldId id="313" r:id="rId7"/>
    <p:sldId id="314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5" r:id="rId17"/>
    <p:sldId id="324" r:id="rId18"/>
    <p:sldId id="326" r:id="rId19"/>
    <p:sldId id="327" r:id="rId20"/>
    <p:sldId id="328" r:id="rId21"/>
    <p:sldId id="329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7E3EF8-57F3-563A-EF72-E67B72C35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0CF6CEB-64A7-3423-B507-262355121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DEE9BD-573D-6CE7-8D32-34257233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63B60A-2E55-4794-FFFC-6F5388B3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7E13D9-B108-BA75-AA0C-37B3EC6E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777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FA579B-DBC6-1D48-EBCA-4B426BDC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8CC97A-65CA-57E7-C008-76510D8E5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61A3C2-F07A-CDE9-E6CD-E77AD1F00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7820A0-DC27-3F8A-EF22-B84B6D53C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72A842-C524-9EF3-4EAA-979AEDB2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576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F2EC99-D3C6-2EAE-B5D3-E5D157B5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B4E7C1E-793A-6A9A-CE6B-C8FF096AD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2EF954-C314-C91A-BD1D-AEE8AC54D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F17BEA-33F4-FCF8-CDEF-F3711475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8476F7-F48B-0334-516A-766ABC45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3522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278BAD-DFCF-8460-3D7F-F2E5A3A31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A9951E-5608-BAE9-DDFC-59795C882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7D0090E-9462-C38A-D0B8-95D749239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BB425F0-88DD-E0A6-E0C0-70CD9810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6F22EE7-7092-7EAF-E13E-1CFCF3EE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BBDCD33-B1B4-9194-3292-8AEB89A5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398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960407-8480-AD95-BD32-C3CEDD11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D95F618-BB25-A44F-8D5A-6BFAF414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DF00F19-2B8E-A226-8326-B346CDBCD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1C29DEB-7566-9488-A8D5-6ADFCF6D4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C2C83F8-9EB5-D98D-CC75-BBC99C779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65CB522-5130-AFAD-5C10-EBE3B407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A2713DA-0430-02CA-072A-F59CE9BA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B767BB5-7100-AD69-B218-CA9B6CAE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462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8C71A7-8F8C-8193-9B27-5276B001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002E21E-6D88-E5E1-57DD-5F0EA7B6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5CE1E1-AE88-5BF2-9674-EC428098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DA68757-88E5-5B3C-60D8-F1152FBF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65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5DE1E94-A814-DE7B-BCBC-6F5298E53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D19249-5992-C925-5A7A-58E4C918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7A0EC5-11C5-5431-FFF9-A9BC19B24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799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D57C1E-32F4-3D5B-A075-53DD3F66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2456FA-D38F-73EF-2642-F70FE7E41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3EE1B89-937B-EB7D-0592-36BBC1908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7A74658-4EAB-0E87-C2B9-D6519AC7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A9A88E8-83A1-8924-9C75-678BA972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FFEA9EF-E8F6-12FC-133F-B0DCCB7B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86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D977E4-B950-2620-2300-791717B0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4EE7B8C-26E7-D976-09D9-A46487497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A06F169-CEB8-A8B5-C253-9C07A3AB0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23542B3-EDA1-623A-6F13-8305A811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C230E3E-6EBE-6D10-38B5-8864A17E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FEC4AB-6211-8C24-8646-3FD49437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526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47323C-10DC-5CE4-7085-039235AC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4E75B06-62D7-65C6-F201-BB07EC5D8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CF9413-932F-2F34-ADC4-088EB326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5F08E6-E05D-BFB4-A938-AAAD735B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2580C5-CFFE-E097-A24F-35E30502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329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9501297-DC5D-F157-F2A5-6DE5C2527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3D263B-EEB6-75E6-77A0-DF0FEAB22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949186-14A9-F8F4-A064-7F0B6210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AF2EE6-BF5B-5E4C-A416-6B43C4839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FD921-4FE4-B4DB-077F-CDFC5109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628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17AE9E9-2A1C-721F-CA57-32ACC868E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868C56D-A855-8D03-A2C8-07D6E1894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F7C71C-5BAC-139F-572A-9251E552E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87CF6-AC14-4FA8-B314-DB4C4759569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2CDF638-A9EE-8C84-0C97-2A33BA1A7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78FE32-52B6-EF4C-9CD3-A89E54DFE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78D85-81C4-4EB6-B11F-4F753D3CE41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09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Semiotics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the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70B12C9-6695-FB15-11FA-5800C195A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130" y="1881420"/>
            <a:ext cx="6429916" cy="49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20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927847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48118"/>
            <a:ext cx="11183472" cy="4608232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7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7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7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7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5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en-US" sz="5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complex composite notion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structural analytical concept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transcendent reality which man experiences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7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force which is found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in each totemic object – mana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in every aspect of natural and supernatural reality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7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</a:t>
            </a:r>
            <a:r>
              <a:rPr lang="en-US" sz="59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Tree of life</a:t>
            </a:r>
            <a:endParaRPr lang="it-IT" sz="59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E5DA23D-85F6-951B-175B-3043759F1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530" y="2745255"/>
            <a:ext cx="3843804" cy="384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9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65" y="1694329"/>
            <a:ext cx="11322423" cy="466202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1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it-IT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acred</a:t>
            </a:r>
            <a:r>
              <a:rPr lang="it-IT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it-IT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it-IT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profane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Sacred things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are protected and isolated by prohibitions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Profane things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are those to which such prohibitions apply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which must keep their distance from what is sacred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The </a:t>
            </a:r>
            <a:r>
              <a:rPr lang="it-IT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Caduceus</a:t>
            </a:r>
            <a:r>
              <a:rPr lang="it-IT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2F9FE75-84AA-1960-A3F6-70BBC6B44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727" y="2520297"/>
            <a:ext cx="3343861" cy="383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30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094" y="1881420"/>
            <a:ext cx="11228294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1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Durkheim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the nature of the sacred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Malinowski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the distinction between religion and common sense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Freud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the similarity between personal and collective rituals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Weber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the problem of meaning in the face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analytical, emotional and moral impotence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The Ankh, or Crux Ansata</a:t>
            </a:r>
            <a:endParaRPr lang="it-IT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D29133-A51B-AA07-1565-DA38EF12E1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3" t="5430"/>
          <a:stretch/>
        </p:blipFill>
        <p:spPr>
          <a:xfrm>
            <a:off x="10056159" y="4118885"/>
            <a:ext cx="2595281" cy="27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55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4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4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4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4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Religion is a human universal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although not all men are religious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there is no human society in which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the cultural models which we can call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religious are totally lacking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5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</a:t>
            </a:r>
            <a:r>
              <a:rPr lang="it-IT" sz="35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it-IT" sz="35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spiral</a:t>
            </a:r>
            <a:endParaRPr lang="it-IT" sz="3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4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9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symbol of Sacred Geometry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synthesises</a:t>
            </a:r>
            <a:r>
              <a:rPr lang="en-US" sz="2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form and movement and contains the concept of “π</a:t>
            </a:r>
            <a:r>
              <a:rPr lang="en-US" sz="26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άντ</a:t>
            </a:r>
            <a:r>
              <a:rPr lang="en-US" sz="2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α ῥεῖ”</a:t>
            </a:r>
            <a:endParaRPr lang="it-IT" sz="26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B3A55B1-D15A-1688-EB83-EF7378C15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147" y="2817243"/>
            <a:ext cx="3814971" cy="353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0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Clifford Geertz depicted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Religion as a cultural system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historically transmitted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pattern of meanings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embodied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symbols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societies use these symbols to express their worldview,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value-orientation, ethos and other aspects of their culture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6631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sacred symbols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vision of the life of a people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express basic consistence between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particular lifestyle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specific metaphysics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Flower of life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F80E5F0-3547-69F9-CE1D-FFAAC0A66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530739"/>
            <a:ext cx="3176291" cy="31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3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43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43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43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43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5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symbols can be </a:t>
            </a:r>
            <a:r>
              <a:rPr lang="it-IT" sz="35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considered</a:t>
            </a:r>
            <a:endParaRPr lang="it-IT" sz="3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it-IT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model for</a:t>
            </a:r>
            <a:endParaRPr lang="it-IT" sz="35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model of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Religious symbols are cultural patterns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which contain both these aspects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they express the world and shape it</a:t>
            </a:r>
            <a:r>
              <a:rPr lang="it-IT" sz="35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it-IT" sz="2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Double happiness symbol</a:t>
            </a:r>
            <a:endParaRPr lang="en-US" sz="2600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E66CE9F-83B8-38AA-BBAF-4776F3868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673" y="2396419"/>
            <a:ext cx="2995851" cy="29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4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9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Religion</a:t>
            </a:r>
            <a:r>
              <a:rPr lang="en-US" sz="3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</a:t>
            </a:r>
            <a:r>
              <a:rPr lang="en-US" sz="30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3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heel of Dharma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attributes a cosmic order to human actions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powerful system of role models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reates deep and widespread moods and motivations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formulates a set of concepts which provide general order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existence</a:t>
            </a:r>
            <a:endParaRPr lang="it-IT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5E4FE16-9641-A2DC-3647-31294B8D1D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42" t="3957" b="5653"/>
          <a:stretch/>
        </p:blipFill>
        <p:spPr>
          <a:xfrm>
            <a:off x="9224683" y="2131359"/>
            <a:ext cx="2737956" cy="259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58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2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Religion</a:t>
            </a: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offers a criterion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interpret the chaos and explain what appears incomprehensible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express, understand and endure suffering, illness, death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provides an effective set of rules and ethical criteria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which guide action in the face of evil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017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75012"/>
            <a:ext cx="11183472" cy="45813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9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9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9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it-IT" sz="3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ituals</a:t>
            </a:r>
            <a:r>
              <a:rPr lang="it-IT" sz="3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it-IT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not necessarily religious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a r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epetition of gestures and words which have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performative character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express, signify and effect change in the world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</a:t>
            </a:r>
            <a:r>
              <a:rPr lang="it-IT" sz="3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Rain</a:t>
            </a:r>
            <a:r>
              <a:rPr lang="it-IT" sz="3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stick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98F0CC9-73D3-E59C-DF6A-D2ECF9511B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55" t="2649" r="26227" b="8888"/>
          <a:stretch/>
        </p:blipFill>
        <p:spPr>
          <a:xfrm>
            <a:off x="10848207" y="1975969"/>
            <a:ext cx="1092781" cy="440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55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40" y="1881420"/>
            <a:ext cx="10986247" cy="447493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Rituals</a:t>
            </a:r>
            <a:r>
              <a:rPr lang="it-IT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ceremonial forms which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reinforce beliefs and moods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world as it is experienced and the world as it is imagined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7547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Sacrifice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universally widespread religious rite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 object is offered to a divinity in order to establish, maintain,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or restore the correct relationship of a human being or community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with the sacred order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profane communicates with the sacred through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the intermediation of a victim</a:t>
            </a: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1063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030961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573307"/>
            <a:ext cx="11183472" cy="478304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1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Sacrifice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complex phenomenon which has been found in the earliest known forms of worship and in all parts of the world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E7EE1FB-0A4F-6087-35B2-6CE3AF8AF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62" t="6049" r="12562" b="15140"/>
          <a:stretch/>
        </p:blipFill>
        <p:spPr>
          <a:xfrm>
            <a:off x="838200" y="3312847"/>
            <a:ext cx="4753733" cy="340862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D549DD1-BCDF-00EA-9FC3-D7E6E7DB41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74" t="7499" r="11509" b="13690"/>
          <a:stretch/>
        </p:blipFill>
        <p:spPr>
          <a:xfrm>
            <a:off x="6509852" y="3312847"/>
            <a:ext cx="5065450" cy="354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11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2"/>
            <a:ext cx="10515600" cy="1019922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653988"/>
            <a:ext cx="11183472" cy="470236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Many types of sacrifices were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practised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traditional societies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Even ritual human sacrifice</a:t>
            </a: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3B83E67-831A-3060-9219-51DE62281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62" y="4561168"/>
            <a:ext cx="3295650" cy="17145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92FB18E-FDC1-C07E-FEC7-FBB9CC21F9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671"/>
          <a:stretch/>
        </p:blipFill>
        <p:spPr>
          <a:xfrm>
            <a:off x="8390404" y="3429000"/>
            <a:ext cx="3571315" cy="342899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25B7AE55-D0B3-B58E-B20A-C6624B91A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7016" y="3711928"/>
            <a:ext cx="4298926" cy="314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22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Every sacrificial rite has the purpose of creating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 relationship between two polar terms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sacrifyer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sacrificed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deity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bond is created between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the victim and the beneficiary of the sacrifice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15F4D49-F430-9865-BC82-954009B55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556" y="3429000"/>
            <a:ext cx="4715435" cy="243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84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Sacred</a:t>
            </a:r>
            <a:r>
              <a:rPr lang="it-IT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it-IT" sz="36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endParaRPr lang="it-IT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social semiotics approach deals with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set of meanings embodied in rituals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connection of this set to social, cultural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psychological processes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58035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5C6FB0-376F-4796-AD63-D6D64DD0A91B}">
  <ds:schemaRefs>
    <ds:schemaRef ds:uri="http://schemas.microsoft.com/office/2006/documentManagement/types"/>
    <ds:schemaRef ds:uri="http://schemas.microsoft.com/office/infopath/2007/PartnerControls"/>
    <ds:schemaRef ds:uri="dd8f7588-51a2-406b-a0e8-fc76e6373225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368885-C91B-43F7-8E51-C7DECF98BF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95292E-1D36-432D-9FDB-789D10B5D66D}"/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787</Words>
  <Application>Microsoft Office PowerPoint</Application>
  <PresentationFormat>Widescreen</PresentationFormat>
  <Paragraphs>234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cleliab@ibosea.org</cp:lastModifiedBy>
  <cp:revision>13</cp:revision>
  <dcterms:created xsi:type="dcterms:W3CDTF">2023-05-29T15:49:41Z</dcterms:created>
  <dcterms:modified xsi:type="dcterms:W3CDTF">2023-06-01T14:22:08Z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