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2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2" r:id="rId15"/>
    <p:sldId id="273" r:id="rId16"/>
    <p:sldId id="274" r:id="rId17"/>
    <p:sldId id="277" r:id="rId18"/>
    <p:sldId id="276" r:id="rId19"/>
    <p:sldId id="278" r:id="rId2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7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85E624A-47F5-B703-8A07-A3E72D230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1985FC8-5384-81D6-3DF1-83EF8B44E5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5D2B330-D869-A64C-02D2-5A0ED9DEB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301E8-83D8-4D70-8F63-D3C6B884CD5C}" type="datetimeFigureOut">
              <a:rPr lang="it-IT" smtClean="0"/>
              <a:t>28/03/2023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EA9A7E9-CBD2-96E0-AB00-91A3127EF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527A8FD-209C-3AF2-F565-1467024F5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CFA0D-47C8-425F-AC93-441C8155FB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961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387D3B-12CE-3794-D61F-B44FA0672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8E0CE92-D9C5-D882-8D54-8C2A88A7F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5C9207B-0DAC-055F-6E50-B69BCB9BD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301E8-83D8-4D70-8F63-D3C6B884CD5C}" type="datetimeFigureOut">
              <a:rPr lang="it-IT" smtClean="0"/>
              <a:t>28/03/2023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86A69B8-39C8-1D0A-1D1B-CB0385EFC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661825C-232A-A055-168B-05BEDDAB3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CFA0D-47C8-425F-AC93-441C8155FB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71212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E1F9C8-E035-B5AE-4812-E9FA868B6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99D7AB5-4F1A-7ED5-DDE9-C49F3F2E8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DB06530-690E-843F-6A63-45EA9015F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301E8-83D8-4D70-8F63-D3C6B884CD5C}" type="datetimeFigureOut">
              <a:rPr lang="it-IT" smtClean="0"/>
              <a:t>28/03/2023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AC267ED-6478-1C5B-0299-049FA0E12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89C7264-17F7-A910-53B4-65C529361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CFA0D-47C8-425F-AC93-441C8155FB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79931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8F5255-9027-749D-2CCF-30D657FB6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9A28929-C310-2914-09B3-148BA36DA7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4ABC61F-365C-26A8-E84E-030F48BB01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464F51B-FF4E-0D25-97C4-6F0D59B62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301E8-83D8-4D70-8F63-D3C6B884CD5C}" type="datetimeFigureOut">
              <a:rPr lang="it-IT" smtClean="0"/>
              <a:t>28/03/2023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D62E284-547E-F284-BB33-E0BA17E72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A48658A-5267-9B54-39AE-5A873EBF4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CFA0D-47C8-425F-AC93-441C8155FB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6888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55CEA1-A838-37D4-8328-B9778783E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D000019-3668-25F2-9235-712E9B2EAD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66CA509-0A00-3AF3-441A-BE40FB5947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FC37A36-827C-1785-F083-FCB649209F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2319540-0AC5-2C24-B9CE-D74CB97FA0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D0C2716-C320-0E06-6DE1-04455AB43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301E8-83D8-4D70-8F63-D3C6B884CD5C}" type="datetimeFigureOut">
              <a:rPr lang="it-IT" smtClean="0"/>
              <a:t>28/03/2023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E4E782A7-9BE4-516C-8211-51CCB5564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8D5EF1E5-B46D-D1DD-90B2-B7F282CE5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CFA0D-47C8-425F-AC93-441C8155FB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22107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86C150-216B-DACA-1151-AA23844A9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56E472D-37A6-BEC0-1C2A-9F745F673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301E8-83D8-4D70-8F63-D3C6B884CD5C}" type="datetimeFigureOut">
              <a:rPr lang="it-IT" smtClean="0"/>
              <a:t>28/03/2023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F3AF7FA-2FF4-1093-256B-9BDEE0E88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0F561F9-AE30-875A-736E-0E2E25387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CFA0D-47C8-425F-AC93-441C8155FB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9128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0655A721-A154-D2C9-EF56-EEBAD3FC7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301E8-83D8-4D70-8F63-D3C6B884CD5C}" type="datetimeFigureOut">
              <a:rPr lang="it-IT" smtClean="0"/>
              <a:t>28/03/2023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C47E89A-8C8C-CFCF-42FB-DD52DD846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7869DA7-AF3F-4B01-AF8A-419387D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CFA0D-47C8-425F-AC93-441C8155FB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11961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2D211C-4A19-0F36-3F5B-4CD1AE4EE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CAE38DE-2145-0903-55A5-184EA70B9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09D53A7-EDB1-15E7-0230-38072387F4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012E334-FBD8-0189-D954-D29FD3B8B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301E8-83D8-4D70-8F63-D3C6B884CD5C}" type="datetimeFigureOut">
              <a:rPr lang="it-IT" smtClean="0"/>
              <a:t>28/03/2023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5B22EA8-15A3-7D6F-9F1E-E649D4119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66A7961-6656-AA11-5E0E-5593975CD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CFA0D-47C8-425F-AC93-441C8155FB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93336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EF3C0C-4E4B-8DE2-BA5B-9B5DF29D1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CAA3BBAE-6B69-A193-7C6A-CCBC56E88A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B208255-5F7A-3A38-7F45-C91DCB25A7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F629EA2-16C9-7DE9-210F-5F4A3A369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301E8-83D8-4D70-8F63-D3C6B884CD5C}" type="datetimeFigureOut">
              <a:rPr lang="it-IT" smtClean="0"/>
              <a:t>28/03/2023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393637B-8A4C-F14E-381E-1C7C9D2E1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B6BBCC1-AEB4-73A2-4985-50E4163A2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CFA0D-47C8-425F-AC93-441C8155FB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7368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447457-4BE4-90ED-660C-1E6EFC2AC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A64B3EF-B43C-B827-1B15-45D8E26BC8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6BD780-D65E-1D87-98A5-41127F67F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301E8-83D8-4D70-8F63-D3C6B884CD5C}" type="datetimeFigureOut">
              <a:rPr lang="it-IT" smtClean="0"/>
              <a:t>28/03/2023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84A2578-A6D4-9C3D-3360-749B2CA54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21D15B9-0511-2C7D-352D-A7473BBEB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CFA0D-47C8-425F-AC93-441C8155FB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63010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98477F8-6F33-BC54-BCC9-087BF9A008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3E444B7-F2D2-7D29-F464-EACEB93573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AD6070A-85F4-6A7A-B8EE-30B5A0226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301E8-83D8-4D70-8F63-D3C6B884CD5C}" type="datetimeFigureOut">
              <a:rPr lang="it-IT" smtClean="0"/>
              <a:t>28/03/2023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3E559F6-CB8B-EE64-090D-7BBF02452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1376920-8E39-6FD8-9674-E5CBB86F8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CFA0D-47C8-425F-AC93-441C8155FB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28624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B8BE215-42F1-2F3D-EF10-BAC195568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41E2529-2B20-4497-BB8E-9BD5743EBD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69FAEBE-ADD9-36BA-8423-7E36A29B7F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0301E8-83D8-4D70-8F63-D3C6B884CD5C}" type="datetimeFigureOut">
              <a:rPr lang="it-IT" smtClean="0"/>
              <a:t>28/03/2023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E5363A5-BE13-0AA3-D9FE-15EB45F23D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9038988-D728-EF18-3711-31BE3177FE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6CFA0D-47C8-425F-AC93-441C8155FB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56454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C6E8C581-25A3-E33E-D7DD-A2B2A41FF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>
                <a:latin typeface="Britannic Bold" panose="020B0903060703020204" pitchFamily="34" charset="0"/>
              </a:rPr>
              <a:t>UNIVERSITY OF MESSINA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A3F7D7EE-8FE9-90F4-02E6-6CD1AF821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306" y="1948003"/>
            <a:ext cx="11403106" cy="4291432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</a:t>
            </a:r>
          </a:p>
          <a:p>
            <a:pPr marL="0" indent="0" algn="ctr">
              <a:buNone/>
            </a:pPr>
            <a:r>
              <a:rPr lang="it-IT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Science and Theory of Communication – </a:t>
            </a:r>
            <a:r>
              <a:rPr lang="en-US" sz="4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LM-55</a:t>
            </a:r>
          </a:p>
          <a:p>
            <a:pPr marL="0" indent="0" algn="ctr">
              <a:buNone/>
            </a:pPr>
            <a:endParaRPr lang="it-IT" sz="2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it-IT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Course Title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it-IT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51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SOCIAL SEMIOTICS</a:t>
            </a:r>
          </a:p>
          <a:p>
            <a:pPr marL="0" indent="0" algn="ctr">
              <a:buNone/>
            </a:pPr>
            <a:endParaRPr lang="it-IT" sz="33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3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Teacher</a:t>
            </a:r>
            <a:endParaRPr lang="it-IT" sz="3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3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Maria Rita Bartolomei</a:t>
            </a:r>
            <a:endParaRPr lang="it-IT" sz="3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Mail: mabartolomei@unime.it</a:t>
            </a:r>
          </a:p>
        </p:txBody>
      </p:sp>
      <p:pic>
        <p:nvPicPr>
          <p:cNvPr id="6" name="Segnaposto contenuto 4" descr="Immagine che contiene testo, contenitore, scatola&#10;&#10;Descrizione generata automaticamente">
            <a:extLst>
              <a:ext uri="{FF2B5EF4-FFF2-40B4-BE49-F238E27FC236}">
                <a16:creationId xmlns:a16="http://schemas.microsoft.com/office/drawing/2014/main" id="{DDD7C24D-9569-D55D-FAB3-A977C76C5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8508" y="309515"/>
            <a:ext cx="1638487" cy="1638487"/>
          </a:xfrm>
          <a:prstGeom prst="rect">
            <a:avLst/>
          </a:prstGeom>
        </p:spPr>
      </p:pic>
      <p:sp>
        <p:nvSpPr>
          <p:cNvPr id="7" name="Segnaposto piè di pagina 6">
            <a:extLst>
              <a:ext uri="{FF2B5EF4-FFF2-40B4-BE49-F238E27FC236}">
                <a16:creationId xmlns:a16="http://schemas.microsoft.com/office/drawing/2014/main" id="{A636110D-77B9-3AB4-BE50-9B93911F2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Maria Rita Bartolomei</a:t>
            </a:r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CCFFF47F-2082-A8BD-E214-32F787B2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2558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81420"/>
            <a:ext cx="10958604" cy="4474930"/>
          </a:xfrm>
        </p:spPr>
        <p:txBody>
          <a:bodyPr>
            <a:normAutofit fontScale="92500" lnSpcReduction="10000"/>
          </a:bodyPr>
          <a:lstStyle/>
          <a:p>
            <a:pPr marL="0" lvl="0" indent="0" algn="ctr">
              <a:lnSpc>
                <a:spcPct val="107000"/>
              </a:lnSpc>
              <a:buNone/>
            </a:pPr>
            <a:r>
              <a:rPr lang="it-IT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Communication </a:t>
            </a:r>
            <a:r>
              <a:rPr lang="it-IT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lang="it-IT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</a:t>
            </a:r>
            <a:r>
              <a:rPr lang="it-IT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work and </a:t>
            </a:r>
            <a:r>
              <a:rPr lang="it-IT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meaning</a:t>
            </a:r>
            <a:endParaRPr lang="it-IT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it-IT" sz="1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7000"/>
              </a:lnSpc>
              <a:buFont typeface="Wingdings" panose="05000000000000000000" pitchFamily="2" charset="2"/>
              <a:buChar char="v"/>
            </a:pPr>
            <a:r>
              <a:rPr lang="it-IT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Communication</a:t>
            </a:r>
            <a:r>
              <a:rPr lang="it-IT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shapes the domain of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meaning</a:t>
            </a:r>
          </a:p>
          <a:p>
            <a:pPr algn="just">
              <a:lnSpc>
                <a:spcPct val="107000"/>
              </a:lnSpc>
              <a:buFont typeface="Wingdings" panose="05000000000000000000" pitchFamily="2" charset="2"/>
              <a:buChar char="v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Communication is itself a form of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social action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of social work</a:t>
            </a:r>
          </a:p>
          <a:p>
            <a:pPr marL="0" indent="0" algn="just">
              <a:lnSpc>
                <a:spcPct val="107000"/>
              </a:lnSpc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producing meaning</a:t>
            </a:r>
          </a:p>
          <a:p>
            <a:pPr algn="just">
              <a:lnSpc>
                <a:spcPct val="107000"/>
              </a:lnSpc>
              <a:buFont typeface="Wingdings" panose="05000000000000000000" pitchFamily="2" charset="2"/>
              <a:buChar char="v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The forms, processes and contents of communication are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socially</a:t>
            </a:r>
          </a:p>
          <a:p>
            <a:pPr marL="0" indent="0" algn="just">
              <a:lnSpc>
                <a:spcPct val="107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shaped</a:t>
            </a:r>
          </a:p>
          <a:p>
            <a:pPr algn="just">
              <a:lnSpc>
                <a:spcPct val="107000"/>
              </a:lnSpc>
              <a:buFont typeface="Wingdings" panose="05000000000000000000" pitchFamily="2" charset="2"/>
              <a:buChar char="v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Communication is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embedded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social environments, arrangements</a:t>
            </a:r>
          </a:p>
          <a:p>
            <a:pPr marL="0" indent="0" algn="just">
              <a:lnSpc>
                <a:spcPct val="1070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practices</a:t>
            </a: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buNone/>
            </a:pPr>
            <a:endParaRPr lang="it-IT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buNone/>
            </a:pPr>
            <a:endParaRPr lang="it-IT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en-US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77853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653989"/>
            <a:ext cx="11046385" cy="4702362"/>
          </a:xfrm>
        </p:spPr>
        <p:txBody>
          <a:bodyPr/>
          <a:lstStyle/>
          <a:p>
            <a:pPr marL="0" lvl="0" indent="0" algn="just">
              <a:lnSpc>
                <a:spcPct val="107000"/>
              </a:lnSpc>
              <a:buNone/>
            </a:pP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Saussure’s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scheme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of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communication</a:t>
            </a: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T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wo interlocutors are linked in a dyadic structure</a:t>
            </a:r>
          </a:p>
          <a:p>
            <a:pPr marL="0" lvl="0" indent="0" algn="just">
              <a:lnSpc>
                <a:spcPct val="107000"/>
              </a:lnSpc>
              <a:buNone/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3</a:t>
            </a:fld>
            <a:endParaRPr lang="it-IT"/>
          </a:p>
        </p:txBody>
      </p:sp>
      <p:pic>
        <p:nvPicPr>
          <p:cNvPr id="10" name="Immagine 9" descr="Immagine che contiene diagramma&#10;&#10;Descrizione generata automaticamente">
            <a:extLst>
              <a:ext uri="{FF2B5EF4-FFF2-40B4-BE49-F238E27FC236}">
                <a16:creationId xmlns:a16="http://schemas.microsoft.com/office/drawing/2014/main" id="{D53CE320-5146-540D-2582-424CF54644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7779" y="2858760"/>
            <a:ext cx="6022821" cy="3497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723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046385" cy="4474930"/>
          </a:xfrm>
        </p:spPr>
        <p:txBody>
          <a:bodyPr/>
          <a:lstStyle/>
          <a:p>
            <a:pPr marL="0" lvl="0" indent="0" algn="just">
              <a:lnSpc>
                <a:spcPct val="107000"/>
              </a:lnSpc>
              <a:buNone/>
            </a:pP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basic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of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signification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</a:t>
            </a:r>
            <a:r>
              <a:rPr lang="it-IT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</a:t>
            </a:r>
            <a:endParaRPr lang="it-IT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r>
              <a:rPr lang="it-IT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Signifier</a:t>
            </a: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the sound image</a:t>
            </a:r>
          </a:p>
          <a:p>
            <a:pPr marL="0" lvl="0" indent="0" algn="just">
              <a:lnSpc>
                <a:spcPct val="107000"/>
              </a:lnSpc>
              <a:buNone/>
            </a:pP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Signified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the concept</a:t>
            </a:r>
          </a:p>
          <a:p>
            <a:pPr marL="0" lvl="0" indent="0" algn="just">
              <a:lnSpc>
                <a:spcPct val="107000"/>
              </a:lnSpc>
              <a:buNone/>
            </a:pP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it-IT" sz="2400" dirty="0">
                <a:solidFill>
                  <a:srgbClr val="11111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 relationship is conventional and arbitrary</a:t>
            </a:r>
            <a:endParaRPr lang="it-IT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4</a:t>
            </a:fld>
            <a:endParaRPr lang="it-IT"/>
          </a:p>
        </p:txBody>
      </p:sp>
      <p:pic>
        <p:nvPicPr>
          <p:cNvPr id="10" name="Immagine 9" descr="Immagine che contiene diagramma&#10;&#10;Descrizione generata automaticamente">
            <a:extLst>
              <a:ext uri="{FF2B5EF4-FFF2-40B4-BE49-F238E27FC236}">
                <a16:creationId xmlns:a16="http://schemas.microsoft.com/office/drawing/2014/main" id="{6192A87B-997E-A359-FF0E-726B51B24A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7877" y="2183642"/>
            <a:ext cx="4915207" cy="433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865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046385" cy="4474930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107000"/>
              </a:lnSpc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scheme of Shannon and Waver </a:t>
            </a:r>
          </a:p>
          <a:p>
            <a:pPr marL="0" lvl="0" indent="0" algn="just">
              <a:lnSpc>
                <a:spcPct val="107000"/>
              </a:lnSpc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5</a:t>
            </a:fld>
            <a:endParaRPr lang="it-IT"/>
          </a:p>
        </p:txBody>
      </p:sp>
      <p:pic>
        <p:nvPicPr>
          <p:cNvPr id="8" name="Immagine 7" descr="Immagine che contiene diagramma">
            <a:extLst>
              <a:ext uri="{FF2B5EF4-FFF2-40B4-BE49-F238E27FC236}">
                <a16:creationId xmlns:a16="http://schemas.microsoft.com/office/drawing/2014/main" id="{86CC993D-5633-F781-F497-F03D803270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588" y="2702859"/>
            <a:ext cx="8511987" cy="3653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862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81420"/>
            <a:ext cx="11046385" cy="4474930"/>
          </a:xfrm>
        </p:spPr>
        <p:txBody>
          <a:bodyPr>
            <a:normAutofit lnSpcReduction="10000"/>
          </a:bodyPr>
          <a:lstStyle/>
          <a:p>
            <a:pPr lvl="0" algn="just">
              <a:lnSpc>
                <a:spcPct val="107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authors intend their model as a </a:t>
            </a:r>
            <a:r>
              <a:rPr lang="en-US" b="1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general model </a:t>
            </a:r>
            <a:r>
              <a:rPr lang="en-US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which can be applied to any form of communication</a:t>
            </a:r>
          </a:p>
          <a:p>
            <a:pPr lvl="0" algn="just">
              <a:lnSpc>
                <a:spcPct val="107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it-IT" sz="1600" dirty="0">
              <a:solidFill>
                <a:srgbClr val="20212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Much </a:t>
            </a:r>
            <a:r>
              <a:rPr lang="en-US" b="1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criticism</a:t>
            </a:r>
            <a:r>
              <a:rPr lang="en-US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focuses on its simplicity as a linear transmission model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400" dirty="0">
              <a:solidFill>
                <a:srgbClr val="20212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600"/>
              </a:spcBef>
            </a:pPr>
            <a:r>
              <a:rPr lang="en-US" dirty="0">
                <a:solidFill>
                  <a:srgbClr val="20212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 message cannot be understood as a form of preexisting information</a:t>
            </a:r>
          </a:p>
          <a:p>
            <a:pPr algn="just">
              <a:lnSpc>
                <a:spcPct val="110000"/>
              </a:lnSpc>
              <a:spcBef>
                <a:spcPts val="600"/>
              </a:spcBef>
            </a:pPr>
            <a:r>
              <a:rPr lang="en-US" dirty="0">
                <a:solidFill>
                  <a:srgbClr val="20212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does not exist before it is articulated</a:t>
            </a:r>
          </a:p>
          <a:p>
            <a:pPr algn="just">
              <a:lnSpc>
                <a:spcPct val="110000"/>
              </a:lnSpc>
              <a:spcBef>
                <a:spcPts val="600"/>
              </a:spcBef>
            </a:pPr>
            <a:r>
              <a:rPr lang="en-US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Encoding is itself a </a:t>
            </a:r>
            <a:r>
              <a:rPr lang="en-US" u="sng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creative process </a:t>
            </a:r>
            <a:r>
              <a:rPr lang="en-US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which create the content</a:t>
            </a:r>
          </a:p>
          <a:p>
            <a:pPr algn="just">
              <a:lnSpc>
                <a:spcPct val="110000"/>
              </a:lnSpc>
              <a:spcBef>
                <a:spcPts val="600"/>
              </a:spcBef>
            </a:pPr>
            <a:r>
              <a:rPr lang="en-US" dirty="0">
                <a:solidFill>
                  <a:srgbClr val="20212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ommunication is usually </a:t>
            </a:r>
            <a:r>
              <a:rPr lang="en-US" u="sng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more interactive </a:t>
            </a:r>
          </a:p>
          <a:p>
            <a:pPr algn="just">
              <a:lnSpc>
                <a:spcPct val="110000"/>
              </a:lnSpc>
              <a:spcBef>
                <a:spcPts val="600"/>
              </a:spcBef>
            </a:pPr>
            <a:r>
              <a:rPr lang="en-US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 cannot leave out </a:t>
            </a:r>
            <a:r>
              <a:rPr lang="en-US" u="sng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social aspects </a:t>
            </a:r>
            <a:r>
              <a:rPr lang="en-US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 communication</a:t>
            </a:r>
          </a:p>
          <a:p>
            <a:pPr marL="0" lvl="0" indent="0" algn="just">
              <a:lnSpc>
                <a:spcPct val="107000"/>
              </a:lnSpc>
              <a:buNone/>
            </a:pP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69014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046385" cy="4474930"/>
          </a:xfrm>
        </p:spPr>
        <p:txBody>
          <a:bodyPr/>
          <a:lstStyle/>
          <a:p>
            <a:pPr marL="0" lvl="0" indent="0" algn="just">
              <a:lnSpc>
                <a:spcPct val="107000"/>
              </a:lnSpc>
              <a:buNone/>
            </a:pPr>
            <a:r>
              <a:rPr lang="it-IT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theory of Gunther Kress</a:t>
            </a:r>
          </a:p>
          <a:p>
            <a:pPr marL="0" lvl="0" indent="0" algn="just">
              <a:lnSpc>
                <a:spcPct val="107000"/>
              </a:lnSpc>
              <a:buNone/>
            </a:pPr>
            <a:r>
              <a:rPr lang="it-IT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lvl="0" indent="0" algn="just">
              <a:lnSpc>
                <a:spcPct val="107000"/>
              </a:lnSpc>
              <a:buNone/>
            </a:pP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Three </a:t>
            </a:r>
            <a:r>
              <a:rPr lang="it-IT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concerns</a:t>
            </a: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are in focus:</a:t>
            </a:r>
          </a:p>
          <a:p>
            <a:pPr marL="514350" lvl="0" indent="-514350" algn="just">
              <a:lnSpc>
                <a:spcPct val="107000"/>
              </a:lnSpc>
              <a:buFont typeface="+mj-lt"/>
              <a:buAutoNum type="arabicPeriod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Social interaction and interchange around meaning</a:t>
            </a:r>
          </a:p>
          <a:p>
            <a:pPr marL="514350" lvl="0" indent="-514350" algn="just">
              <a:lnSpc>
                <a:spcPct val="107000"/>
              </a:lnSpc>
              <a:buFont typeface="+mj-lt"/>
              <a:buAutoNum type="arabicPeriod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Resources for making meaning 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lvl="0" indent="-514350" algn="just">
              <a:lnSpc>
                <a:spcPct val="107000"/>
              </a:lnSpc>
              <a:buFont typeface="+mj-lt"/>
              <a:buAutoNum type="arabicPeriod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Conditions and means for disseminating meaning</a:t>
            </a:r>
            <a:endParaRPr lang="it-IT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8742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694" y="1881420"/>
            <a:ext cx="10862607" cy="4474930"/>
          </a:xfrm>
        </p:spPr>
        <p:txBody>
          <a:bodyPr>
            <a:normAutofit/>
          </a:bodyPr>
          <a:lstStyle/>
          <a:p>
            <a:pPr marL="0" lvl="0" indent="0" algn="ctr">
              <a:lnSpc>
                <a:spcPct val="107000"/>
              </a:lnSpc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Social interaction and interchange around meaning</a:t>
            </a:r>
          </a:p>
          <a:p>
            <a:pPr marL="0" lvl="0" indent="0" algn="ctr">
              <a:lnSpc>
                <a:spcPct val="110000"/>
              </a:lnSpc>
              <a:spcBef>
                <a:spcPts val="0"/>
              </a:spcBef>
              <a:buNone/>
            </a:pPr>
            <a:endParaRPr lang="en-US" sz="1600" b="1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Communication is an always complex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interaction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embedded 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</a:t>
            </a:r>
            <a:r>
              <a:rPr lang="en-US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 social environments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000" u="sng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7000"/>
              </a:lnSpc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social divergences/differences between those who interact provide the “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generative dynamic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 of communication</a:t>
            </a:r>
          </a:p>
          <a:p>
            <a:pPr algn="just">
              <a:lnSpc>
                <a:spcPct val="107000"/>
              </a:lnSpc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ifferences are reshaped into temporary social and semiotic accommodations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7000"/>
              </a:lnSpc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Sign-makers and their agency as social actors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participate in the remaking of their social environment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it-IT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42307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046385" cy="4474930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lnSpc>
                <a:spcPct val="107000"/>
              </a:lnSpc>
              <a:buNone/>
            </a:pPr>
            <a:r>
              <a:rPr lang="en-US" sz="4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Social interaction and interchange around meaning</a:t>
            </a:r>
          </a:p>
          <a:p>
            <a:pPr marL="0" indent="0" algn="ctr">
              <a:lnSpc>
                <a:spcPct val="107000"/>
              </a:lnSpc>
              <a:spcAft>
                <a:spcPts val="1200"/>
              </a:spcAft>
              <a:buNone/>
            </a:pPr>
            <a:endParaRPr lang="en-US" sz="9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0" algn="just">
              <a:lnSpc>
                <a:spcPct val="107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semiotic work of interaction is always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socially productive</a:t>
            </a:r>
            <a:endParaRPr lang="it-IT" sz="1000" dirty="0">
              <a:highlight>
                <a:srgbClr val="FFFF00"/>
              </a:highlight>
            </a:endParaRPr>
          </a:p>
          <a:p>
            <a:pPr algn="just">
              <a:lnSpc>
                <a:spcPct val="107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communication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members of a community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participate in the renewing of their social environment from the perspective of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meaning</a:t>
            </a:r>
            <a:endParaRPr lang="en-US" sz="1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Social interaction via semiotic means produces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new meanings</a:t>
            </a:r>
          </a:p>
          <a:p>
            <a:pPr algn="just">
              <a:lnSpc>
                <a:spcPct val="107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social is re-calibrated, re-registered with semiotic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cultural resources</a:t>
            </a:r>
          </a:p>
          <a:p>
            <a:pPr algn="just">
              <a:lnSpc>
                <a:spcPct val="107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endParaRPr lang="it-IT" sz="3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91254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729047"/>
            <a:ext cx="11046385" cy="4725541"/>
          </a:xfrm>
        </p:spPr>
        <p:txBody>
          <a:bodyPr>
            <a:normAutofit fontScale="40000" lnSpcReduction="20000"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Resources for making meaning 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25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35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6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Cultural Resources</a:t>
            </a:r>
            <a:r>
              <a:rPr lang="en-US" sz="6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are values, rites, norms, texts or actions which lead to a common understanding</a:t>
            </a:r>
            <a:endParaRPr lang="en-US" sz="6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6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Mode</a:t>
            </a:r>
            <a:r>
              <a:rPr lang="en-US" sz="6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a socially shaped and culturally given semiotic resource for  making meaning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6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There are </a:t>
            </a:r>
            <a:r>
              <a:rPr lang="en-US" sz="6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many</a:t>
            </a:r>
            <a:r>
              <a:rPr lang="en-US" sz="6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modes</a:t>
            </a:r>
            <a:r>
              <a:rPr lang="en-US" sz="6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used in communication and re</a:t>
            </a:r>
            <a:r>
              <a:rPr lang="en-US" sz="6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presentation: image, writing, layout, music, gesture, speech, moving image, 3D objects, etc.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6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Modes</a:t>
            </a:r>
            <a:r>
              <a:rPr lang="en-US" sz="6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are the product of social work 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6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Modes</a:t>
            </a:r>
            <a:r>
              <a:rPr lang="en-US" sz="6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have meaning in their cultural environments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6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Language</a:t>
            </a:r>
            <a:r>
              <a:rPr lang="en-US" sz="6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no longer as central and dominant in expressing all meanings</a:t>
            </a:r>
            <a:endParaRPr lang="en-US" sz="6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7592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183472" cy="447493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3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Resources for making meaning 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Different</a:t>
            </a:r>
            <a:r>
              <a:rPr lang="it-IT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modes</a:t>
            </a:r>
            <a:r>
              <a:rPr lang="it-IT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offer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different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potentials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for making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meaning</a:t>
            </a: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</a:t>
            </a:r>
            <a:r>
              <a:rPr lang="it-IT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resources</a:t>
            </a:r>
            <a:r>
              <a:rPr lang="it-IT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specific</a:t>
            </a: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forms</a:t>
            </a: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it-IT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different</a:t>
            </a: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cultures</a:t>
            </a:r>
            <a:endParaRPr lang="it-IT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Equal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emphasis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placed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on the </a:t>
            </a:r>
            <a:r>
              <a:rPr lang="it-IT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affordances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of the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material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stuff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of the mode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Social work with the “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same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” material – sound – can lead to very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different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modes</a:t>
            </a:r>
            <a:endParaRPr lang="it-IT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These rest on different uses of the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affordances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of the same material features</a:t>
            </a: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social work performed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by members of social groups with the affordances of the material, produces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semiotic resources</a:t>
            </a: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99157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046385" cy="4474930"/>
          </a:xfrm>
        </p:spPr>
        <p:txBody>
          <a:bodyPr>
            <a:normAutofit/>
          </a:bodyPr>
          <a:lstStyle/>
          <a:p>
            <a:pPr marL="0" lvl="0" indent="0" algn="ctr">
              <a:lnSpc>
                <a:spcPct val="107000"/>
              </a:lnSpc>
              <a:spcBef>
                <a:spcPts val="0"/>
              </a:spcBef>
              <a:buClr>
                <a:srgbClr val="000000"/>
              </a:buClr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Conditions and means for disseminating meaning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None/>
            </a:pPr>
            <a:endParaRPr lang="en-US" sz="3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None/>
            </a:pPr>
            <a:r>
              <a:rPr lang="en-US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social ha priority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forms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processes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and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contents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of communication are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social</a:t>
            </a:r>
          </a:p>
          <a:p>
            <a:pPr marL="0" lvl="0" indent="0" algn="just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None/>
            </a:pP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Communication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lvl="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embedded in social environments and practices</a:t>
            </a: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is itself a form of social action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Font typeface="Wingdings" panose="05000000000000000000" pitchFamily="2" charset="2"/>
              <a:buChar char="ü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is always a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response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by one participant to a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prompt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by other participants</a:t>
            </a: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9084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975968"/>
            <a:ext cx="11046385" cy="4380381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Conditions and means for disseminating meaning</a:t>
            </a:r>
          </a:p>
          <a:p>
            <a:pPr marL="0" indent="0" algn="ctr">
              <a:lnSpc>
                <a:spcPct val="110000"/>
              </a:lnSpc>
              <a:buNone/>
            </a:pPr>
            <a:endParaRPr lang="en-US" sz="1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Participants in communication </a:t>
            </a:r>
          </a:p>
          <a:p>
            <a:pPr marL="0" indent="0" algn="just">
              <a:lnSpc>
                <a:spcPct val="110000"/>
              </a:lnSpc>
              <a:buNone/>
            </a:pP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are embedded in networks of social relations with others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sz="9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meanings 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 making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signs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US" sz="11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Signs and sign-complexes – messages – have structure and content representing the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interest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of the sign-makers</a:t>
            </a: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66796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975968"/>
            <a:ext cx="11046385" cy="438038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Conditions and means for disseminating meaning</a:t>
            </a:r>
          </a:p>
          <a:p>
            <a:pPr marL="0" indent="0" algn="ctr">
              <a:lnSpc>
                <a:spcPct val="100000"/>
              </a:lnSpc>
              <a:spcAft>
                <a:spcPts val="800"/>
              </a:spcAft>
              <a:buNone/>
            </a:pPr>
            <a:endParaRPr lang="en-US" sz="1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three central assumptions 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it-IT" sz="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buFont typeface="Times New Roman" panose="02020603050405020304" pitchFamily="18" charset="0"/>
              <a:buChar char="-"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Communication is the response to a prompt</a:t>
            </a:r>
          </a:p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buFont typeface="Times New Roman" panose="02020603050405020304" pitchFamily="18" charset="0"/>
              <a:buChar char="-"/>
            </a:pPr>
            <a:endParaRPr lang="it-IT" sz="1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buFont typeface="Times New Roman" panose="02020603050405020304" pitchFamily="18" charset="0"/>
              <a:buChar char="-"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Communication happens only when there is “interpretation”</a:t>
            </a:r>
          </a:p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-"/>
            </a:pPr>
            <a:endParaRPr lang="en-US" sz="1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-"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Communication is always multimodal</a:t>
            </a:r>
            <a:endParaRPr lang="it-IT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556379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046385" cy="4474930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Conditions and means for disseminating meaning</a:t>
            </a:r>
          </a:p>
          <a:p>
            <a:pPr marL="0" indent="0" algn="ctr">
              <a:lnSpc>
                <a:spcPct val="120000"/>
              </a:lnSpc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Communication is the response to a prompt</a:t>
            </a:r>
            <a:endParaRPr lang="en-US" sz="1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message becomes a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prompt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only when it </a:t>
            </a:r>
            <a:r>
              <a:rPr lang="en-US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 taken as such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by another</a:t>
            </a:r>
          </a:p>
          <a:p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Communication happens only when there is “interpretation”</a:t>
            </a:r>
            <a:endParaRPr lang="en-US" sz="1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 interpretation is a response to a prior prompt</a:t>
            </a:r>
          </a:p>
          <a:p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Attention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to the prompt derives from the participant’s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interest</a:t>
            </a:r>
          </a:p>
          <a:p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Interpreter and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interpretation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are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central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communication</a:t>
            </a: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it-IT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None/>
            </a:pPr>
            <a:endParaRPr lang="it-IT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4792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046385" cy="4474930"/>
          </a:xfrm>
        </p:spPr>
        <p:txBody>
          <a:bodyPr/>
          <a:lstStyle/>
          <a:p>
            <a:pPr marL="0" lvl="0" indent="0" algn="just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Conditions and means for disseminating meaning</a:t>
            </a: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None/>
            </a:pPr>
            <a:endParaRPr lang="en-US" sz="1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Communication is always multimodal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None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There are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many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modes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used in communication and re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presentation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None/>
            </a:pPr>
            <a:r>
              <a:rPr lang="it-IT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</a:t>
            </a:r>
            <a:r>
              <a:rPr lang="it-IT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usually</a:t>
            </a:r>
            <a:r>
              <a:rPr lang="it-IT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use </a:t>
            </a:r>
            <a:r>
              <a:rPr lang="it-IT" b="1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multiple </a:t>
            </a:r>
            <a:r>
              <a:rPr lang="it-IT" b="1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modes</a:t>
            </a:r>
            <a:r>
              <a:rPr lang="it-IT" b="1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the </a:t>
            </a:r>
            <a:r>
              <a:rPr lang="it-IT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same</a:t>
            </a:r>
            <a:r>
              <a:rPr lang="it-IT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</a:t>
            </a: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None/>
            </a:pPr>
            <a:endParaRPr lang="it-IT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None/>
            </a:pPr>
            <a:endParaRPr lang="it-IT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01641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132" y="1662545"/>
            <a:ext cx="11359170" cy="4693805"/>
          </a:xfrm>
        </p:spPr>
        <p:txBody>
          <a:bodyPr>
            <a:normAutofit lnSpcReduction="10000"/>
          </a:bodyPr>
          <a:lstStyle/>
          <a:p>
            <a:pPr marL="0" lvl="0" indent="0" algn="just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Conditions and means for disseminating meaning</a:t>
            </a: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this poster w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 have four modes in the same sign: </a:t>
            </a: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writing, logos, images and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colours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None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Writing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names</a:t>
            </a: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None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Image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shows</a:t>
            </a: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None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symbolizes and informs</a:t>
            </a: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None/>
            </a:pPr>
            <a:r>
              <a:rPr lang="en-US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our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frames and highlights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None/>
            </a:pPr>
            <a:endParaRPr lang="it-IT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None/>
            </a:pPr>
            <a:endParaRPr lang="it-IT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17</a:t>
            </a:fld>
            <a:endParaRPr lang="it-IT"/>
          </a:p>
        </p:txBody>
      </p:sp>
      <p:pic>
        <p:nvPicPr>
          <p:cNvPr id="12" name="Immagine 11" descr="Immagine che contiene Sito Web&#10;&#10;Descrizione generata automaticamente">
            <a:extLst>
              <a:ext uri="{FF2B5EF4-FFF2-40B4-BE49-F238E27FC236}">
                <a16:creationId xmlns:a16="http://schemas.microsoft.com/office/drawing/2014/main" id="{491624BF-C62A-E86F-F0DE-A56665E640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741" y="2246544"/>
            <a:ext cx="3638642" cy="4611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3395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712423"/>
            <a:ext cx="11046385" cy="4643928"/>
          </a:xfrm>
        </p:spPr>
        <p:txBody>
          <a:bodyPr>
            <a:normAutofit fontScale="85000" lnSpcReduction="20000"/>
          </a:bodyPr>
          <a:lstStyle/>
          <a:p>
            <a:pPr marL="0" lvl="0" indent="0" algn="just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Conditions and means for disseminating meaning</a:t>
            </a:r>
          </a:p>
          <a:p>
            <a:pPr marL="0" lvl="0" indent="0" algn="just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None/>
            </a:pPr>
            <a:endParaRPr lang="en-US" sz="1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None/>
            </a:pPr>
            <a:r>
              <a:rPr lang="en-US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Each mode has its distinct potential for meaning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None/>
            </a:pPr>
            <a:r>
              <a:rPr lang="en-US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signs can be different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in the mode used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in how the modes are used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Font typeface="Wingdings" panose="05000000000000000000" pitchFamily="2" charset="2"/>
              <a:buChar char="ü"/>
            </a:pPr>
            <a:endParaRPr lang="en-US" sz="1000" dirty="0">
              <a:solidFill>
                <a:srgbClr val="20212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None/>
            </a:pPr>
            <a:r>
              <a:rPr lang="en-US" b="1" dirty="0">
                <a:solidFill>
                  <a:srgbClr val="202124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Multimodality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None/>
            </a:pPr>
            <a:r>
              <a:rPr lang="en-US" dirty="0">
                <a:solidFill>
                  <a:srgbClr val="202124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Can tell us </a:t>
            </a:r>
            <a:r>
              <a:rPr lang="en-US" u="sng" dirty="0">
                <a:solidFill>
                  <a:srgbClr val="202124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what modes are used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None/>
            </a:pPr>
            <a:r>
              <a:rPr lang="en-US" dirty="0">
                <a:solidFill>
                  <a:srgbClr val="202124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Cannot tell us about this difference in style, </a:t>
            </a:r>
            <a:r>
              <a:rPr lang="en-US" b="1" dirty="0">
                <a:solidFill>
                  <a:srgbClr val="202124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what that difference would mean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None/>
            </a:pPr>
            <a:endParaRPr lang="it-IT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None/>
            </a:pPr>
            <a:endParaRPr lang="it-IT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95348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046385" cy="4474930"/>
          </a:xfrm>
        </p:spPr>
        <p:txBody>
          <a:bodyPr>
            <a:normAutofit/>
          </a:bodyPr>
          <a:lstStyle/>
          <a:p>
            <a:pPr marL="0" lvl="0" indent="0" algn="ctr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Conditions and means for disseminating meaning</a:t>
            </a: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None/>
            </a:pPr>
            <a:endParaRPr lang="en-US" sz="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None/>
            </a:pPr>
            <a:r>
              <a:rPr lang="en-US" b="1" dirty="0">
                <a:solidFill>
                  <a:srgbClr val="202124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Social semiotics – </a:t>
            </a:r>
            <a:r>
              <a:rPr lang="en-US" dirty="0">
                <a:solidFill>
                  <a:srgbClr val="202124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 theory which deals with </a:t>
            </a:r>
            <a:r>
              <a:rPr lang="en-US" b="1" dirty="0">
                <a:solidFill>
                  <a:srgbClr val="202124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meaning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202124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in all </a:t>
            </a:r>
            <a:r>
              <a:rPr lang="en-US">
                <a:solidFill>
                  <a:srgbClr val="202124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its appearances</a:t>
            </a:r>
            <a:endParaRPr lang="en-US" dirty="0">
              <a:solidFill>
                <a:srgbClr val="202124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202124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in all social occasions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202124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in all cultural sites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None/>
            </a:pPr>
            <a:endParaRPr lang="it-IT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None/>
            </a:pPr>
            <a:endParaRPr lang="it-IT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10858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B55790047DD8148ABBA2789AA47C320" ma:contentTypeVersion="9" ma:contentTypeDescription="Creare un nuovo documento." ma:contentTypeScope="" ma:versionID="f5d0184f3c0a15a1e0d0131ea4b30a13">
  <xsd:schema xmlns:xsd="http://www.w3.org/2001/XMLSchema" xmlns:xs="http://www.w3.org/2001/XMLSchema" xmlns:p="http://schemas.microsoft.com/office/2006/metadata/properties" xmlns:ns2="4c1e1bc0-20d7-4915-b349-ec50805d4704" xmlns:ns3="17b4f9ba-5d33-4440-816d-df83934b65a5" targetNamespace="http://schemas.microsoft.com/office/2006/metadata/properties" ma:root="true" ma:fieldsID="7198817151beefd45f5913d772bfde97" ns2:_="" ns3:_="">
    <xsd:import namespace="4c1e1bc0-20d7-4915-b349-ec50805d4704"/>
    <xsd:import namespace="17b4f9ba-5d33-4440-816d-df83934b65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1e1bc0-20d7-4915-b349-ec50805d47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Tag immagine" ma:readOnly="false" ma:fieldId="{5cf76f15-5ced-4ddc-b409-7134ff3c332f}" ma:taxonomyMulti="true" ma:sspId="35712a47-566f-4e2f-ac2c-6a691c9ee4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b4f9ba-5d33-4440-816d-df83934b65a5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a00fc7f-b5c3-40ce-a31d-e4a375ba7a0b}" ma:internalName="TaxCatchAll" ma:showField="CatchAllData" ma:web="17b4f9ba-5d33-4440-816d-df83934b65a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7b4f9ba-5d33-4440-816d-df83934b65a5" xsi:nil="true"/>
    <lcf76f155ced4ddcb4097134ff3c332f xmlns="4c1e1bc0-20d7-4915-b349-ec50805d470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8EBD6DD-60F4-4168-A91F-89127C0CF12A}"/>
</file>

<file path=customXml/itemProps2.xml><?xml version="1.0" encoding="utf-8"?>
<ds:datastoreItem xmlns:ds="http://schemas.openxmlformats.org/officeDocument/2006/customXml" ds:itemID="{F0F4B4AF-C419-4269-837D-4D8815C377E3}"/>
</file>

<file path=customXml/itemProps3.xml><?xml version="1.0" encoding="utf-8"?>
<ds:datastoreItem xmlns:ds="http://schemas.openxmlformats.org/officeDocument/2006/customXml" ds:itemID="{7558EC1E-4F6C-40A3-9021-A92DB441D2DA}"/>
</file>

<file path=docProps/app.xml><?xml version="1.0" encoding="utf-8"?>
<Properties xmlns="http://schemas.openxmlformats.org/officeDocument/2006/extended-properties" xmlns:vt="http://schemas.openxmlformats.org/officeDocument/2006/docPropsVTypes">
  <TotalTime>976</TotalTime>
  <Words>965</Words>
  <Application>Microsoft Office PowerPoint</Application>
  <PresentationFormat>Widescreen</PresentationFormat>
  <Paragraphs>203</Paragraphs>
  <Slides>19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6" baseType="lpstr">
      <vt:lpstr>Arial</vt:lpstr>
      <vt:lpstr>Britannic Bold</vt:lpstr>
      <vt:lpstr>Calibri</vt:lpstr>
      <vt:lpstr>Calibri Light</vt:lpstr>
      <vt:lpstr>Times New Roman</vt:lpstr>
      <vt:lpstr>Wingdings</vt:lpstr>
      <vt:lpstr>Tema di Office</vt:lpstr>
      <vt:lpstr>UNIVERSITY OF MESSINA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OF MESSINA</dc:title>
  <dc:creator>MARIA RITA BARTOLOMEI</dc:creator>
  <cp:lastModifiedBy>MARIA RITA BARTOLOMEI</cp:lastModifiedBy>
  <cp:revision>37</cp:revision>
  <dcterms:created xsi:type="dcterms:W3CDTF">2023-03-24T16:52:24Z</dcterms:created>
  <dcterms:modified xsi:type="dcterms:W3CDTF">2023-03-28T22:00:12Z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0x010100FB55790047DD8148ABBA2789AA47C320</vt:lpwstr>
  </property>
</Properties>
</file>