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97" r:id="rId3"/>
    <p:sldId id="298" r:id="rId4"/>
    <p:sldId id="299" r:id="rId5"/>
    <p:sldId id="300" r:id="rId6"/>
    <p:sldId id="301" r:id="rId7"/>
    <p:sldId id="303" r:id="rId8"/>
    <p:sldId id="302" r:id="rId9"/>
    <p:sldId id="304" r:id="rId10"/>
    <p:sldId id="305" r:id="rId11"/>
    <p:sldId id="306" r:id="rId12"/>
    <p:sldId id="314" r:id="rId13"/>
    <p:sldId id="307" r:id="rId14"/>
    <p:sldId id="308" r:id="rId15"/>
    <p:sldId id="309" r:id="rId16"/>
    <p:sldId id="310" r:id="rId17"/>
    <p:sldId id="311" r:id="rId18"/>
    <p:sldId id="312" r:id="rId19"/>
    <p:sldId id="313" r:id="rId2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3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986C61-1824-8DDF-A801-BC19D4BD7D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BC3DD82-AE8A-80CC-5D86-8F64DE97C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D07C612-56A9-6F02-2D7E-5EE96FC66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67B58-F95A-4AE1-B1FF-783F8F1719BD}" type="datetimeFigureOut">
              <a:rPr lang="it-IT" smtClean="0"/>
              <a:t>22/05/2023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BC1E4BE-1F7A-93D7-7F31-D83618F95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59AD124-F2A0-AA29-22D0-1B872767B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06711-C2C0-49D4-9FC0-F8941FA823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0289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D0EE5E-0F19-6C41-507A-6CBC63C6D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DA13D89-F9D8-902D-C78A-AD5217E2D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45FE29B-F07E-0790-C4A3-0A5158144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67B58-F95A-4AE1-B1FF-783F8F1719BD}" type="datetimeFigureOut">
              <a:rPr lang="it-IT" smtClean="0"/>
              <a:t>22/05/2023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5E1F3F6-A040-AD62-32FC-282DF5546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E8AFC11-4848-21DA-B757-E6A4258A4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06711-C2C0-49D4-9FC0-F8941FA823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7682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D8B977-B8C9-F910-CC96-2C5E78520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8CC8455-5EDD-2327-1727-30721EABF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77F218-E7BB-9446-AC4C-5F3FF3464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67B58-F95A-4AE1-B1FF-783F8F1719BD}" type="datetimeFigureOut">
              <a:rPr lang="it-IT" smtClean="0"/>
              <a:t>22/05/2023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9158D3B-FF5A-3C3A-E28D-5DE3ABE9C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4CE3036-5BA4-CA8F-40C6-AC87F3025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06711-C2C0-49D4-9FC0-F8941FA823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5256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1BF2A5-E353-0B08-95EB-AEF1C1300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CA12405-E9DC-60FA-FE23-974518A8E8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AA9A8C2-2C04-B239-1CCC-E49EF3400A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FC10702-F15A-DE0A-915F-4D69BC1D6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67B58-F95A-4AE1-B1FF-783F8F1719BD}" type="datetimeFigureOut">
              <a:rPr lang="it-IT" smtClean="0"/>
              <a:t>22/05/2023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F0CCEA2-3E23-76CB-926A-A0F7DE95E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3A3CFFB-409A-1AB0-B54B-C7F85F127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06711-C2C0-49D4-9FC0-F8941FA823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46762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194787-559B-740D-DA33-9E9405FF2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00D36BB-A536-69F9-DDEB-8AE379812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4EA4B91-118C-80E7-252B-AAA37188E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0905A34-83A0-B49D-77FD-2DD073D05D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103C757-F7EF-D08E-F15B-08E0E18B44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0E71850-75FD-C705-26AA-ABF1C10F8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67B58-F95A-4AE1-B1FF-783F8F1719BD}" type="datetimeFigureOut">
              <a:rPr lang="it-IT" smtClean="0"/>
              <a:t>22/05/2023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A8746A79-578F-A039-A1DA-75C33138B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F1928B01-7874-4D99-EFC7-8BDE76D6C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06711-C2C0-49D4-9FC0-F8941FA823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937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5027BD-45EC-CB4E-8B70-D6ADCAFB6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2CB1F4E-BE3B-0815-01AB-CC76B27A7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67B58-F95A-4AE1-B1FF-783F8F1719BD}" type="datetimeFigureOut">
              <a:rPr lang="it-IT" smtClean="0"/>
              <a:t>22/05/2023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3BB903A-EA63-9646-9F03-B0BCC70E5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6DD173A-88C2-8EB5-5A99-77E690595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06711-C2C0-49D4-9FC0-F8941FA823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6146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7A7A8F1-EE20-D64B-2DEC-DF3DAD591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67B58-F95A-4AE1-B1FF-783F8F1719BD}" type="datetimeFigureOut">
              <a:rPr lang="it-IT" smtClean="0"/>
              <a:t>22/05/2023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9FA7DCE-9B39-A078-8535-895C8B029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712E059-4A2F-3397-343B-7D5BBC137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06711-C2C0-49D4-9FC0-F8941FA823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9940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7FD4E73-E2EE-F0DD-7561-33A17F626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9E5C901-2DEF-9406-9C5D-93E94D69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B3D29CA-AD1B-D88D-B46B-7E316D4FC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E71CF7C-E5BB-9AA7-04FB-957639B8E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67B58-F95A-4AE1-B1FF-783F8F1719BD}" type="datetimeFigureOut">
              <a:rPr lang="it-IT" smtClean="0"/>
              <a:t>22/05/2023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B4BEA80-D1B2-82BB-AD17-038D330DB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FBECED9-6E52-4A5D-8A58-7FF620B6E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06711-C2C0-49D4-9FC0-F8941FA823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1850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EEF4F9-44E3-B3F0-A08C-2A3D796E8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F7F12D37-3155-0F7A-AB0D-35CDE69ACD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EE41332-50C4-07A8-3D01-911D59A8C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2638B7D-9354-3066-3326-A849B5698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67B58-F95A-4AE1-B1FF-783F8F1719BD}" type="datetimeFigureOut">
              <a:rPr lang="it-IT" smtClean="0"/>
              <a:t>22/05/2023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1329500-25A7-6FCF-2090-8C2C544B1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69C204F-9BAC-DD47-6D5A-A54B2D570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06711-C2C0-49D4-9FC0-F8941FA823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22615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399001-FA4E-FB75-545B-15AFFA8F6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43242FA-E254-BD8A-4321-34B1936D49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E402ED8-A5CA-7368-AF45-FD33EA0CF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67B58-F95A-4AE1-B1FF-783F8F1719BD}" type="datetimeFigureOut">
              <a:rPr lang="it-IT" smtClean="0"/>
              <a:t>22/05/2023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D003BFD-866D-615A-F094-CE11CFE7B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FACBF55-201C-D37F-58CB-D51DE8E0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06711-C2C0-49D4-9FC0-F8941FA823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5410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B9B7ED5-E086-1BB7-C18F-591D88A205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184C997-F20F-3064-B8ED-4950652404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932CC4F-34FE-9D5A-1939-EBD6A8C7E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67B58-F95A-4AE1-B1FF-783F8F1719BD}" type="datetimeFigureOut">
              <a:rPr lang="it-IT" smtClean="0"/>
              <a:t>22/05/2023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89308D6-84FD-D7D1-8E39-E75AE4B27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B6A71F5-FCF6-C534-3FDE-FAFB419A5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06711-C2C0-49D4-9FC0-F8941FA823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68942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FB39FD0-0CAE-9E19-F9A2-C2F00AE26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835B608-DC49-4190-EF8F-3651ABE7A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134F054-F1C4-9975-F4E6-A24B01BEA3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67B58-F95A-4AE1-B1FF-783F8F1719BD}" type="datetimeFigureOut">
              <a:rPr lang="it-IT" smtClean="0"/>
              <a:t>22/05/2023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ED8E929-AC90-02D5-9A4D-3BBE169C94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66BD2AB-633B-0057-67C8-D7A7CFB7A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906711-C2C0-49D4-9FC0-F8941FA8239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469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C6E8C581-25A3-E33E-D7DD-A2B2A41FF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>
                <a:latin typeface="Britannic Bold" panose="020B0903060703020204" pitchFamily="34" charset="0"/>
              </a:rPr>
              <a:t>UNIVERSITY OF MESSINA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A3F7D7EE-8FE9-90F4-02E6-6CD1AF821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306" y="1948003"/>
            <a:ext cx="11403106" cy="4291432"/>
          </a:xfrm>
        </p:spPr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</a:p>
          <a:p>
            <a:pPr marL="0" indent="0" algn="ctr">
              <a:buNone/>
            </a:pPr>
            <a:r>
              <a:rPr lang="it-IT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Science and Theory of </a:t>
            </a:r>
            <a:r>
              <a:rPr lang="it-IT" sz="4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lang="it-IT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4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LM-55</a:t>
            </a:r>
          </a:p>
          <a:p>
            <a:pPr marL="0" indent="0" algn="ctr">
              <a:buNone/>
            </a:pPr>
            <a:endParaRPr lang="it-IT" sz="2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it-IT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Course Title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it-IT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51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 SEMIOTICS</a:t>
            </a:r>
          </a:p>
          <a:p>
            <a:pPr marL="0" indent="0" algn="ctr">
              <a:buNone/>
            </a:pPr>
            <a:endParaRPr lang="it-IT" sz="33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3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Teacher</a:t>
            </a:r>
            <a:endParaRPr lang="it-IT" sz="3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it-IT" sz="38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Maria Rita Bartolomei</a:t>
            </a:r>
            <a:endParaRPr lang="it-IT" sz="3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Mail: mabartolomei@unime.it</a:t>
            </a:r>
          </a:p>
        </p:txBody>
      </p:sp>
      <p:pic>
        <p:nvPicPr>
          <p:cNvPr id="6" name="Segnaposto contenuto 4" descr="Immagine che contiene testo, contenitore, scatola&#10;&#10;Descrizione generata automaticamente">
            <a:extLst>
              <a:ext uri="{FF2B5EF4-FFF2-40B4-BE49-F238E27FC236}">
                <a16:creationId xmlns:a16="http://schemas.microsoft.com/office/drawing/2014/main" id="{DDD7C24D-9569-D55D-FAB3-A977C76C58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8508" y="309515"/>
            <a:ext cx="1638487" cy="1638487"/>
          </a:xfrm>
          <a:prstGeom prst="rect">
            <a:avLst/>
          </a:prstGeom>
        </p:spPr>
      </p:pic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A636110D-77B9-3AB4-BE50-9B93911F2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Maria Rita Bartolomei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CCFFF47F-2082-A8BD-E214-32F787B2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2558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25624"/>
            <a:ext cx="10737102" cy="4530725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Discourse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ocial semiotics explores two closely related issues: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it-IT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material resources of communication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it-IT" sz="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way their uses are socially regulated</a:t>
            </a:r>
            <a:endParaRPr lang="it-IT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5322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25624"/>
            <a:ext cx="10737102" cy="4530725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Discourse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material resources of communication may be physiological or technical</a:t>
            </a:r>
            <a:endParaRPr lang="it-IT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Physiological resources </a:t>
            </a:r>
            <a:r>
              <a:rPr lang="en-US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include:</a:t>
            </a:r>
            <a:endParaRPr lang="it-IT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Our vocal apparatus</a:t>
            </a:r>
            <a:endParaRPr lang="it-IT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-"/>
            </a:pPr>
            <a:r>
              <a:rPr kumimoji="0" lang="en-US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Facial expressions, gestures and other physical actions 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400" kern="100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Their use is always socially regulated</a:t>
            </a:r>
            <a:endParaRPr lang="it-IT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endParaRPr lang="it-IT" sz="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59584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2"/>
            <a:ext cx="10515600" cy="1060264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694330"/>
            <a:ext cx="10958604" cy="4662020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Discourse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it-IT" sz="3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resources </a:t>
            </a:r>
            <a:r>
              <a:rPr lang="en-US" sz="3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extend the potential of our physiological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resources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3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Writing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en-US" sz="8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Recording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en-US" sz="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Using musical instruments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en-US" sz="2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The use of these resources is also socially regulated</a:t>
            </a:r>
            <a:endParaRPr lang="it-IT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7550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25624"/>
            <a:ext cx="10737102" cy="4530725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Discourse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subject of social semiotics: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physical or technical nature of semiotic resources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it-IT" sz="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Their potentialities or affordances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it-IT" sz="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social regulation of their use</a:t>
            </a:r>
            <a:endParaRPr lang="it-IT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46805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25624"/>
            <a:ext cx="10737102" cy="4530725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Discourse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term discourse is used to denote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Tx/>
              <a:buChar char="-"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text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Tx/>
              <a:buChar char="-"/>
            </a:pPr>
            <a:endParaRPr lang="en-US" sz="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Tx/>
              <a:buChar char="-"/>
            </a:pPr>
            <a:r>
              <a:rPr lang="en-US" sz="3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socially constructed </a:t>
            </a:r>
            <a:r>
              <a:rPr lang="en-US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knowledge</a:t>
            </a:r>
            <a:endParaRPr lang="en-US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7343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533386"/>
            <a:ext cx="10737102" cy="4822964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Discourse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1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sz="3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Discourses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it-IT" sz="3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are </a:t>
            </a:r>
            <a:r>
              <a:rPr lang="it-IT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resources</a:t>
            </a:r>
            <a:r>
              <a:rPr lang="it-IT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for </a:t>
            </a:r>
            <a:r>
              <a:rPr lang="it-IT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representation</a:t>
            </a:r>
            <a:endParaRPr lang="it-IT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it-IT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</a:t>
            </a:r>
            <a:r>
              <a:rPr lang="it-IT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 the knowledge about some aspects of reality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it-IT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do </a:t>
            </a:r>
            <a:r>
              <a:rPr lang="it-IT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not</a:t>
            </a:r>
            <a:r>
              <a:rPr lang="it-IT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determine </a:t>
            </a:r>
            <a:r>
              <a:rPr lang="it-IT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</a:t>
            </a:r>
            <a:r>
              <a:rPr lang="it-IT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</a:t>
            </a:r>
            <a:r>
              <a:rPr lang="it-IT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can </a:t>
            </a:r>
            <a:r>
              <a:rPr lang="it-IT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say</a:t>
            </a:r>
            <a:r>
              <a:rPr lang="it-IT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about</a:t>
            </a:r>
            <a:r>
              <a:rPr lang="it-IT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it-IT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given</a:t>
            </a:r>
            <a:r>
              <a:rPr lang="it-IT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aspect</a:t>
            </a:r>
            <a:endParaRPr lang="it-IT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it-IT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of reality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it-IT" sz="20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it-IT" sz="3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</a:t>
            </a:r>
            <a:r>
              <a:rPr lang="it-IT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cannot</a:t>
            </a:r>
            <a:r>
              <a:rPr lang="it-IT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represent</a:t>
            </a:r>
            <a:r>
              <a:rPr lang="it-IT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anything</a:t>
            </a:r>
            <a:r>
              <a:rPr lang="it-IT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without</a:t>
            </a:r>
            <a:r>
              <a:rPr lang="it-IT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2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them</a:t>
            </a:r>
            <a:endParaRPr lang="it-IT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it-IT" sz="32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</a:t>
            </a:r>
            <a:r>
              <a:rPr lang="it-IT" sz="3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2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need</a:t>
            </a:r>
            <a:r>
              <a:rPr lang="it-IT" sz="3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2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them</a:t>
            </a:r>
            <a:r>
              <a:rPr lang="it-IT" sz="3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2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</a:t>
            </a:r>
            <a:r>
              <a:rPr lang="it-IT" sz="3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frameworks for making </a:t>
            </a:r>
            <a:r>
              <a:rPr lang="it-IT" sz="32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sense</a:t>
            </a:r>
            <a:r>
              <a:rPr lang="it-IT" sz="3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</a:t>
            </a:r>
            <a:r>
              <a:rPr lang="it-IT" sz="32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things</a:t>
            </a:r>
            <a:endParaRPr lang="it-IT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36810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25624"/>
            <a:ext cx="10958604" cy="4530725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Discourse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it-IT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6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Discourses</a:t>
            </a:r>
            <a:r>
              <a:rPr lang="it-IT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are </a:t>
            </a:r>
            <a:r>
              <a:rPr lang="it-IT" sz="36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plural</a:t>
            </a:r>
            <a:endParaRPr lang="it-IT" sz="3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endParaRPr lang="it-IT" sz="1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There can be different ways of making sense of the same aspect of reality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same individual </a:t>
            </a:r>
          </a:p>
          <a:p>
            <a:pPr lvl="0">
              <a:lnSpc>
                <a:spcPct val="100000"/>
              </a:lnSpc>
              <a:spcBef>
                <a:spcPts val="0"/>
              </a:spcBef>
            </a:pPr>
            <a:endParaRPr lang="en-US" sz="12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can have different knowledge of the same object 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en-US" sz="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may be able to talk about the same object in several different ways, depending on the situation as well as on his or her own individual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interests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and 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purpose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it-IT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03391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25624"/>
            <a:ext cx="10840196" cy="4530725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Discourse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it-IT" sz="36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Discourses</a:t>
            </a:r>
            <a:r>
              <a:rPr lang="it-IT" sz="3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are finite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endParaRPr lang="it-IT" sz="8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it-IT" sz="3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They</a:t>
            </a:r>
            <a:r>
              <a:rPr lang="it-IT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conta</a:t>
            </a:r>
            <a:r>
              <a:rPr lang="it-IT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</a:t>
            </a:r>
            <a:r>
              <a:rPr lang="it-IT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limited </a:t>
            </a:r>
            <a:r>
              <a:rPr lang="it-IT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number</a:t>
            </a:r>
            <a:r>
              <a:rPr lang="it-IT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of «</a:t>
            </a:r>
            <a:r>
              <a:rPr lang="it-IT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statements</a:t>
            </a:r>
            <a:r>
              <a:rPr lang="it-IT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»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it-IT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it-IT" sz="3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6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Discourses</a:t>
            </a:r>
            <a:r>
              <a:rPr lang="it-IT" sz="3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6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have</a:t>
            </a:r>
            <a:r>
              <a:rPr lang="it-IT" sz="3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history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endParaRPr lang="it-IT" sz="8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it-IT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Emergence, spread and eventual decline of a certain type of discourse</a:t>
            </a:r>
            <a:endParaRPr lang="it-IT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8200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25624"/>
            <a:ext cx="10958604" cy="4530725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Discourse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it-IT" sz="3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Discourses have social distribution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endParaRPr lang="en-US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it-IT" sz="3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it-IT" sz="36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Discourses</a:t>
            </a:r>
            <a:r>
              <a:rPr lang="it-IT" sz="3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can be </a:t>
            </a:r>
            <a:r>
              <a:rPr lang="it-IT" sz="36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realised</a:t>
            </a:r>
            <a:r>
              <a:rPr lang="it-IT" sz="3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</a:t>
            </a:r>
            <a:r>
              <a:rPr lang="it-IT" sz="36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different</a:t>
            </a:r>
            <a:r>
              <a:rPr lang="it-IT" sz="3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ways and </a:t>
            </a:r>
            <a:r>
              <a:rPr lang="it-IT" sz="3600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modes</a:t>
            </a:r>
            <a:endParaRPr lang="en-US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6258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25624"/>
            <a:ext cx="10737102" cy="4530725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Discourse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2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Discourse as the </a:t>
            </a:r>
            <a:r>
              <a:rPr lang="en-US" sz="3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realisation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of social practice 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endParaRPr lang="en-US" sz="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lvl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Our actions give us the tools for understanding the world around us</a:t>
            </a:r>
          </a:p>
          <a:p>
            <a:pPr lvl="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The anatomy of discourse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endParaRPr lang="en-US" sz="1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A discourse is the knowledge of a particular social practice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 representing a social practice, a discourse contains certain ideas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and attitudes: evaluations, purposes and legitimations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0286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25624"/>
            <a:ext cx="10737102" cy="4530725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Genre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Genre</a:t>
            </a:r>
            <a:endParaRPr lang="it-IT" sz="32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term generally used to mean a “type of text”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grouping of texts which are similar in structure or 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3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matter</a:t>
            </a:r>
            <a:endParaRPr lang="it-IT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22384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25624"/>
            <a:ext cx="10737102" cy="4530725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Genre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Characteristics of: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Content - discourse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Form – media or mode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Function – social interactions</a:t>
            </a:r>
            <a:endParaRPr lang="en-US" sz="36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6808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721224"/>
            <a:ext cx="10737102" cy="4635125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Genre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20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Genre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1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names the </a:t>
            </a: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ways in which texts can relate to each other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The relationships between texts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endParaRPr lang="en-US" sz="1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are complex and variable</a:t>
            </a:r>
            <a:endParaRPr lang="en-US" sz="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are cultural activities shaped by social actors</a:t>
            </a:r>
            <a:endParaRPr lang="en-US" sz="3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3952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25624"/>
            <a:ext cx="10737102" cy="4530725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Genre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Genre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is preeminently a cultural concept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is a matter of the 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social functions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of texts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sz="1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 d</a:t>
            </a: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eals with the functions of texts in social interactions</a:t>
            </a:r>
            <a:endParaRPr lang="en-US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66338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25624"/>
            <a:ext cx="10737102" cy="4530725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Genre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44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algn="just">
              <a:lnSpc>
                <a:spcPct val="107000"/>
              </a:lnSpc>
              <a:spcAft>
                <a:spcPts val="800"/>
              </a:spcAft>
            </a:pPr>
            <a:r>
              <a:rPr lang="en-US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Reading and producing texts are social actions</a:t>
            </a:r>
          </a:p>
          <a:p>
            <a:pPr marL="228600" algn="just">
              <a:lnSpc>
                <a:spcPct val="107000"/>
              </a:lnSpc>
              <a:spcAft>
                <a:spcPts val="800"/>
              </a:spcAft>
            </a:pPr>
            <a:r>
              <a:rPr lang="en-US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Studying the text alone is not enough</a:t>
            </a:r>
          </a:p>
          <a:p>
            <a:pPr marL="228600" algn="just"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Genre can be seen as a staged and multimodal process</a:t>
            </a:r>
            <a:endParaRPr lang="it-IT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algn="just">
              <a:lnSpc>
                <a:spcPct val="107000"/>
              </a:lnSpc>
              <a:spcAft>
                <a:spcPts val="800"/>
              </a:spcAft>
            </a:pPr>
            <a:endParaRPr lang="it-IT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8486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25624"/>
            <a:ext cx="10737102" cy="4530725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Genre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41455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25624"/>
            <a:ext cx="10737102" cy="4530725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Genre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02664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6D2019-5D2A-3C01-3023-D9D98C066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941"/>
            <a:ext cx="10515600" cy="1169895"/>
          </a:xfrm>
        </p:spPr>
        <p:txBody>
          <a:bodyPr>
            <a:normAutofit/>
          </a:bodyPr>
          <a:lstStyle/>
          <a:p>
            <a:pPr algn="ctr"/>
            <a:r>
              <a:rPr lang="it-IT" sz="6000" dirty="0">
                <a:latin typeface="Britannic Bold" panose="020B0903060703020204" pitchFamily="34" charset="0"/>
              </a:rPr>
              <a:t>SOCIAL SEMIOTICS</a:t>
            </a:r>
            <a:endParaRPr lang="it-IT" sz="600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A877478-66C9-8E39-D2A6-2171B20C9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8" y="1825624"/>
            <a:ext cx="10737102" cy="4530725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Genre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sz="3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sz="3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3899FF-5AF2-9A9C-EAE3-B82DF57B0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8274" y="174392"/>
            <a:ext cx="1707028" cy="1707028"/>
          </a:xfrm>
          <a:prstGeom prst="rect">
            <a:avLst/>
          </a:prstGeom>
        </p:spPr>
      </p:pic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15C938-DBC3-69B9-5545-A79E3CA7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600" dirty="0">
                <a:solidFill>
                  <a:srgbClr val="0070C0"/>
                </a:solidFill>
              </a:rPr>
              <a:t>Maria Rita Bartolomei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1FD0C-FF50-2C97-0C92-153B7463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3B825-0FCC-4E24-9AB0-B3A36126D33D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1916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55790047DD8148ABBA2789AA47C320" ma:contentTypeVersion="9" ma:contentTypeDescription="Create a new document." ma:contentTypeScope="" ma:versionID="98086a916431a8e183077b15f42af6f4">
  <xsd:schema xmlns:xsd="http://www.w3.org/2001/XMLSchema" xmlns:xs="http://www.w3.org/2001/XMLSchema" xmlns:p="http://schemas.microsoft.com/office/2006/metadata/properties" xmlns:ns2="4c1e1bc0-20d7-4915-b349-ec50805d4704" xmlns:ns3="17b4f9ba-5d33-4440-816d-df83934b65a5" targetNamespace="http://schemas.microsoft.com/office/2006/metadata/properties" ma:root="true" ma:fieldsID="9fefe5fa148b4c4f793265d39efa4f41" ns2:_="" ns3:_="">
    <xsd:import namespace="4c1e1bc0-20d7-4915-b349-ec50805d4704"/>
    <xsd:import namespace="17b4f9ba-5d33-4440-816d-df83934b65a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1e1bc0-20d7-4915-b349-ec50805d47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35712a47-566f-4e2f-ac2c-6a691c9ee4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b4f9ba-5d33-4440-816d-df83934b65a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a00fc7f-b5c3-40ce-a31d-e4a375ba7a0b}" ma:internalName="TaxCatchAll" ma:showField="CatchAllData" ma:web="17b4f9ba-5d33-4440-816d-df83934b65a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7b4f9ba-5d33-4440-816d-df83934b65a5" xsi:nil="true"/>
    <lcf76f155ced4ddcb4097134ff3c332f xmlns="4c1e1bc0-20d7-4915-b349-ec50805d470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A77AF82-6B46-44FB-AA75-610C303525AE}"/>
</file>

<file path=customXml/itemProps2.xml><?xml version="1.0" encoding="utf-8"?>
<ds:datastoreItem xmlns:ds="http://schemas.openxmlformats.org/officeDocument/2006/customXml" ds:itemID="{2D887CDD-87BB-4781-8BBC-F4C4EA5700A6}"/>
</file>

<file path=customXml/itemProps3.xml><?xml version="1.0" encoding="utf-8"?>
<ds:datastoreItem xmlns:ds="http://schemas.openxmlformats.org/officeDocument/2006/customXml" ds:itemID="{2F1CC8A5-20F0-4935-8BC4-E4BA74EDDC42}"/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620</Words>
  <Application>Microsoft Office PowerPoint</Application>
  <PresentationFormat>Widescreen</PresentationFormat>
  <Paragraphs>209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Britannic Bold</vt:lpstr>
      <vt:lpstr>Calibri</vt:lpstr>
      <vt:lpstr>Calibri Light</vt:lpstr>
      <vt:lpstr>Times New Roman</vt:lpstr>
      <vt:lpstr>Wingdings</vt:lpstr>
      <vt:lpstr>Tema di Office</vt:lpstr>
      <vt:lpstr>UNIVERSITY OF MESSINA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  <vt:lpstr>SOCIAL SEMIOTICS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OF MESSINA</dc:title>
  <dc:creator>MARIA RITA BARTOLOMEI</dc:creator>
  <cp:lastModifiedBy>Clelia Boscolo</cp:lastModifiedBy>
  <cp:revision>13</cp:revision>
  <dcterms:created xsi:type="dcterms:W3CDTF">2023-05-15T13:37:35Z</dcterms:created>
  <dcterms:modified xsi:type="dcterms:W3CDTF">2023-05-22T12:11:44Z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0x010100FB55790047DD8148ABBA2789AA47C320</vt:lpwstr>
  </property>
</Properties>
</file>