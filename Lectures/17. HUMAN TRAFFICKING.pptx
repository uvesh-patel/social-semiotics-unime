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9" r:id="rId6"/>
    <p:sldId id="260" r:id="rId7"/>
    <p:sldId id="261" r:id="rId8"/>
    <p:sldId id="262" r:id="rId9"/>
    <p:sldId id="271" r:id="rId10"/>
    <p:sldId id="268" r:id="rId11"/>
    <p:sldId id="269" r:id="rId12"/>
    <p:sldId id="263" r:id="rId13"/>
    <p:sldId id="264" r:id="rId14"/>
    <p:sldId id="265" r:id="rId15"/>
    <p:sldId id="266" r:id="rId16"/>
    <p:sldId id="272" r:id="rId17"/>
    <p:sldId id="273" r:id="rId18"/>
    <p:sldId id="274" r:id="rId19"/>
    <p:sldId id="267" r:id="rId20"/>
    <p:sldId id="275" r:id="rId21"/>
    <p:sldId id="277" r:id="rId22"/>
    <p:sldId id="276" r:id="rId23"/>
    <p:sldId id="278" r:id="rId24"/>
    <p:sldId id="279" r:id="rId25"/>
    <p:sldId id="281" r:id="rId2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8E2F3B-52C0-4020-BABD-C26999D957AA}" v="4" dt="2023-06-16T11:43:41.7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GIZAR ÖZTÜRK (544954)" userId="S::ztrbgz97l66z243d@studenti.unime.it::449b61d1-2b08-4d2b-ac76-8e3bbeee3292" providerId="AD" clId="Web-{688E2F3B-52C0-4020-BABD-C26999D957AA}"/>
    <pc:docChg chg="modSld">
      <pc:chgData name="BELGIZAR ÖZTÜRK (544954)" userId="S::ztrbgz97l66z243d@studenti.unime.it::449b61d1-2b08-4d2b-ac76-8e3bbeee3292" providerId="AD" clId="Web-{688E2F3B-52C0-4020-BABD-C26999D957AA}" dt="2023-06-16T11:43:42.454" v="5" actId="20577"/>
      <pc:docMkLst>
        <pc:docMk/>
      </pc:docMkLst>
      <pc:sldChg chg="modSp">
        <pc:chgData name="BELGIZAR ÖZTÜRK (544954)" userId="S::ztrbgz97l66z243d@studenti.unime.it::449b61d1-2b08-4d2b-ac76-8e3bbeee3292" providerId="AD" clId="Web-{688E2F3B-52C0-4020-BABD-C26999D957AA}" dt="2023-06-16T11:21:40.290" v="1" actId="20577"/>
        <pc:sldMkLst>
          <pc:docMk/>
          <pc:sldMk cId="1195364255" sldId="262"/>
        </pc:sldMkLst>
        <pc:spChg chg="mod">
          <ac:chgData name="BELGIZAR ÖZTÜRK (544954)" userId="S::ztrbgz97l66z243d@studenti.unime.it::449b61d1-2b08-4d2b-ac76-8e3bbeee3292" providerId="AD" clId="Web-{688E2F3B-52C0-4020-BABD-C26999D957AA}" dt="2023-06-16T11:21:40.290" v="1" actId="20577"/>
          <ac:spMkLst>
            <pc:docMk/>
            <pc:sldMk cId="1195364255" sldId="262"/>
            <ac:spMk id="3" creationId="{DA877478-66C9-8E39-D2A6-2171B20C9EF6}"/>
          </ac:spMkLst>
        </pc:spChg>
      </pc:sldChg>
      <pc:sldChg chg="modSp">
        <pc:chgData name="BELGIZAR ÖZTÜRK (544954)" userId="S::ztrbgz97l66z243d@studenti.unime.it::449b61d1-2b08-4d2b-ac76-8e3bbeee3292" providerId="AD" clId="Web-{688E2F3B-52C0-4020-BABD-C26999D957AA}" dt="2023-06-16T11:43:42.454" v="5" actId="20577"/>
        <pc:sldMkLst>
          <pc:docMk/>
          <pc:sldMk cId="4117769983" sldId="268"/>
        </pc:sldMkLst>
        <pc:spChg chg="mod">
          <ac:chgData name="BELGIZAR ÖZTÜRK (544954)" userId="S::ztrbgz97l66z243d@studenti.unime.it::449b61d1-2b08-4d2b-ac76-8e3bbeee3292" providerId="AD" clId="Web-{688E2F3B-52C0-4020-BABD-C26999D957AA}" dt="2023-06-16T11:43:42.454" v="5" actId="20577"/>
          <ac:spMkLst>
            <pc:docMk/>
            <pc:sldMk cId="4117769983" sldId="268"/>
            <ac:spMk id="3" creationId="{DA877478-66C9-8E39-D2A6-2171B20C9EF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E23512-FD36-446A-B059-7577872D6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81F1127-5267-42CD-822F-C124FE2FD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4D36F8C-B428-4DC9-89F8-D078F3542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E156D-FC24-4AD5-A7F9-DC576EF1D9D5}" type="datetimeFigureOut">
              <a:rPr lang="it-IT" smtClean="0"/>
              <a:t>16/06/2023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77B8BC4-A128-4655-9040-B063C0BAC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5A35861-9BF3-4501-8701-B4990469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35CC2-CE84-48AA-970C-DA36F0865FE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043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F26993-E13C-4DE7-8874-1B4A4228D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7649D7-19C2-43B8-AC34-79A4F6E1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990824B-2EBB-46E6-BA96-4750E20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E156D-FC24-4AD5-A7F9-DC576EF1D9D5}" type="datetimeFigureOut">
              <a:rPr lang="it-IT" smtClean="0"/>
              <a:t>16/06/2023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91A71CD-00E0-477A-86F1-34CC10BEB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56B071F-7675-4DD2-BB76-EE492D3E8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35CC2-CE84-48AA-970C-DA36F0865FE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4824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EA358E-3C8A-4BB7-8E4D-ADF3A5FB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4950C12-9C57-4A78-94BC-5534C5095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A2D390C-8DC8-46CE-9206-965B915B3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E156D-FC24-4AD5-A7F9-DC576EF1D9D5}" type="datetimeFigureOut">
              <a:rPr lang="it-IT" smtClean="0"/>
              <a:t>16/06/2023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1991CAC-8965-4CF4-8EAF-CA03EFDDD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F55237B-5E11-41A9-8F67-41CEAD361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35CC2-CE84-48AA-970C-DA36F0865FE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0045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0D62CC-A635-4E78-93BA-A908F56FF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2B0F06-6694-4144-9549-0617B04049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65AD59C-472A-4BA5-AECE-0C919E2AF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1BCA70C-EA03-49E0-8544-EC7986585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E156D-FC24-4AD5-A7F9-DC576EF1D9D5}" type="datetimeFigureOut">
              <a:rPr lang="it-IT" smtClean="0"/>
              <a:t>16/06/2023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D038E01-71F6-4BF6-9697-AD459002B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B9E7E68-DCED-4343-AF92-D449F67BD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35CC2-CE84-48AA-970C-DA36F0865FE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01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190F44-29B0-4691-9BC8-24D48C914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B7B01F6-4B76-487F-B35A-76F97E990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682B40E-3F03-4771-BFD1-14F4E5FD6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BD41EE6-DEED-4066-8068-1DF9D11706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1DC57B9-C5A8-40B0-95B5-62B3BDE03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A5CF8C6-93D9-4EE2-8A8C-344DA17F7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E156D-FC24-4AD5-A7F9-DC576EF1D9D5}" type="datetimeFigureOut">
              <a:rPr lang="it-IT" smtClean="0"/>
              <a:t>16/06/2023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D9EA8AB-B595-4987-9FA4-6AE3C7128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B865C93-9C03-4C0A-B857-096ABF0F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35CC2-CE84-48AA-970C-DA36F0865FE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7236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BADA6F-B96D-4ABC-8CB9-71799CBF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EB722EA-D856-4A23-9FE9-24323C5B7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E156D-FC24-4AD5-A7F9-DC576EF1D9D5}" type="datetimeFigureOut">
              <a:rPr lang="it-IT" smtClean="0"/>
              <a:t>16/06/2023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5E44208-247B-4DA0-A5E3-82921F39B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E6702B0-A4E6-4A1A-BDA0-2CAF57DD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35CC2-CE84-48AA-970C-DA36F0865FE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8468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88A72CD-6C9C-4CF3-ACDB-D0E2A1DF1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E156D-FC24-4AD5-A7F9-DC576EF1D9D5}" type="datetimeFigureOut">
              <a:rPr lang="it-IT" smtClean="0"/>
              <a:t>16/06/2023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784A7F4-ECD9-4CAF-ADBA-9A77B0641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D59DA1F-264C-404C-948D-97EBCCB2E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35CC2-CE84-48AA-970C-DA36F0865FE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5938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A09163-D45B-4386-AA85-4600BE63C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65427E-66D9-4EDB-B9CD-AD8AE74A5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CBEB8CB-2E55-43DA-98D5-924D95A30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71D912-14E3-46C4-A48D-DB9C4FA40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E156D-FC24-4AD5-A7F9-DC576EF1D9D5}" type="datetimeFigureOut">
              <a:rPr lang="it-IT" smtClean="0"/>
              <a:t>16/06/2023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2A52754-D81F-4DF2-AD89-9F54DEB16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D576982-9D10-41F4-B250-7A36D2DD2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35CC2-CE84-48AA-970C-DA36F0865FE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2108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2B5F6E-578C-4B91-92EA-A0C3CA350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C750CF5-7C07-4B46-9EE8-67B460B3C8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0F81013-75AF-46D8-A797-FDEAFFDA6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4E8A2AC-872D-4325-9185-EEFF8C3EA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E156D-FC24-4AD5-A7F9-DC576EF1D9D5}" type="datetimeFigureOut">
              <a:rPr lang="it-IT" smtClean="0"/>
              <a:t>16/06/2023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05B8949-0E82-4765-B0F8-1132546A0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AEAA0A4-416E-4E31-B16E-3253B475A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35CC2-CE84-48AA-970C-DA36F0865FE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0952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F3E8F5-82DE-4F7A-A03E-C38BA4C7C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136EAE8-5A34-406D-930E-DD9C0F5D4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CAA6A5-FD3F-4D00-A56E-8EE1B5BE9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E156D-FC24-4AD5-A7F9-DC576EF1D9D5}" type="datetimeFigureOut">
              <a:rPr lang="it-IT" smtClean="0"/>
              <a:t>16/06/2023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EE8ABBF-6846-4B6D-B0D3-1EA73A0A9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C646E8C-45B1-4514-8E1A-BA0CCD2B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35CC2-CE84-48AA-970C-DA36F0865FE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129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9545E1B-B53E-43C1-BCF0-81927369D5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938CEFD-517D-4F6E-8AAE-60BADE9DEC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CEBFB41-39C3-4801-B6BF-FCF5A236E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E156D-FC24-4AD5-A7F9-DC576EF1D9D5}" type="datetimeFigureOut">
              <a:rPr lang="it-IT" smtClean="0"/>
              <a:t>16/06/2023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3106063-CF0E-412C-92B9-425E465C4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6457494-E14A-486E-AA18-21F905DDA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35CC2-CE84-48AA-970C-DA36F0865FE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783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507952F-49E3-445E-8C3C-90D5AE474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CB1FE30-C9F0-43BD-9062-583900970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4CF550-73AA-4FD1-9F6A-B1333D620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E156D-FC24-4AD5-A7F9-DC576EF1D9D5}" type="datetimeFigureOut">
              <a:rPr lang="it-IT" smtClean="0"/>
              <a:t>16/06/2023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76B0F1-2985-4DE7-A878-288177C400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6B5B25E-3137-4C45-82F6-365753F51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35CC2-CE84-48AA-970C-DA36F0865FE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8825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6E8C581-25A3-E33E-D7DD-A2B2A41F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Britannic Bold" panose="020B0903060703020204" pitchFamily="34" charset="0"/>
              </a:rPr>
              <a:t>UNIVERSITY OF MESSINA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3F7D7EE-8FE9-90F4-02E6-6CD1AF82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948003"/>
            <a:ext cx="11403106" cy="4291432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</a:p>
          <a:p>
            <a:pPr marL="0" indent="0" algn="ctr">
              <a:buNone/>
            </a:pP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Science and Theory of Communication – </a:t>
            </a:r>
            <a:r>
              <a:rPr lang="en-US" sz="4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LM-55</a:t>
            </a:r>
          </a:p>
          <a:p>
            <a:pPr marL="0" indent="0" algn="ctr">
              <a:buNone/>
            </a:pPr>
            <a:endParaRPr lang="it-IT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it-IT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 Title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it-IT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</a:p>
          <a:p>
            <a:pPr marL="0" indent="0" algn="ctr">
              <a:buNone/>
            </a:pPr>
            <a:endParaRPr lang="it-IT" sz="33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Teacher</a:t>
            </a:r>
            <a:endParaRPr lang="it-IT" sz="3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Maria Rita Bartolomei</a:t>
            </a:r>
            <a:endParaRPr lang="it-IT" sz="3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Mail: mabartolomei@unime.it</a:t>
            </a:r>
          </a:p>
        </p:txBody>
      </p:sp>
      <p:pic>
        <p:nvPicPr>
          <p:cNvPr id="6" name="Segnaposto contenuto 4" descr="Immagine che contiene testo, contenitore, scatola&#10;&#10;Descrizione generata automaticamente">
            <a:extLst>
              <a:ext uri="{FF2B5EF4-FFF2-40B4-BE49-F238E27FC236}">
                <a16:creationId xmlns:a16="http://schemas.microsoft.com/office/drawing/2014/main" id="{DDD7C24D-9569-D55D-FAB3-A977C76C5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508" y="309515"/>
            <a:ext cx="1638487" cy="1638487"/>
          </a:xfrm>
          <a:prstGeom prst="rect">
            <a:avLst/>
          </a:prstGeom>
        </p:spPr>
      </p:pic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A636110D-77B9-3AB4-BE50-9B93911F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CFFF47F-2082-A8BD-E214-32F787B2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255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81420"/>
            <a:ext cx="11080002" cy="4474930"/>
          </a:xfrm>
        </p:spPr>
        <p:txBody>
          <a:bodyPr>
            <a:normAutofit/>
          </a:bodyPr>
          <a:lstStyle/>
          <a:p>
            <a:pPr marL="0" lvl="0" indent="0" algn="ctr">
              <a:lnSpc>
                <a:spcPct val="107000"/>
              </a:lnSpc>
              <a:buNone/>
            </a:pPr>
            <a:r>
              <a:rPr lang="it-IT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MODERN SLAVERY</a:t>
            </a:r>
          </a:p>
          <a:p>
            <a:pPr marL="0" lvl="0" indent="0" algn="ctr">
              <a:lnSpc>
                <a:spcPct val="107000"/>
              </a:lnSpc>
              <a:buNone/>
            </a:pPr>
            <a:r>
              <a:rPr lang="it-I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HUMAN TRAFFICKING IN THE GLOBAL ERA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Human trafficking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most serious, pervasive, profitable and emblematic deviant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phenomenon of our times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comes in many shapes and sizes, harming adults and children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in rich and poor countries alike</a:t>
            </a:r>
            <a:endParaRPr lang="it-IT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buNone/>
            </a:pP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buNone/>
            </a:pPr>
            <a:endParaRPr lang="it-IT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en-US" sz="32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7853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533385"/>
            <a:ext cx="10958604" cy="4822965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buNone/>
            </a:pPr>
            <a:endParaRPr lang="en-US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ACC5729-AC1F-49EF-B703-7E339F3A8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1856020"/>
            <a:ext cx="9464488" cy="4474930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B392C31C-0610-496F-8DFD-88E5527A3868}"/>
              </a:ext>
            </a:extLst>
          </p:cNvPr>
          <p:cNvSpPr/>
          <p:nvPr/>
        </p:nvSpPr>
        <p:spPr>
          <a:xfrm>
            <a:off x="1112881" y="2037834"/>
            <a:ext cx="98218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Trafficking and exploitation of children in the global era</a:t>
            </a:r>
          </a:p>
        </p:txBody>
      </p:sp>
    </p:spTree>
    <p:extLst>
      <p:ext uri="{BB962C8B-B14F-4D97-AF65-F5344CB8AC3E}">
        <p14:creationId xmlns:p14="http://schemas.microsoft.com/office/powerpoint/2010/main" val="721886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81420"/>
            <a:ext cx="11130802" cy="4474930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is human trafficking?</a:t>
            </a:r>
          </a:p>
          <a:p>
            <a:pPr marL="0" lvl="0" indent="0">
              <a:lnSpc>
                <a:spcPct val="107000"/>
              </a:lnSpc>
              <a:buNone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 is a transnational crime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endParaRPr lang="en-US" sz="9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 involves the recruitment, transportation, forced transfer,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harbouring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or receipt of people by means of threat or use of force or other forms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coercion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abduction, fraud, deception, abuse of power, position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vulnerability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giving or receiving payments or benefits to achieve the consent of a person having control over another person for the purpose of economic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exploitation</a:t>
            </a:r>
            <a:endParaRPr lang="it-IT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en-US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4</a:t>
            </a:fld>
            <a:endParaRPr lang="it-IT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4D5511A-E17B-4BAF-B6D1-FFA4B1CB07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407"/>
          <a:stretch/>
        </p:blipFill>
        <p:spPr bwMode="auto">
          <a:xfrm>
            <a:off x="4973099" y="1623957"/>
            <a:ext cx="4895175" cy="208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5349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676400"/>
            <a:ext cx="10958604" cy="480060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en-US" sz="3600" b="1" dirty="0">
                <a:latin typeface="Times New Roman"/>
                <a:ea typeface="Calibri" panose="020F0502020204030204" pitchFamily="34" charset="0"/>
                <a:cs typeface="Times New Roman"/>
              </a:rPr>
              <a:t>f</a:t>
            </a:r>
            <a:endParaRPr lang="en-US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buNone/>
            </a:pPr>
            <a:endParaRPr lang="en-US" sz="13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sexual exploitation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forced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labour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or servitude </a:t>
            </a:r>
          </a:p>
          <a:p>
            <a:pPr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/>
                <a:ea typeface="Calibri" panose="020F0502020204030204" pitchFamily="34" charset="0"/>
                <a:cs typeface="Times New Roman"/>
              </a:rPr>
              <a:t> slavery or practices similar to slavery 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forced organ removal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forced crime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forced marriage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illegal adoption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begging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forced or compulsory recruitment of children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soldiers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en-US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5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F0291F3-4558-4B81-9B01-B4A527A52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489" y="2013844"/>
            <a:ext cx="4728211" cy="400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64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1420"/>
            <a:ext cx="11264900" cy="4474930"/>
          </a:xfrm>
        </p:spPr>
        <p:txBody>
          <a:bodyPr>
            <a:normAutofit/>
          </a:bodyPr>
          <a:lstStyle/>
          <a:p>
            <a:pPr lvl="0">
              <a:lnSpc>
                <a:spcPct val="107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complexity and nature of this phenomenon make it extremely 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difficult to provide accurate data on victims of trafficking globally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reported or identified cases represent a small part of the reality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Without knowing it, we may meet victims of trafficking in camps, in restaurants, on the streets - beggars and prostitutes - or even in our homes…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v"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en-US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6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A3FD97C-F4C2-4F10-84A2-6013353B6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4283799"/>
            <a:ext cx="3295650" cy="2399809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72D51FFB-7F9C-4B28-AFD7-1F96579F461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19"/>
          <a:stretch/>
        </p:blipFill>
        <p:spPr>
          <a:xfrm>
            <a:off x="2717676" y="4595376"/>
            <a:ext cx="4603922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295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81420"/>
            <a:ext cx="10958604" cy="4474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Human trafficking is a serious crime</a:t>
            </a:r>
            <a:endParaRPr lang="it-IT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 panose="02020603050405020304" pitchFamily="18" charset="0"/>
                <a:cs typeface="Times New Roman"/>
              </a:rPr>
              <a:t> 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(Resolution of the European Parliament 1996</a:t>
            </a:r>
            <a:r>
              <a:rPr lang="en-US" dirty="0">
                <a:solidFill>
                  <a:srgbClr val="000000"/>
                </a:solidFill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)</a:t>
            </a:r>
            <a:endParaRPr lang="it-IT" dirty="0">
              <a:latin typeface="Times New Roman"/>
              <a:ea typeface="Calibri" panose="020F0502020204030204" pitchFamily="34" charset="0"/>
              <a:cs typeface="Times New Roman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en-US" dirty="0">
                <a:latin typeface="Times New Roman"/>
                <a:cs typeface="Times New Roman"/>
              </a:rPr>
              <a:t>Trafficking thrives, diversifies and transforms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/>
                <a:cs typeface="Times New Roman"/>
              </a:rPr>
              <a:t>    - to adapt to the needs of the markets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/>
                <a:cs typeface="Times New Roman"/>
              </a:rPr>
              <a:t>    - to evade law enforcement actions</a:t>
            </a:r>
            <a:endParaRPr lang="en-US"/>
          </a:p>
          <a:p>
            <a:pPr marL="0" lvl="0" indent="0">
              <a:lnSpc>
                <a:spcPct val="107000"/>
              </a:lnSpc>
              <a:buNone/>
            </a:pP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en-US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7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EFB503B-6641-46C2-A93C-5C3658EE8A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296459"/>
            <a:ext cx="4392706" cy="256154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3076DBA-0A10-4EE6-ABD0-AC322A8BF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634" y="2059685"/>
            <a:ext cx="4226323" cy="447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769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81420"/>
            <a:ext cx="10958604" cy="4474930"/>
          </a:xfrm>
        </p:spPr>
        <p:txBody>
          <a:bodyPr>
            <a:normAutofit/>
          </a:bodyPr>
          <a:lstStyle/>
          <a:p>
            <a:pPr lvl="0">
              <a:lnSpc>
                <a:spcPct val="107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REPRESSIVE response – Legal aspects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HUMANITARIAN (human rights) orientation – Protection of victims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SOCIO-ECONOMIC approach – Structural interventions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v"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en-US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8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9D01929-BD75-9754-9BD5-B167089213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491"/>
          <a:stretch/>
        </p:blipFill>
        <p:spPr>
          <a:xfrm>
            <a:off x="838200" y="3605630"/>
            <a:ext cx="4978593" cy="262969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7E4CBBD4-15CE-42F0-67A4-D39075A71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0764" y="3629958"/>
            <a:ext cx="4002630" cy="293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79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721224"/>
            <a:ext cx="10958604" cy="4635126"/>
          </a:xfrm>
        </p:spPr>
        <p:txBody>
          <a:bodyPr>
            <a:normAutofit fontScale="92500" lnSpcReduction="20000"/>
          </a:bodyPr>
          <a:lstStyle/>
          <a:p>
            <a:pPr marL="0" lvl="0" indent="0" algn="ctr">
              <a:lnSpc>
                <a:spcPct val="107000"/>
              </a:lnSpc>
              <a:buNone/>
            </a:pP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criminal contrast</a:t>
            </a:r>
          </a:p>
          <a:p>
            <a:pPr marL="0" lvl="0" indent="0" algn="ctr">
              <a:lnSpc>
                <a:spcPct val="1070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Legal aspects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international community has gained awareness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 intervened by issuing a specific regulation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Humanitarian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organisations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en-US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Global and integrated setting – (Directive 2011/36/EU)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US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prevention - repression - protection - social reintegration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GRETA Report 2017 (Council of Europe)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IOM Report 2017</a:t>
            </a:r>
          </a:p>
          <a:p>
            <a:pPr marL="0" indent="0" algn="just">
              <a:lnSpc>
                <a:spcPct val="107000"/>
              </a:lnSpc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en-US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9</a:t>
            </a:fld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765CB64C-401C-A08C-2F2F-C1480C9A9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2069350"/>
            <a:ext cx="3461311" cy="208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85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2138082"/>
            <a:ext cx="10958604" cy="4218268"/>
          </a:xfrm>
        </p:spPr>
        <p:txBody>
          <a:bodyPr>
            <a:normAutofit/>
          </a:bodyPr>
          <a:lstStyle/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v"/>
            </a:pPr>
            <a:r>
              <a:rPr lang="it-IT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Difference between </a:t>
            </a: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trafficking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smuggling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people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Human smuggling 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a crime against the State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illegal movement and entry into another country or state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violation of one or more countries' laws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Smuggled people are generally willing to be transported</a:t>
            </a: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en-US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3200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81420"/>
            <a:ext cx="10958604" cy="4474930"/>
          </a:xfrm>
        </p:spPr>
        <p:txBody>
          <a:bodyPr>
            <a:normAutofit/>
          </a:bodyPr>
          <a:lstStyle/>
          <a:p>
            <a:pPr lvl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Trafficking in human beings is a crime against the person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 can also include moving, legally or illegally, within a country or 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across international borders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 is carried out without consent – or without informed and valid 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consent – and for the purpose of exploitation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smuggled people are sometimes vulnerable to becoming trafficked,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during or after travelling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(Palermo Protocol 2000; Directive 2011/36/EU)</a:t>
            </a:r>
            <a:endParaRPr lang="en-US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7362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81420"/>
            <a:ext cx="10958604" cy="447493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07000"/>
              </a:lnSpc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constitutive elements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characterise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legal paradigm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the case in point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en-US" sz="2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accomplished by the organisers</a:t>
            </a:r>
            <a:r>
              <a:rPr lang="en-GB" dirty="0"/>
              <a:t>;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is done for trafficking to occur: recruitment, transport, transfer, etc.;</a:t>
            </a:r>
          </a:p>
          <a:p>
            <a:pPr lvl="0"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MEANS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used to achieve it: deception, threat, use of force, abuse of power, etc.;</a:t>
            </a:r>
          </a:p>
          <a:p>
            <a:pPr lvl="0" algn="just"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exploitation</a:t>
            </a:r>
          </a:p>
          <a:p>
            <a:pPr lvl="0" algn="just">
              <a:lnSpc>
                <a:spcPct val="107000"/>
              </a:lnSpc>
            </a:pPr>
            <a:endParaRPr lang="en-US" sz="13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the case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minors,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medium used is irrelevant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 minors cannot provide valid consent, removal from the community and use in exploitative activities is sufficient</a:t>
            </a:r>
          </a:p>
          <a:p>
            <a:pPr marL="0" lvl="0" indent="0" algn="just">
              <a:lnSpc>
                <a:spcPct val="107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(Art. 3, Palermo Protocol 2002; Warsaw Convention 2005)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en-US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9569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81420"/>
            <a:ext cx="10958604" cy="447493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the case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minors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medium used is irrelevant, as minors cannot provide valid consent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removal from the community and use in exploitative activities</a:t>
            </a:r>
          </a:p>
          <a:p>
            <a:pPr marL="0" lvl="0" indent="0" algn="just">
              <a:lnSpc>
                <a:spcPct val="107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is sufficient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13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3DBDDC9-DBAB-4C7C-8098-E88BF15DA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633" y="4275279"/>
            <a:ext cx="4349669" cy="240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2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81420"/>
            <a:ext cx="10958604" cy="4474930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Traffickers are all those who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recruit, transport and control trafficked people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observe them under conditions of exploitation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are involved in related crimes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benefit directly or indirectly: from trafficking, 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from the acts which form the case in point 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and from the related crimes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14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3652D07-887A-46E9-8304-BAAC1524F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2619" y="2114548"/>
            <a:ext cx="3925498" cy="206263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9F4A0A1-47E5-4EC1-AFC1-05F58CE58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7734" y="4582179"/>
            <a:ext cx="4197441" cy="198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53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81420"/>
            <a:ext cx="10958604" cy="447493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Traffickers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are affiliated with international criminal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organisations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with the promise of better prospects of work and life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connect their unsuspecting victims with actual networks</a:t>
            </a:r>
          </a:p>
          <a:p>
            <a:pPr marL="0" lvl="0" indent="0" algn="just">
              <a:lnSpc>
                <a:spcPct val="107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of exploitation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use the Internet to recruit victims and accomplices</a:t>
            </a:r>
            <a:endParaRPr lang="en-US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259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81420"/>
            <a:ext cx="10958604" cy="4474930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Who are the </a:t>
            </a:r>
            <a:r>
              <a:rPr lang="en-US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victims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trafficking?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 is difficult to outline the precise profile of a victim of trafficking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poorest and most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marginalised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sections of the world population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who live in conditions of absolute degradation, extreme vulnerability,</a:t>
            </a:r>
          </a:p>
          <a:p>
            <a:pPr marL="0" lvl="0" indent="0" algn="just">
              <a:lnSpc>
                <a:spcPct val="107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ignorance and, often, total desperation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en-US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16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58F4B82-A3AD-AC0B-F6AC-D365C1450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409" y="4713921"/>
            <a:ext cx="3456732" cy="208501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7450E73F-6104-8452-8257-6CEEE3A6B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861" y="4376019"/>
            <a:ext cx="3724979" cy="221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37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81420"/>
            <a:ext cx="10958604" cy="4474930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social semiotics approach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Contextualisation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Understanding of cultural meanings and reasons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en-US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17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CC38D3F-2B19-B1C6-E13B-05E1A5D54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211" y="3808673"/>
            <a:ext cx="5455589" cy="243790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C7DA7B98-6ED8-C900-80C8-A07610036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752" y="3588448"/>
            <a:ext cx="4544367" cy="313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22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81420"/>
            <a:ext cx="10958604" cy="447493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buNone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Trafficking is both a local and a global phenomenon</a:t>
            </a:r>
          </a:p>
          <a:p>
            <a:pPr marL="0" indent="0" algn="just">
              <a:lnSpc>
                <a:spcPct val="107000"/>
              </a:lnSpc>
              <a:buNone/>
            </a:pPr>
            <a:endParaRPr lang="it-IT" sz="1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Anyone can be a victim of human trafficking, regardless of race,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colour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nationality, disability, religion, age, gender, sexual orientation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en-US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18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A360A39-57FE-B7E3-7EB4-226D96B1E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825" y="3974979"/>
            <a:ext cx="4663273" cy="284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488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81420"/>
            <a:ext cx="10958604" cy="447493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a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phenomenon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Connected to the structural conditions of both the contexts of origin 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and of arrival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19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77E31E6-47C9-55DB-18C5-0CD08CDFA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03182"/>
            <a:ext cx="4054191" cy="231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340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81420"/>
            <a:ext cx="10958604" cy="4474930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a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global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phenomenon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 involves more and more people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 implies the existence of interconnected transnational criminal circuits which spread in a capillary way over the most disparate territories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operating methods change to remain unpunished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en-US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20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7215FB6-655B-1B58-B49F-5F4181CF7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459" y="4827494"/>
            <a:ext cx="4688541" cy="203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737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2286000"/>
            <a:ext cx="10958604" cy="4070350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07000"/>
              </a:lnSpc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TRAFFICKING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involves men, women or children without distinction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an underground crime: it is rarely reported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constitutes a serious violation of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fundamental human rights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en-US" sz="1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r>
              <a:rPr lang="en-US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one shall be held in slavery or servitude; slavery and the slave trade shall </a:t>
            </a:r>
          </a:p>
          <a:p>
            <a:pPr marL="0" lvl="0" indent="0" algn="just">
              <a:lnSpc>
                <a:spcPct val="107000"/>
              </a:lnSpc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 prohibited in all their forms </a:t>
            </a: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(Art. 4 UDHR United Nations General Assembly, 1948)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en-US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21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525FE68-3508-5DCB-40E3-63A7A220A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122" y="1920875"/>
            <a:ext cx="3559920" cy="239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87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2286000"/>
            <a:ext cx="10958604" cy="407035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en-US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22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850D864-1DD7-8555-5E30-C8165BFBA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485" y="1556254"/>
            <a:ext cx="8618789" cy="503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9065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b4f9ba-5d33-4440-816d-df83934b65a5" xsi:nil="true"/>
    <lcf76f155ced4ddcb4097134ff3c332f xmlns="4c1e1bc0-20d7-4915-b349-ec50805d470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55790047DD8148ABBA2789AA47C320" ma:contentTypeVersion="9" ma:contentTypeDescription="Creare un nuovo documento." ma:contentTypeScope="" ma:versionID="f5d0184f3c0a15a1e0d0131ea4b30a13">
  <xsd:schema xmlns:xsd="http://www.w3.org/2001/XMLSchema" xmlns:xs="http://www.w3.org/2001/XMLSchema" xmlns:p="http://schemas.microsoft.com/office/2006/metadata/properties" xmlns:ns2="4c1e1bc0-20d7-4915-b349-ec50805d4704" xmlns:ns3="17b4f9ba-5d33-4440-816d-df83934b65a5" targetNamespace="http://schemas.microsoft.com/office/2006/metadata/properties" ma:root="true" ma:fieldsID="7198817151beefd45f5913d772bfde97" ns2:_="" ns3:_="">
    <xsd:import namespace="4c1e1bc0-20d7-4915-b349-ec50805d4704"/>
    <xsd:import namespace="17b4f9ba-5d33-4440-816d-df83934b65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e1bc0-20d7-4915-b349-ec50805d47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Tag immagine" ma:readOnly="false" ma:fieldId="{5cf76f15-5ced-4ddc-b409-7134ff3c332f}" ma:taxonomyMulti="true" ma:sspId="35712a47-566f-4e2f-ac2c-6a691c9ee4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4f9ba-5d33-4440-816d-df83934b65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a00fc7f-b5c3-40ce-a31d-e4a375ba7a0b}" ma:internalName="TaxCatchAll" ma:showField="CatchAllData" ma:web="17b4f9ba-5d33-4440-816d-df83934b65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8A9FAB-B7F3-4504-B44C-4DEE4ED572CC}">
  <ds:schemaRefs>
    <ds:schemaRef ds:uri="http://purl.org/dc/dcmitype/"/>
    <ds:schemaRef ds:uri="http://schemas.microsoft.com/office/infopath/2007/PartnerControls"/>
    <ds:schemaRef ds:uri="dd8f7588-51a2-406b-a0e8-fc76e6373225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17b4f9ba-5d33-4440-816d-df83934b65a5"/>
    <ds:schemaRef ds:uri="4c1e1bc0-20d7-4915-b349-ec50805d4704"/>
  </ds:schemaRefs>
</ds:datastoreItem>
</file>

<file path=customXml/itemProps2.xml><?xml version="1.0" encoding="utf-8"?>
<ds:datastoreItem xmlns:ds="http://schemas.openxmlformats.org/officeDocument/2006/customXml" ds:itemID="{A52D2877-FE95-4999-A427-C14FC75280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25AA67-703C-4A3E-BE46-7CC86B282B45}"/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1093</Words>
  <Application>Microsoft Office PowerPoint</Application>
  <PresentationFormat>Geniş ekran</PresentationFormat>
  <Paragraphs>235</Paragraphs>
  <Slides>22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22</vt:i4>
      </vt:variant>
    </vt:vector>
  </HeadingPairs>
  <TitlesOfParts>
    <vt:vector size="23" baseType="lpstr">
      <vt:lpstr>Tema di Office</vt:lpstr>
      <vt:lpstr>UNIVERSITY OF MESSINA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MESSINA</dc:title>
  <dc:creator>Bartolomei.Maria</dc:creator>
  <cp:lastModifiedBy>cleliab@ibosea.org</cp:lastModifiedBy>
  <cp:revision>25</cp:revision>
  <dcterms:created xsi:type="dcterms:W3CDTF">2023-05-30T10:05:27Z</dcterms:created>
  <dcterms:modified xsi:type="dcterms:W3CDTF">2023-06-16T11:43:43Z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0x010100FB55790047DD8148ABBA2789AA47C320</vt:lpwstr>
  </property>
  <property fmtid="{D5CDD505-2E9C-101B-9397-08002B2CF9AE}" pid="3" name="MediaServiceImageTags">
    <vt:lpwstr/>
  </property>
</Properties>
</file>