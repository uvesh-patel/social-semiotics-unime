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Masters/slideMaster1.xml" ContentType="application/vnd.openxmlformats-officedocument.presentationml.slideMaster+xml"/>
  <Override PartName="/ppt/slideLayouts/slideLayout11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viewProps.xml" ContentType="application/vnd.openxmlformats-officedocument.presentationml.viewProps+xml"/>
  <Override PartName="/ppt/presProps.xml" ContentType="application/vnd.openxmlformats-officedocument.presentationml.presProps+xml"/>
  <Override PartName="/docProps/core.xml" ContentType="application/vnd.openxmlformats-package.core-properties+xml"/>
  <Override PartName="/docProps/app.xml" ContentType="application/vnd.openxmlformats-officedocument.extended-properties+xml"/>
  <Override PartName="/customXml/itemProps2.xml" ContentType="application/vnd.openxmlformats-officedocument.customXmlProperties+xml"/>
  <Override PartName="/customXml/itemProps1.xml" ContentType="application/vnd.openxmlformats-officedocument.customXmlProperties+xml"/>
  <Override PartName="/customXml/itemProps3.xml" ContentType="application/vnd.openxmlformats-officedocument.customXml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8" r:id="rId2"/>
    <p:sldId id="336" r:id="rId3"/>
    <p:sldId id="313" r:id="rId4"/>
    <p:sldId id="314" r:id="rId5"/>
    <p:sldId id="315" r:id="rId6"/>
    <p:sldId id="316" r:id="rId7"/>
    <p:sldId id="317" r:id="rId8"/>
    <p:sldId id="318" r:id="rId9"/>
    <p:sldId id="319" r:id="rId10"/>
    <p:sldId id="320" r:id="rId11"/>
    <p:sldId id="321" r:id="rId12"/>
    <p:sldId id="322" r:id="rId13"/>
    <p:sldId id="323" r:id="rId14"/>
    <p:sldId id="324" r:id="rId15"/>
    <p:sldId id="325" r:id="rId16"/>
    <p:sldId id="326" r:id="rId17"/>
    <p:sldId id="327" r:id="rId18"/>
    <p:sldId id="329" r:id="rId19"/>
    <p:sldId id="328" r:id="rId20"/>
    <p:sldId id="330" r:id="rId21"/>
    <p:sldId id="331" r:id="rId22"/>
    <p:sldId id="332" r:id="rId23"/>
    <p:sldId id="333" r:id="rId24"/>
    <p:sldId id="334" r:id="rId25"/>
    <p:sldId id="335" r:id="rId26"/>
  </p:sldIdLst>
  <p:sldSz cx="12192000" cy="6858000"/>
  <p:notesSz cx="6858000" cy="9144000"/>
  <p:defaultTextStyle>
    <a:defPPr>
      <a:defRPr lang="it-IT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71" d="100"/>
          <a:sy n="71" d="100"/>
        </p:scale>
        <p:origin x="786" y="6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customXml" Target="../customXml/item3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customXml" Target="../customXml/item2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customXml" Target="../customXml/item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presProps" Target="presProps.xml"/><Relationship Id="rId30" Type="http://schemas.openxmlformats.org/officeDocument/2006/relationships/tableStyles" Target="tableStyles.xml"/><Relationship Id="rId8" Type="http://schemas.openxmlformats.org/officeDocument/2006/relationships/slide" Target="slides/slide7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FA44B4A7-E795-85C8-2CDE-6F9B0007AB5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ottotitolo 2">
            <a:extLst>
              <a:ext uri="{FF2B5EF4-FFF2-40B4-BE49-F238E27FC236}">
                <a16:creationId xmlns:a16="http://schemas.microsoft.com/office/drawing/2014/main" id="{3EAAA8E4-EDBB-3475-6E8E-0EE34BC148B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it-IT"/>
              <a:t>Fare clic per modificare lo stile del sottotitolo dello schema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BE79F4B1-A354-DFD2-43EC-C984C75CF4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0EC477-F64E-4BBB-A7A5-FC7FA79168E6}" type="datetimeFigureOut">
              <a:rPr lang="it-IT" smtClean="0"/>
              <a:t>28/05/2023</a:t>
            </a:fld>
            <a:endParaRPr lang="it-IT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DB015893-7B1D-C44C-E6A0-10D7111FF3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285271E9-FA7B-0FD5-9A72-6CDD63DF9A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83F16E-69B8-44E9-8B9A-59DD29BDBF24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60219684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olo e contenu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495B281A-20A9-6A0D-E73E-D955AEE7FA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9A9EBCCB-5F74-1D68-3AF2-CC6A0CAB30B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18CBAD90-A4C4-F276-FA60-92F7E033F7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0EC477-F64E-4BBB-A7A5-FC7FA79168E6}" type="datetimeFigureOut">
              <a:rPr lang="it-IT" smtClean="0"/>
              <a:t>28/05/2023</a:t>
            </a:fld>
            <a:endParaRPr lang="it-IT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795BD268-540E-6F7F-7741-8EF0D9C535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8CACF104-3827-B4BE-0204-B013F26B79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83F16E-69B8-44E9-8B9A-59DD29BDBF24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427368049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Intestazione sezio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A323E6B4-0171-ABB7-E31B-EC69915F68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testo 2">
            <a:extLst>
              <a:ext uri="{FF2B5EF4-FFF2-40B4-BE49-F238E27FC236}">
                <a16:creationId xmlns:a16="http://schemas.microsoft.com/office/drawing/2014/main" id="{AA2ABC33-DFBC-D678-2B42-0CF6A90D883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D844FD0E-81C8-6D49-7E3A-AA3D80FF95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0EC477-F64E-4BBB-A7A5-FC7FA79168E6}" type="datetimeFigureOut">
              <a:rPr lang="it-IT" smtClean="0"/>
              <a:t>28/05/2023</a:t>
            </a:fld>
            <a:endParaRPr lang="it-IT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3BF7F283-B138-EFD4-D016-8798FDCAB8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06445699-2097-C59A-E97D-9C694C2B9D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83F16E-69B8-44E9-8B9A-59DD29BDBF24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70898574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e contenut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11DA447B-EDDC-B893-9AE7-8D49A3145D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BED40F1B-A44E-7A4A-7C26-4BE5CF4F759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contenuto 3">
            <a:extLst>
              <a:ext uri="{FF2B5EF4-FFF2-40B4-BE49-F238E27FC236}">
                <a16:creationId xmlns:a16="http://schemas.microsoft.com/office/drawing/2014/main" id="{6E6056CF-742C-D7D1-FE91-7A151E2CFAB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5" name="Segnaposto data 4">
            <a:extLst>
              <a:ext uri="{FF2B5EF4-FFF2-40B4-BE49-F238E27FC236}">
                <a16:creationId xmlns:a16="http://schemas.microsoft.com/office/drawing/2014/main" id="{3CB2C4D9-908A-1395-9092-3B157ACDC0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0EC477-F64E-4BBB-A7A5-FC7FA79168E6}" type="datetimeFigureOut">
              <a:rPr lang="it-IT" smtClean="0"/>
              <a:t>28/05/2023</a:t>
            </a:fld>
            <a:endParaRPr lang="it-IT"/>
          </a:p>
        </p:txBody>
      </p:sp>
      <p:sp>
        <p:nvSpPr>
          <p:cNvPr id="6" name="Segnaposto piè di pagina 5">
            <a:extLst>
              <a:ext uri="{FF2B5EF4-FFF2-40B4-BE49-F238E27FC236}">
                <a16:creationId xmlns:a16="http://schemas.microsoft.com/office/drawing/2014/main" id="{60F5F0A5-08EB-697E-D915-345BD55F30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7" name="Segnaposto numero diapositiva 6">
            <a:extLst>
              <a:ext uri="{FF2B5EF4-FFF2-40B4-BE49-F238E27FC236}">
                <a16:creationId xmlns:a16="http://schemas.microsoft.com/office/drawing/2014/main" id="{77521CA5-AA06-BAEA-AFFC-0559741C40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83F16E-69B8-44E9-8B9A-59DD29BDBF24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407226981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nfron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88054F70-6515-ABF4-424F-AEB127AD6B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testo 2">
            <a:extLst>
              <a:ext uri="{FF2B5EF4-FFF2-40B4-BE49-F238E27FC236}">
                <a16:creationId xmlns:a16="http://schemas.microsoft.com/office/drawing/2014/main" id="{0F2D686F-3BF6-4D99-0E2A-4017BEDA77D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4" name="Segnaposto contenuto 3">
            <a:extLst>
              <a:ext uri="{FF2B5EF4-FFF2-40B4-BE49-F238E27FC236}">
                <a16:creationId xmlns:a16="http://schemas.microsoft.com/office/drawing/2014/main" id="{B45180C1-6146-F9BB-BD81-EFC147ADEBF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5" name="Segnaposto testo 4">
            <a:extLst>
              <a:ext uri="{FF2B5EF4-FFF2-40B4-BE49-F238E27FC236}">
                <a16:creationId xmlns:a16="http://schemas.microsoft.com/office/drawing/2014/main" id="{929FA411-B150-A15E-9BB1-64468B66EF9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6" name="Segnaposto contenuto 5">
            <a:extLst>
              <a:ext uri="{FF2B5EF4-FFF2-40B4-BE49-F238E27FC236}">
                <a16:creationId xmlns:a16="http://schemas.microsoft.com/office/drawing/2014/main" id="{A8035A64-7DDD-C5B5-1FD4-33CE3C5649F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7" name="Segnaposto data 6">
            <a:extLst>
              <a:ext uri="{FF2B5EF4-FFF2-40B4-BE49-F238E27FC236}">
                <a16:creationId xmlns:a16="http://schemas.microsoft.com/office/drawing/2014/main" id="{8579C7BF-01E3-7E6F-522F-E124ECA726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0EC477-F64E-4BBB-A7A5-FC7FA79168E6}" type="datetimeFigureOut">
              <a:rPr lang="it-IT" smtClean="0"/>
              <a:t>28/05/2023</a:t>
            </a:fld>
            <a:endParaRPr lang="it-IT"/>
          </a:p>
        </p:txBody>
      </p:sp>
      <p:sp>
        <p:nvSpPr>
          <p:cNvPr id="8" name="Segnaposto piè di pagina 7">
            <a:extLst>
              <a:ext uri="{FF2B5EF4-FFF2-40B4-BE49-F238E27FC236}">
                <a16:creationId xmlns:a16="http://schemas.microsoft.com/office/drawing/2014/main" id="{D10CE556-7F07-6F3F-E2A1-A9A02C588B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9" name="Segnaposto numero diapositiva 8">
            <a:extLst>
              <a:ext uri="{FF2B5EF4-FFF2-40B4-BE49-F238E27FC236}">
                <a16:creationId xmlns:a16="http://schemas.microsoft.com/office/drawing/2014/main" id="{5CB8B50A-42C3-DBCA-5F28-29E48985E6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83F16E-69B8-44E9-8B9A-59DD29BDBF24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97571922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3ECE8D20-DBC6-4E72-632C-915BBC7F0E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data 2">
            <a:extLst>
              <a:ext uri="{FF2B5EF4-FFF2-40B4-BE49-F238E27FC236}">
                <a16:creationId xmlns:a16="http://schemas.microsoft.com/office/drawing/2014/main" id="{73517819-8CE0-A617-40FD-27871E4134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0EC477-F64E-4BBB-A7A5-FC7FA79168E6}" type="datetimeFigureOut">
              <a:rPr lang="it-IT" smtClean="0"/>
              <a:t>28/05/2023</a:t>
            </a:fld>
            <a:endParaRPr lang="it-IT"/>
          </a:p>
        </p:txBody>
      </p:sp>
      <p:sp>
        <p:nvSpPr>
          <p:cNvPr id="4" name="Segnaposto piè di pagina 3">
            <a:extLst>
              <a:ext uri="{FF2B5EF4-FFF2-40B4-BE49-F238E27FC236}">
                <a16:creationId xmlns:a16="http://schemas.microsoft.com/office/drawing/2014/main" id="{0FAE7E33-5F33-8395-829B-A1FBAF401F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5" name="Segnaposto numero diapositiva 4">
            <a:extLst>
              <a:ext uri="{FF2B5EF4-FFF2-40B4-BE49-F238E27FC236}">
                <a16:creationId xmlns:a16="http://schemas.microsoft.com/office/drawing/2014/main" id="{48747880-2D74-A670-FEA8-FE764291A6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83F16E-69B8-44E9-8B9A-59DD29BDBF24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4723992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uot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data 1">
            <a:extLst>
              <a:ext uri="{FF2B5EF4-FFF2-40B4-BE49-F238E27FC236}">
                <a16:creationId xmlns:a16="http://schemas.microsoft.com/office/drawing/2014/main" id="{20EC860D-CBFA-EEA0-005E-F2439343AF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0EC477-F64E-4BBB-A7A5-FC7FA79168E6}" type="datetimeFigureOut">
              <a:rPr lang="it-IT" smtClean="0"/>
              <a:t>28/05/2023</a:t>
            </a:fld>
            <a:endParaRPr lang="it-IT"/>
          </a:p>
        </p:txBody>
      </p:sp>
      <p:sp>
        <p:nvSpPr>
          <p:cNvPr id="3" name="Segnaposto piè di pagina 2">
            <a:extLst>
              <a:ext uri="{FF2B5EF4-FFF2-40B4-BE49-F238E27FC236}">
                <a16:creationId xmlns:a16="http://schemas.microsoft.com/office/drawing/2014/main" id="{AAF71264-98D8-9E2A-0D0F-6E74483E24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7678E935-A9D3-0D5A-081B-BEBF723AE1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83F16E-69B8-44E9-8B9A-59DD29BDBF24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05049650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to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62924892-098B-FB06-98E1-EE64D6A9F5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C6256367-C6B9-5BF0-6F8E-9DB795B4794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testo 3">
            <a:extLst>
              <a:ext uri="{FF2B5EF4-FFF2-40B4-BE49-F238E27FC236}">
                <a16:creationId xmlns:a16="http://schemas.microsoft.com/office/drawing/2014/main" id="{61C737F1-714F-CB38-D32C-A4A69E6E6F7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5" name="Segnaposto data 4">
            <a:extLst>
              <a:ext uri="{FF2B5EF4-FFF2-40B4-BE49-F238E27FC236}">
                <a16:creationId xmlns:a16="http://schemas.microsoft.com/office/drawing/2014/main" id="{0FC94FC6-7133-EF3E-07D7-CC51A8DF9E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0EC477-F64E-4BBB-A7A5-FC7FA79168E6}" type="datetimeFigureOut">
              <a:rPr lang="it-IT" smtClean="0"/>
              <a:t>28/05/2023</a:t>
            </a:fld>
            <a:endParaRPr lang="it-IT"/>
          </a:p>
        </p:txBody>
      </p:sp>
      <p:sp>
        <p:nvSpPr>
          <p:cNvPr id="6" name="Segnaposto piè di pagina 5">
            <a:extLst>
              <a:ext uri="{FF2B5EF4-FFF2-40B4-BE49-F238E27FC236}">
                <a16:creationId xmlns:a16="http://schemas.microsoft.com/office/drawing/2014/main" id="{1CD008D7-AB4A-3B87-F811-4ADC4F10E3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7" name="Segnaposto numero diapositiva 6">
            <a:extLst>
              <a:ext uri="{FF2B5EF4-FFF2-40B4-BE49-F238E27FC236}">
                <a16:creationId xmlns:a16="http://schemas.microsoft.com/office/drawing/2014/main" id="{1D6D382B-E360-F0A5-D3CB-EC53E10F08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83F16E-69B8-44E9-8B9A-59DD29BDBF24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18112909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magine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C79D37CE-8B49-1B62-D807-136A47169B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immagine 2">
            <a:extLst>
              <a:ext uri="{FF2B5EF4-FFF2-40B4-BE49-F238E27FC236}">
                <a16:creationId xmlns:a16="http://schemas.microsoft.com/office/drawing/2014/main" id="{B040A7BE-88DB-7917-52F3-A2B34105E95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it-IT"/>
          </a:p>
        </p:txBody>
      </p:sp>
      <p:sp>
        <p:nvSpPr>
          <p:cNvPr id="4" name="Segnaposto testo 3">
            <a:extLst>
              <a:ext uri="{FF2B5EF4-FFF2-40B4-BE49-F238E27FC236}">
                <a16:creationId xmlns:a16="http://schemas.microsoft.com/office/drawing/2014/main" id="{1C3D2284-14E6-E371-353D-58213CA658C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5" name="Segnaposto data 4">
            <a:extLst>
              <a:ext uri="{FF2B5EF4-FFF2-40B4-BE49-F238E27FC236}">
                <a16:creationId xmlns:a16="http://schemas.microsoft.com/office/drawing/2014/main" id="{80F1D3F3-B91C-DD51-85B2-11173C482F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0EC477-F64E-4BBB-A7A5-FC7FA79168E6}" type="datetimeFigureOut">
              <a:rPr lang="it-IT" smtClean="0"/>
              <a:t>28/05/2023</a:t>
            </a:fld>
            <a:endParaRPr lang="it-IT"/>
          </a:p>
        </p:txBody>
      </p:sp>
      <p:sp>
        <p:nvSpPr>
          <p:cNvPr id="6" name="Segnaposto piè di pagina 5">
            <a:extLst>
              <a:ext uri="{FF2B5EF4-FFF2-40B4-BE49-F238E27FC236}">
                <a16:creationId xmlns:a16="http://schemas.microsoft.com/office/drawing/2014/main" id="{3D355CA2-AFC4-8391-32E2-3CF3F575AB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7" name="Segnaposto numero diapositiva 6">
            <a:extLst>
              <a:ext uri="{FF2B5EF4-FFF2-40B4-BE49-F238E27FC236}">
                <a16:creationId xmlns:a16="http://schemas.microsoft.com/office/drawing/2014/main" id="{C047D7C1-768E-9881-DAD8-31653CD40F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83F16E-69B8-44E9-8B9A-59DD29BDBF24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24729919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olo e testo vertica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3AEE7925-CA0E-DE6E-7D83-6652425E3E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testo verticale 2">
            <a:extLst>
              <a:ext uri="{FF2B5EF4-FFF2-40B4-BE49-F238E27FC236}">
                <a16:creationId xmlns:a16="http://schemas.microsoft.com/office/drawing/2014/main" id="{EE2E7989-6E1C-AA3E-4A70-E4C1523DDE1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3FB71DE7-4EF4-C3F3-BD39-901DA4C094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0EC477-F64E-4BBB-A7A5-FC7FA79168E6}" type="datetimeFigureOut">
              <a:rPr lang="it-IT" smtClean="0"/>
              <a:t>28/05/2023</a:t>
            </a:fld>
            <a:endParaRPr lang="it-IT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B0E4A293-3B79-448B-26CD-3D268C096B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3F453873-E8A7-3E15-D5C8-67518C80A3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83F16E-69B8-44E9-8B9A-59DD29BDBF24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07178888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1_Titolo e testo vertica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verticale 1">
            <a:extLst>
              <a:ext uri="{FF2B5EF4-FFF2-40B4-BE49-F238E27FC236}">
                <a16:creationId xmlns:a16="http://schemas.microsoft.com/office/drawing/2014/main" id="{1072CFE9-A584-05E4-FEF3-A09C6235E1D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testo verticale 2">
            <a:extLst>
              <a:ext uri="{FF2B5EF4-FFF2-40B4-BE49-F238E27FC236}">
                <a16:creationId xmlns:a16="http://schemas.microsoft.com/office/drawing/2014/main" id="{487FC8F6-11E4-37DF-4C9A-07581F23452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03399EA8-3DE7-62AA-1D1A-4F9E38924B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0EC477-F64E-4BBB-A7A5-FC7FA79168E6}" type="datetimeFigureOut">
              <a:rPr lang="it-IT" smtClean="0"/>
              <a:t>28/05/2023</a:t>
            </a:fld>
            <a:endParaRPr lang="it-IT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CD705EA6-2714-9AE5-D90D-B9B86319A9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6DD28A64-05E3-0526-3CED-2B398DD84C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83F16E-69B8-44E9-8B9A-59DD29BDBF24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79833712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titolo 1">
            <a:extLst>
              <a:ext uri="{FF2B5EF4-FFF2-40B4-BE49-F238E27FC236}">
                <a16:creationId xmlns:a16="http://schemas.microsoft.com/office/drawing/2014/main" id="{5D6E6B35-C19E-1343-5754-7504B33369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testo 2">
            <a:extLst>
              <a:ext uri="{FF2B5EF4-FFF2-40B4-BE49-F238E27FC236}">
                <a16:creationId xmlns:a16="http://schemas.microsoft.com/office/drawing/2014/main" id="{E6263C56-6A83-B6E5-84E5-F610E1889C3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B19BBA47-A102-83DC-E738-D35EFDD7A50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F0EC477-F64E-4BBB-A7A5-FC7FA79168E6}" type="datetimeFigureOut">
              <a:rPr lang="it-IT" smtClean="0"/>
              <a:t>28/05/2023</a:t>
            </a:fld>
            <a:endParaRPr lang="it-IT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152B0525-78D4-505C-10A9-2C99DA70E7B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it-IT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9191B97E-60D3-7B10-3BAF-212AE8BF879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D83F16E-69B8-44E9-8B9A-59DD29BDBF24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16214332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it-IT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.png"/><Relationship Id="rId4" Type="http://schemas.openxmlformats.org/officeDocument/2006/relationships/image" Target="../media/image4.jp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9.jpeg"/><Relationship Id="rId5" Type="http://schemas.openxmlformats.org/officeDocument/2006/relationships/image" Target="../media/image8.jpeg"/><Relationship Id="rId4" Type="http://schemas.openxmlformats.org/officeDocument/2006/relationships/image" Target="../media/image7.jpe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e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5.jpeg"/><Relationship Id="rId5" Type="http://schemas.openxmlformats.org/officeDocument/2006/relationships/image" Target="../media/image14.jpg"/><Relationship Id="rId4" Type="http://schemas.openxmlformats.org/officeDocument/2006/relationships/image" Target="../media/image13.jp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jp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9.jpg"/><Relationship Id="rId5" Type="http://schemas.openxmlformats.org/officeDocument/2006/relationships/image" Target="../media/image18.jpg"/><Relationship Id="rId4" Type="http://schemas.openxmlformats.org/officeDocument/2006/relationships/image" Target="../media/image17.jp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jpe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1.jpe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jpeg"/><Relationship Id="rId7" Type="http://schemas.openxmlformats.org/officeDocument/2006/relationships/image" Target="../media/image26.jp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5.jpg"/><Relationship Id="rId5" Type="http://schemas.openxmlformats.org/officeDocument/2006/relationships/image" Target="../media/image24.jpg"/><Relationship Id="rId4" Type="http://schemas.openxmlformats.org/officeDocument/2006/relationships/image" Target="../media/image23.jp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jp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jp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9.jp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jp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3.jpg"/><Relationship Id="rId5" Type="http://schemas.openxmlformats.org/officeDocument/2006/relationships/image" Target="../media/image32.jpeg"/><Relationship Id="rId4" Type="http://schemas.openxmlformats.org/officeDocument/2006/relationships/image" Target="../media/image31.jp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jp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6.jpg"/><Relationship Id="rId4" Type="http://schemas.openxmlformats.org/officeDocument/2006/relationships/image" Target="../media/image35.jp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jp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0.jpg"/><Relationship Id="rId5" Type="http://schemas.openxmlformats.org/officeDocument/2006/relationships/image" Target="../media/image39.jpg"/><Relationship Id="rId4" Type="http://schemas.openxmlformats.org/officeDocument/2006/relationships/image" Target="../media/image38.jp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jp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3.jpeg"/><Relationship Id="rId4" Type="http://schemas.openxmlformats.org/officeDocument/2006/relationships/image" Target="../media/image42.jp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jp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6.jpg"/><Relationship Id="rId4" Type="http://schemas.openxmlformats.org/officeDocument/2006/relationships/image" Target="../media/image45.jpg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7.jpe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9.jpg"/><Relationship Id="rId4" Type="http://schemas.openxmlformats.org/officeDocument/2006/relationships/image" Target="../media/image48.jp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0.jp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1.jp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3.jpg"/><Relationship Id="rId4" Type="http://schemas.openxmlformats.org/officeDocument/2006/relationships/image" Target="../media/image52.jpg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olo 3">
            <a:extLst>
              <a:ext uri="{FF2B5EF4-FFF2-40B4-BE49-F238E27FC236}">
                <a16:creationId xmlns:a16="http://schemas.microsoft.com/office/drawing/2014/main" id="{C6E8C581-25A3-E33E-D7DD-A2B2A41FF8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it-IT" dirty="0">
                <a:latin typeface="Britannic Bold" panose="020B0903060703020204" pitchFamily="34" charset="0"/>
              </a:rPr>
              <a:t>UNIVERSITY OF MESSINA</a:t>
            </a:r>
          </a:p>
        </p:txBody>
      </p:sp>
      <p:sp>
        <p:nvSpPr>
          <p:cNvPr id="5" name="Segnaposto contenuto 4">
            <a:extLst>
              <a:ext uri="{FF2B5EF4-FFF2-40B4-BE49-F238E27FC236}">
                <a16:creationId xmlns:a16="http://schemas.microsoft.com/office/drawing/2014/main" id="{A3F7D7EE-8FE9-90F4-02E6-6CD1AF82161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30306" y="1948003"/>
            <a:ext cx="11403106" cy="4291432"/>
          </a:xfrm>
        </p:spPr>
        <p:txBody>
          <a:bodyPr>
            <a:normAutofit fontScale="62500" lnSpcReduction="20000"/>
          </a:bodyPr>
          <a:lstStyle/>
          <a:p>
            <a:pPr marL="0" indent="0" algn="ctr">
              <a:buNone/>
            </a:pPr>
            <a:r>
              <a:rPr lang="it-IT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Department </a:t>
            </a:r>
          </a:p>
          <a:p>
            <a:pPr marL="0" indent="0" algn="ctr">
              <a:buNone/>
            </a:pPr>
            <a:r>
              <a:rPr lang="it-IT" sz="45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Cognitive Science and Theory of </a:t>
            </a:r>
            <a:r>
              <a:rPr lang="it-IT" sz="45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Communication</a:t>
            </a:r>
            <a:r>
              <a:rPr lang="it-IT" sz="45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</a:t>
            </a:r>
            <a:r>
              <a:rPr lang="en-US" sz="4500" b="1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LM-55</a:t>
            </a:r>
          </a:p>
          <a:p>
            <a:pPr marL="0" indent="0" algn="ctr">
              <a:buNone/>
            </a:pPr>
            <a:endParaRPr lang="it-IT" sz="2600" dirty="0"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indent="0" algn="ctr">
              <a:buNone/>
            </a:pPr>
            <a:r>
              <a:rPr lang="it-IT" dirty="0">
                <a:solidFill>
                  <a:srgbClr val="212529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Course Title</a:t>
            </a:r>
          </a:p>
          <a:p>
            <a:pPr marL="0" indent="0" algn="ctr">
              <a:buNone/>
            </a:pPr>
            <a:r>
              <a:rPr lang="en-US" sz="2400" dirty="0">
                <a:solidFill>
                  <a:srgbClr val="212529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r>
              <a:rPr lang="it-IT" sz="2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it-IT" sz="5100" b="1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SOCIAL SEMIOTICS</a:t>
            </a:r>
          </a:p>
          <a:p>
            <a:pPr marL="0" indent="0" algn="ctr">
              <a:buNone/>
            </a:pPr>
            <a:endParaRPr lang="it-IT" sz="3300" b="1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indent="0" algn="ctr">
              <a:lnSpc>
                <a:spcPct val="120000"/>
              </a:lnSpc>
              <a:spcBef>
                <a:spcPts val="0"/>
              </a:spcBef>
              <a:buNone/>
            </a:pPr>
            <a:r>
              <a:rPr lang="it-IT" sz="3800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Teacher</a:t>
            </a:r>
            <a:endParaRPr lang="it-IT" sz="3800" dirty="0"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indent="0" algn="ctr">
              <a:lnSpc>
                <a:spcPct val="120000"/>
              </a:lnSpc>
              <a:spcBef>
                <a:spcPts val="0"/>
              </a:spcBef>
              <a:buNone/>
            </a:pPr>
            <a:r>
              <a:rPr lang="it-IT" sz="3800" i="1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Maria Rita Bartolomei</a:t>
            </a:r>
            <a:endParaRPr lang="it-IT" sz="38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it-IT" dirty="0"/>
          </a:p>
          <a:p>
            <a:pPr marL="0" indent="0">
              <a:buNone/>
            </a:pPr>
            <a:endParaRPr lang="it-IT" dirty="0"/>
          </a:p>
          <a:p>
            <a:pPr marL="0" indent="0">
              <a:buNone/>
            </a:pPr>
            <a:endParaRPr lang="it-IT" dirty="0"/>
          </a:p>
          <a:p>
            <a:pPr marL="0" indent="0">
              <a:buNone/>
            </a:pPr>
            <a:r>
              <a:rPr lang="it-IT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Mail: mabartolomei@unime.it</a:t>
            </a:r>
          </a:p>
        </p:txBody>
      </p:sp>
      <p:pic>
        <p:nvPicPr>
          <p:cNvPr id="6" name="Segnaposto contenuto 4" descr="Immagine che contiene testo, contenitore, scatola&#10;&#10;Descrizione generata automaticamente">
            <a:extLst>
              <a:ext uri="{FF2B5EF4-FFF2-40B4-BE49-F238E27FC236}">
                <a16:creationId xmlns:a16="http://schemas.microsoft.com/office/drawing/2014/main" id="{DDD7C24D-9569-D55D-FAB3-A977C76C589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18508" y="309515"/>
            <a:ext cx="1638487" cy="1638487"/>
          </a:xfrm>
          <a:prstGeom prst="rect">
            <a:avLst/>
          </a:prstGeom>
        </p:spPr>
      </p:pic>
      <p:sp>
        <p:nvSpPr>
          <p:cNvPr id="7" name="Segnaposto piè di pagina 6">
            <a:extLst>
              <a:ext uri="{FF2B5EF4-FFF2-40B4-BE49-F238E27FC236}">
                <a16:creationId xmlns:a16="http://schemas.microsoft.com/office/drawing/2014/main" id="{A636110D-77B9-3AB4-BE50-9B93911F2E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it-IT"/>
              <a:t>Maria Rita Bartolomei</a:t>
            </a:r>
          </a:p>
        </p:txBody>
      </p:sp>
      <p:sp>
        <p:nvSpPr>
          <p:cNvPr id="8" name="Segnaposto numero diapositiva 7">
            <a:extLst>
              <a:ext uri="{FF2B5EF4-FFF2-40B4-BE49-F238E27FC236}">
                <a16:creationId xmlns:a16="http://schemas.microsoft.com/office/drawing/2014/main" id="{CCFFF47F-2082-A8BD-E214-32F787B2A0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43B825-0FCC-4E24-9AB0-B3A36126D33D}" type="slidenum">
              <a:rPr lang="it-IT" smtClean="0"/>
              <a:t>1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96255811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0E6D2019-5D2A-3C01-3023-D9D98C066F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68941"/>
            <a:ext cx="10515600" cy="1169895"/>
          </a:xfrm>
        </p:spPr>
        <p:txBody>
          <a:bodyPr>
            <a:normAutofit/>
          </a:bodyPr>
          <a:lstStyle/>
          <a:p>
            <a:pPr algn="ctr"/>
            <a:r>
              <a:rPr lang="it-IT" sz="6000" dirty="0">
                <a:latin typeface="Britannic Bold" panose="020B0903060703020204" pitchFamily="34" charset="0"/>
              </a:rPr>
              <a:t>SOCIAL SEMIOTICS</a:t>
            </a:r>
            <a:endParaRPr lang="it-IT" sz="6000" dirty="0"/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DA877478-66C9-8E39-D2A6-2171B20C9EF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28916" y="1310185"/>
            <a:ext cx="11250708" cy="5046165"/>
          </a:xfrm>
        </p:spPr>
        <p:txBody>
          <a:bodyPr>
            <a:normAutofit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4000" b="1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Semantics of the human body</a:t>
            </a:r>
          </a:p>
          <a:p>
            <a:pPr marL="0" indent="0"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3200" b="1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The body as a social and cultural fact</a:t>
            </a:r>
          </a:p>
          <a:p>
            <a:pPr marL="0" indent="0"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32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tattoo – piercing – scarification</a:t>
            </a:r>
          </a:p>
        </p:txBody>
      </p:sp>
      <p:pic>
        <p:nvPicPr>
          <p:cNvPr id="4" name="Immagine 3">
            <a:extLst>
              <a:ext uri="{FF2B5EF4-FFF2-40B4-BE49-F238E27FC236}">
                <a16:creationId xmlns:a16="http://schemas.microsoft.com/office/drawing/2014/main" id="{783899FF-5AF2-9A9C-EAE3-B82DF57B046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68274" y="174392"/>
            <a:ext cx="1707028" cy="1707028"/>
          </a:xfrm>
          <a:prstGeom prst="rect">
            <a:avLst/>
          </a:prstGeom>
        </p:spPr>
      </p:pic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2715C938-DBC3-69B9-5545-A79E3CA758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it-IT" sz="1600" dirty="0">
                <a:solidFill>
                  <a:srgbClr val="0070C0"/>
                </a:solidFill>
              </a:rPr>
              <a:t>Maria Rita Bartolomei</a:t>
            </a:r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1E21FD0C-FF50-2C97-0C92-153B746314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43B825-0FCC-4E24-9AB0-B3A36126D33D}" type="slidenum">
              <a:rPr lang="it-IT" smtClean="0"/>
              <a:t>2</a:t>
            </a:fld>
            <a:endParaRPr lang="it-IT"/>
          </a:p>
        </p:txBody>
      </p:sp>
      <p:pic>
        <p:nvPicPr>
          <p:cNvPr id="8" name="Immagine 7">
            <a:extLst>
              <a:ext uri="{FF2B5EF4-FFF2-40B4-BE49-F238E27FC236}">
                <a16:creationId xmlns:a16="http://schemas.microsoft.com/office/drawing/2014/main" id="{51F5E8D6-6B2A-CC8E-9F7D-2A2BDE97FEA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2376" y="3078679"/>
            <a:ext cx="3289718" cy="3689649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10" name="Immagine 9">
            <a:extLst>
              <a:ext uri="{FF2B5EF4-FFF2-40B4-BE49-F238E27FC236}">
                <a16:creationId xmlns:a16="http://schemas.microsoft.com/office/drawing/2014/main" id="{C8585068-2DEA-C3B0-F074-8DF069FD0B84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198" r="7189"/>
          <a:stretch/>
        </p:blipFill>
        <p:spPr>
          <a:xfrm>
            <a:off x="4233686" y="3024686"/>
            <a:ext cx="3289718" cy="3696787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11" name="Immagine 10">
            <a:extLst>
              <a:ext uri="{FF2B5EF4-FFF2-40B4-BE49-F238E27FC236}">
                <a16:creationId xmlns:a16="http://schemas.microsoft.com/office/drawing/2014/main" id="{C7249294-9F34-746F-CB9B-069A94A865E6}"/>
              </a:ext>
            </a:extLst>
          </p:cNvPr>
          <p:cNvPicPr>
            <a:picLocks noChangeAspect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805" r="40143"/>
          <a:stretch/>
        </p:blipFill>
        <p:spPr>
          <a:xfrm>
            <a:off x="8054997" y="3099178"/>
            <a:ext cx="3626553" cy="3547805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36383599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0E6D2019-5D2A-3C01-3023-D9D98C066F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68941"/>
            <a:ext cx="10515600" cy="1169895"/>
          </a:xfrm>
        </p:spPr>
        <p:txBody>
          <a:bodyPr>
            <a:normAutofit/>
          </a:bodyPr>
          <a:lstStyle/>
          <a:p>
            <a:pPr algn="ctr"/>
            <a:r>
              <a:rPr lang="it-IT" sz="6000" dirty="0">
                <a:latin typeface="Britannic Bold" panose="020B0903060703020204" pitchFamily="34" charset="0"/>
              </a:rPr>
              <a:t>SOCIAL SEMIOTICS</a:t>
            </a:r>
            <a:endParaRPr lang="it-IT" sz="6000" dirty="0"/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DA877478-66C9-8E39-D2A6-2171B20C9EF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82388" y="1761565"/>
            <a:ext cx="11781464" cy="4594785"/>
          </a:xfrm>
        </p:spPr>
        <p:txBody>
          <a:bodyPr>
            <a:normAutofit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4000" b="1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Semantics of the human body</a:t>
            </a:r>
          </a:p>
          <a:p>
            <a:pPr marL="0" indent="0" algn="ctr">
              <a:lnSpc>
                <a:spcPct val="100000"/>
              </a:lnSpc>
              <a:spcBef>
                <a:spcPts val="0"/>
              </a:spcBef>
              <a:buNone/>
            </a:pPr>
            <a:endParaRPr lang="en-US" sz="2000" b="1" dirty="0"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40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Tattoo: artificial and permanent alteration of skin tissue</a:t>
            </a:r>
          </a:p>
        </p:txBody>
      </p:sp>
      <p:pic>
        <p:nvPicPr>
          <p:cNvPr id="4" name="Immagine 3">
            <a:extLst>
              <a:ext uri="{FF2B5EF4-FFF2-40B4-BE49-F238E27FC236}">
                <a16:creationId xmlns:a16="http://schemas.microsoft.com/office/drawing/2014/main" id="{783899FF-5AF2-9A9C-EAE3-B82DF57B046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68274" y="174392"/>
            <a:ext cx="1707028" cy="1707028"/>
          </a:xfrm>
          <a:prstGeom prst="rect">
            <a:avLst/>
          </a:prstGeom>
        </p:spPr>
      </p:pic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2715C938-DBC3-69B9-5545-A79E3CA758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it-IT" sz="1600" dirty="0">
                <a:solidFill>
                  <a:srgbClr val="0070C0"/>
                </a:solidFill>
              </a:rPr>
              <a:t>Maria Rita Bartolomei</a:t>
            </a:r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1E21FD0C-FF50-2C97-0C92-153B746314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43B825-0FCC-4E24-9AB0-B3A36126D33D}" type="slidenum">
              <a:rPr lang="it-IT" smtClean="0"/>
              <a:t>3</a:t>
            </a:fld>
            <a:endParaRPr lang="it-IT"/>
          </a:p>
        </p:txBody>
      </p:sp>
      <p:pic>
        <p:nvPicPr>
          <p:cNvPr id="1028" name="Picture 4">
            <a:extLst>
              <a:ext uri="{FF2B5EF4-FFF2-40B4-BE49-F238E27FC236}">
                <a16:creationId xmlns:a16="http://schemas.microsoft.com/office/drawing/2014/main" id="{20DEFE33-F530-DDBE-AD20-7B4B001FB0ED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2328"/>
          <a:stretch/>
        </p:blipFill>
        <p:spPr bwMode="auto">
          <a:xfrm>
            <a:off x="124016" y="3535233"/>
            <a:ext cx="2958017" cy="22906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0" name="Picture 6">
            <a:extLst>
              <a:ext uri="{FF2B5EF4-FFF2-40B4-BE49-F238E27FC236}">
                <a16:creationId xmlns:a16="http://schemas.microsoft.com/office/drawing/2014/main" id="{37102F4A-3BF4-8739-BD55-570EA20EA98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36262" y="3919817"/>
            <a:ext cx="3281848" cy="275926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2" name="Picture 8">
            <a:extLst>
              <a:ext uri="{FF2B5EF4-FFF2-40B4-BE49-F238E27FC236}">
                <a16:creationId xmlns:a16="http://schemas.microsoft.com/office/drawing/2014/main" id="{26B07C14-7400-A9AD-9458-5F56A65429A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738853" y="3919817"/>
            <a:ext cx="2216887" cy="190601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" name="Picture 2">
            <a:extLst>
              <a:ext uri="{FF2B5EF4-FFF2-40B4-BE49-F238E27FC236}">
                <a16:creationId xmlns:a16="http://schemas.microsoft.com/office/drawing/2014/main" id="{5E9270E1-48AC-21A1-E41F-498950B1CF2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109968" y="3429000"/>
            <a:ext cx="2931372" cy="342561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52249010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0E6D2019-5D2A-3C01-3023-D9D98C066F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68941"/>
            <a:ext cx="10515600" cy="899319"/>
          </a:xfrm>
        </p:spPr>
        <p:txBody>
          <a:bodyPr>
            <a:normAutofit fontScale="90000"/>
          </a:bodyPr>
          <a:lstStyle/>
          <a:p>
            <a:pPr algn="ctr"/>
            <a:r>
              <a:rPr lang="it-IT" sz="6000" dirty="0">
                <a:latin typeface="Britannic Bold" panose="020B0903060703020204" pitchFamily="34" charset="0"/>
              </a:rPr>
              <a:t>SOCIAL SEMIOTICS</a:t>
            </a:r>
            <a:endParaRPr lang="it-IT" sz="6000" dirty="0"/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DA877478-66C9-8E39-D2A6-2171B20C9EF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28916" y="1533385"/>
            <a:ext cx="11250708" cy="4822965"/>
          </a:xfrm>
        </p:spPr>
        <p:txBody>
          <a:bodyPr>
            <a:normAutofit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4000" b="1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Semantics of the human body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b="1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Tattoo</a:t>
            </a:r>
          </a:p>
          <a:p>
            <a:pPr>
              <a:lnSpc>
                <a:spcPct val="100000"/>
              </a:lnSpc>
              <a:spcBef>
                <a:spcPts val="0"/>
              </a:spcBef>
              <a:buFont typeface="Wingdings" panose="05000000000000000000" pitchFamily="2" charset="2"/>
              <a:buChar char="Ø"/>
            </a:pPr>
            <a:r>
              <a:rPr lang="en-US" sz="36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the marks are imprinted on the skin by puncture</a:t>
            </a:r>
          </a:p>
          <a:p>
            <a:pPr>
              <a:lnSpc>
                <a:spcPct val="100000"/>
              </a:lnSpc>
              <a:spcBef>
                <a:spcPts val="0"/>
              </a:spcBef>
              <a:buFont typeface="Wingdings" panose="05000000000000000000" pitchFamily="2" charset="2"/>
              <a:buChar char="Ø"/>
            </a:pPr>
            <a:endParaRPr lang="en-US" sz="800" dirty="0"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0000"/>
              </a:lnSpc>
              <a:spcBef>
                <a:spcPts val="0"/>
              </a:spcBef>
              <a:buFont typeface="Wingdings" panose="05000000000000000000" pitchFamily="2" charset="2"/>
              <a:buChar char="Ø"/>
            </a:pPr>
            <a:r>
              <a:rPr lang="en-US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carefully distributed pigments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   are introduced into the dermis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endParaRPr lang="en-US" sz="800" dirty="0"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0000"/>
              </a:lnSpc>
              <a:spcBef>
                <a:spcPts val="0"/>
              </a:spcBef>
              <a:buFont typeface="Wingdings" panose="05000000000000000000" pitchFamily="2" charset="2"/>
              <a:buChar char="Ø"/>
            </a:pPr>
            <a:r>
              <a:rPr lang="en-US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along the lines of a drawing</a:t>
            </a:r>
          </a:p>
          <a:p>
            <a:pPr>
              <a:lnSpc>
                <a:spcPct val="100000"/>
              </a:lnSpc>
              <a:spcBef>
                <a:spcPts val="0"/>
              </a:spcBef>
              <a:buFont typeface="Wingdings" panose="05000000000000000000" pitchFamily="2" charset="2"/>
              <a:buChar char="Ø"/>
            </a:pPr>
            <a:endParaRPr lang="en-US" sz="800" dirty="0"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0000"/>
              </a:lnSpc>
              <a:spcBef>
                <a:spcPts val="0"/>
              </a:spcBef>
              <a:buFont typeface="Wingdings" panose="05000000000000000000" pitchFamily="2" charset="2"/>
              <a:buChar char="Ø"/>
            </a:pPr>
            <a:r>
              <a:rPr lang="en-US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when wounds heal 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   the pigments give shape 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   to the final image</a:t>
            </a:r>
          </a:p>
        </p:txBody>
      </p:sp>
      <p:pic>
        <p:nvPicPr>
          <p:cNvPr id="4" name="Immagine 3">
            <a:extLst>
              <a:ext uri="{FF2B5EF4-FFF2-40B4-BE49-F238E27FC236}">
                <a16:creationId xmlns:a16="http://schemas.microsoft.com/office/drawing/2014/main" id="{783899FF-5AF2-9A9C-EAE3-B82DF57B046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68274" y="174392"/>
            <a:ext cx="1707028" cy="1707028"/>
          </a:xfrm>
          <a:prstGeom prst="rect">
            <a:avLst/>
          </a:prstGeom>
        </p:spPr>
      </p:pic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2715C938-DBC3-69B9-5545-A79E3CA758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it-IT" sz="1600" dirty="0">
                <a:solidFill>
                  <a:srgbClr val="0070C0"/>
                </a:solidFill>
              </a:rPr>
              <a:t>Maria Rita Bartolomei</a:t>
            </a:r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1E21FD0C-FF50-2C97-0C92-153B746314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43B825-0FCC-4E24-9AB0-B3A36126D33D}" type="slidenum">
              <a:rPr lang="it-IT" smtClean="0"/>
              <a:t>4</a:t>
            </a:fld>
            <a:endParaRPr lang="it-IT"/>
          </a:p>
        </p:txBody>
      </p:sp>
      <p:pic>
        <p:nvPicPr>
          <p:cNvPr id="8" name="Immagine 7">
            <a:extLst>
              <a:ext uri="{FF2B5EF4-FFF2-40B4-BE49-F238E27FC236}">
                <a16:creationId xmlns:a16="http://schemas.microsoft.com/office/drawing/2014/main" id="{6B670E1A-15C5-D9E5-676C-7193B2D7E20A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10757"/>
          <a:stretch/>
        </p:blipFill>
        <p:spPr>
          <a:xfrm>
            <a:off x="6935894" y="3429000"/>
            <a:ext cx="5072330" cy="3194092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362209389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0E6D2019-5D2A-3C01-3023-D9D98C066F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68941"/>
            <a:ext cx="10515600" cy="1169895"/>
          </a:xfrm>
        </p:spPr>
        <p:txBody>
          <a:bodyPr>
            <a:normAutofit/>
          </a:bodyPr>
          <a:lstStyle/>
          <a:p>
            <a:pPr algn="ctr"/>
            <a:r>
              <a:rPr lang="it-IT" sz="6000" dirty="0">
                <a:latin typeface="Britannic Bold" panose="020B0903060703020204" pitchFamily="34" charset="0"/>
              </a:rPr>
              <a:t>SOCIAL SEMIOTICS</a:t>
            </a:r>
            <a:endParaRPr lang="it-IT" sz="6000" dirty="0"/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DA877478-66C9-8E39-D2A6-2171B20C9EF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28916" y="1637731"/>
            <a:ext cx="11250708" cy="4718619"/>
          </a:xfrm>
        </p:spPr>
        <p:txBody>
          <a:bodyPr>
            <a:normAutofit fontScale="77500" lnSpcReduction="20000"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4000" b="1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Semantics of the human body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40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Tattoo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endParaRPr lang="en-US" sz="900" dirty="0"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0000"/>
              </a:lnSpc>
              <a:spcBef>
                <a:spcPts val="0"/>
              </a:spcBef>
              <a:buFont typeface="Wingdings" panose="05000000000000000000" pitchFamily="2" charset="2"/>
              <a:buChar char="Ø"/>
            </a:pPr>
            <a:r>
              <a:rPr lang="en-US" sz="40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is a term that derives from the Tahitian onomatopoeic word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40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  “ta-tau”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endParaRPr lang="en-US" sz="1200" dirty="0"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0000"/>
              </a:lnSpc>
              <a:spcBef>
                <a:spcPts val="0"/>
              </a:spcBef>
              <a:buFont typeface="Wingdings" panose="05000000000000000000" pitchFamily="2" charset="2"/>
              <a:buChar char="Ø"/>
            </a:pPr>
            <a:r>
              <a:rPr lang="en-US" sz="40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it reproduces the sound of tapping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40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   the stick on the needle to pierce 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40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   the skin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endParaRPr lang="en-US" sz="1200" dirty="0"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0000"/>
              </a:lnSpc>
              <a:spcBef>
                <a:spcPts val="0"/>
              </a:spcBef>
              <a:buFont typeface="Wingdings" panose="05000000000000000000" pitchFamily="2" charset="2"/>
              <a:buChar char="Ø"/>
            </a:pPr>
            <a:r>
              <a:rPr lang="en-US" sz="40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it means "to hit", "to mark"; i.e.,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40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   “marking the body with signs”</a:t>
            </a:r>
          </a:p>
          <a:p>
            <a:pPr>
              <a:lnSpc>
                <a:spcPct val="100000"/>
              </a:lnSpc>
              <a:spcBef>
                <a:spcPts val="0"/>
              </a:spcBef>
              <a:buFont typeface="Wingdings" panose="05000000000000000000" pitchFamily="2" charset="2"/>
              <a:buChar char="Ø"/>
            </a:pPr>
            <a:endParaRPr lang="en-US" sz="1200" dirty="0"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0000"/>
              </a:lnSpc>
              <a:spcBef>
                <a:spcPts val="0"/>
              </a:spcBef>
              <a:buFont typeface="Wingdings" panose="05000000000000000000" pitchFamily="2" charset="2"/>
              <a:buChar char="Ø"/>
            </a:pPr>
            <a:r>
              <a:rPr lang="en-US" sz="40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James Cook transcribed it as </a:t>
            </a:r>
            <a:r>
              <a:rPr lang="en-US" sz="4000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tattow</a:t>
            </a:r>
            <a:r>
              <a:rPr lang="en-US" sz="40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40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   later became tattoo</a:t>
            </a:r>
          </a:p>
          <a:p>
            <a:pPr>
              <a:lnSpc>
                <a:spcPct val="100000"/>
              </a:lnSpc>
              <a:spcBef>
                <a:spcPts val="0"/>
              </a:spcBef>
              <a:buFont typeface="Wingdings" panose="05000000000000000000" pitchFamily="2" charset="2"/>
              <a:buChar char="Ø"/>
            </a:pPr>
            <a:endParaRPr lang="en-US" sz="4000" dirty="0"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pic>
        <p:nvPicPr>
          <p:cNvPr id="4" name="Immagine 3">
            <a:extLst>
              <a:ext uri="{FF2B5EF4-FFF2-40B4-BE49-F238E27FC236}">
                <a16:creationId xmlns:a16="http://schemas.microsoft.com/office/drawing/2014/main" id="{783899FF-5AF2-9A9C-EAE3-B82DF57B046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68274" y="174392"/>
            <a:ext cx="1707028" cy="1707028"/>
          </a:xfrm>
          <a:prstGeom prst="rect">
            <a:avLst/>
          </a:prstGeom>
        </p:spPr>
      </p:pic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2715C938-DBC3-69B9-5545-A79E3CA758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it-IT" sz="1600" dirty="0">
                <a:solidFill>
                  <a:srgbClr val="0070C0"/>
                </a:solidFill>
              </a:rPr>
              <a:t>Maria Rita Bartolomei</a:t>
            </a:r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1E21FD0C-FF50-2C97-0C92-153B746314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43B825-0FCC-4E24-9AB0-B3A36126D33D}" type="slidenum">
              <a:rPr lang="it-IT" smtClean="0"/>
              <a:t>5</a:t>
            </a:fld>
            <a:endParaRPr lang="it-IT"/>
          </a:p>
        </p:txBody>
      </p:sp>
      <p:pic>
        <p:nvPicPr>
          <p:cNvPr id="8" name="Immagine 7" descr="haka 1.jpg">
            <a:extLst>
              <a:ext uri="{FF2B5EF4-FFF2-40B4-BE49-F238E27FC236}">
                <a16:creationId xmlns:a16="http://schemas.microsoft.com/office/drawing/2014/main" id="{419E71BC-A48F-07D0-80C9-8112B6EB4F2F}"/>
              </a:ext>
            </a:extLst>
          </p:cNvPr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7205705" y="2945404"/>
            <a:ext cx="4802519" cy="3776071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192737482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0E6D2019-5D2A-3C01-3023-D9D98C066F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68941"/>
            <a:ext cx="10515600" cy="852889"/>
          </a:xfrm>
        </p:spPr>
        <p:txBody>
          <a:bodyPr>
            <a:normAutofit fontScale="90000"/>
          </a:bodyPr>
          <a:lstStyle/>
          <a:p>
            <a:pPr algn="ctr"/>
            <a:r>
              <a:rPr lang="it-IT" sz="6000" dirty="0">
                <a:latin typeface="Britannic Bold" panose="020B0903060703020204" pitchFamily="34" charset="0"/>
              </a:rPr>
              <a:t>SOCIAL SEMIOTICS</a:t>
            </a:r>
            <a:endParaRPr lang="it-IT" sz="6000" dirty="0"/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DA877478-66C9-8E39-D2A6-2171B20C9EF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28916" y="1623479"/>
            <a:ext cx="11250708" cy="4732872"/>
          </a:xfrm>
        </p:spPr>
        <p:txBody>
          <a:bodyPr>
            <a:normAutofit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4000" b="1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Semantics of the human body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32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Tattoo is a visible sign whose dimensions can vary 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32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from very small to covering the entire body</a:t>
            </a:r>
          </a:p>
        </p:txBody>
      </p:sp>
      <p:pic>
        <p:nvPicPr>
          <p:cNvPr id="4" name="Immagine 3">
            <a:extLst>
              <a:ext uri="{FF2B5EF4-FFF2-40B4-BE49-F238E27FC236}">
                <a16:creationId xmlns:a16="http://schemas.microsoft.com/office/drawing/2014/main" id="{783899FF-5AF2-9A9C-EAE3-B82DF57B046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68274" y="174392"/>
            <a:ext cx="1707028" cy="1707028"/>
          </a:xfrm>
          <a:prstGeom prst="rect">
            <a:avLst/>
          </a:prstGeom>
        </p:spPr>
      </p:pic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2715C938-DBC3-69B9-5545-A79E3CA758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it-IT" sz="1600" dirty="0">
                <a:solidFill>
                  <a:srgbClr val="0070C0"/>
                </a:solidFill>
              </a:rPr>
              <a:t>Maria Rita Bartolomei</a:t>
            </a:r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1E21FD0C-FF50-2C97-0C92-153B746314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43B825-0FCC-4E24-9AB0-B3A36126D33D}" type="slidenum">
              <a:rPr lang="it-IT" smtClean="0"/>
              <a:t>6</a:t>
            </a:fld>
            <a:endParaRPr lang="it-IT"/>
          </a:p>
        </p:txBody>
      </p:sp>
      <p:pic>
        <p:nvPicPr>
          <p:cNvPr id="7" name="Immagine 6">
            <a:extLst>
              <a:ext uri="{FF2B5EF4-FFF2-40B4-BE49-F238E27FC236}">
                <a16:creationId xmlns:a16="http://schemas.microsoft.com/office/drawing/2014/main" id="{9AF0E9A9-781F-50C0-CEB5-A9B907091CC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28847" y="2383068"/>
            <a:ext cx="3263153" cy="4474931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8" name="Immagine 7">
            <a:extLst>
              <a:ext uri="{FF2B5EF4-FFF2-40B4-BE49-F238E27FC236}">
                <a16:creationId xmlns:a16="http://schemas.microsoft.com/office/drawing/2014/main" id="{C6F615BF-E67F-72CD-5FC6-FB45EC971BCC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1052" t="34369" r="9440" b="24761"/>
          <a:stretch/>
        </p:blipFill>
        <p:spPr>
          <a:xfrm>
            <a:off x="190679" y="3455401"/>
            <a:ext cx="2349992" cy="2271000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9" name="Immagine 8">
            <a:extLst>
              <a:ext uri="{FF2B5EF4-FFF2-40B4-BE49-F238E27FC236}">
                <a16:creationId xmlns:a16="http://schemas.microsoft.com/office/drawing/2014/main" id="{CC89DD69-5A7A-44E7-0077-38EC2668074E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27282" y="3455401"/>
            <a:ext cx="3383318" cy="3383318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22530" name="Picture 2">
            <a:extLst>
              <a:ext uri="{FF2B5EF4-FFF2-40B4-BE49-F238E27FC236}">
                <a16:creationId xmlns:a16="http://schemas.microsoft.com/office/drawing/2014/main" id="{03F9977A-BD5C-DDA8-865C-3F61B664B4D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19548" y="4459444"/>
            <a:ext cx="2349992" cy="2271000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22371169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0E6D2019-5D2A-3C01-3023-D9D98C066F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68941"/>
            <a:ext cx="10515600" cy="1169895"/>
          </a:xfrm>
        </p:spPr>
        <p:txBody>
          <a:bodyPr>
            <a:normAutofit/>
          </a:bodyPr>
          <a:lstStyle/>
          <a:p>
            <a:pPr algn="ctr"/>
            <a:r>
              <a:rPr lang="it-IT" sz="6000" dirty="0">
                <a:latin typeface="Britannic Bold" panose="020B0903060703020204" pitchFamily="34" charset="0"/>
              </a:rPr>
              <a:t>SOCIAL SEMIOTICS</a:t>
            </a:r>
            <a:endParaRPr lang="it-IT" sz="6000" dirty="0"/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DA877478-66C9-8E39-D2A6-2171B20C9EF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28916" y="1761565"/>
            <a:ext cx="11250708" cy="4594785"/>
          </a:xfrm>
        </p:spPr>
        <p:txBody>
          <a:bodyPr>
            <a:normAutofit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4000" b="1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Semantics of the human body</a:t>
            </a:r>
          </a:p>
          <a:p>
            <a:pPr marL="0" indent="0" algn="ctr">
              <a:lnSpc>
                <a:spcPct val="100000"/>
              </a:lnSpc>
              <a:spcBef>
                <a:spcPts val="0"/>
              </a:spcBef>
              <a:buNone/>
            </a:pPr>
            <a:endParaRPr lang="en-US" b="1" dirty="0"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0000"/>
              </a:lnSpc>
              <a:spcBef>
                <a:spcPts val="0"/>
              </a:spcBef>
              <a:buFont typeface="Wingdings" panose="05000000000000000000" pitchFamily="2" charset="2"/>
              <a:buChar char="v"/>
            </a:pPr>
            <a:r>
              <a:rPr lang="en-US" sz="32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36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Dark-skinned populations mainly use scarification</a:t>
            </a:r>
          </a:p>
          <a:p>
            <a:pPr>
              <a:lnSpc>
                <a:spcPct val="100000"/>
              </a:lnSpc>
              <a:spcBef>
                <a:spcPts val="0"/>
              </a:spcBef>
              <a:buFont typeface="Wingdings" panose="05000000000000000000" pitchFamily="2" charset="2"/>
              <a:buChar char="v"/>
            </a:pPr>
            <a:endParaRPr lang="en-US" sz="1000" dirty="0"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0000"/>
              </a:lnSpc>
              <a:spcBef>
                <a:spcPts val="0"/>
              </a:spcBef>
              <a:buFont typeface="Wingdings" panose="05000000000000000000" pitchFamily="2" charset="2"/>
              <a:buChar char="Ø"/>
            </a:pPr>
            <a:r>
              <a:rPr lang="en-US" sz="32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Deep incisions are made on the skin of the body and face</a:t>
            </a:r>
          </a:p>
          <a:p>
            <a:pPr>
              <a:lnSpc>
                <a:spcPct val="100000"/>
              </a:lnSpc>
              <a:spcBef>
                <a:spcPts val="0"/>
              </a:spcBef>
              <a:buFont typeface="Wingdings" panose="05000000000000000000" pitchFamily="2" charset="2"/>
              <a:buChar char="Ø"/>
            </a:pPr>
            <a:endParaRPr lang="en-US" sz="3200" dirty="0"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pic>
        <p:nvPicPr>
          <p:cNvPr id="4" name="Immagine 3">
            <a:extLst>
              <a:ext uri="{FF2B5EF4-FFF2-40B4-BE49-F238E27FC236}">
                <a16:creationId xmlns:a16="http://schemas.microsoft.com/office/drawing/2014/main" id="{783899FF-5AF2-9A9C-EAE3-B82DF57B046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68274" y="174392"/>
            <a:ext cx="1707028" cy="1707028"/>
          </a:xfrm>
          <a:prstGeom prst="rect">
            <a:avLst/>
          </a:prstGeom>
        </p:spPr>
      </p:pic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2715C938-DBC3-69B9-5545-A79E3CA758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it-IT" sz="1600" dirty="0">
                <a:solidFill>
                  <a:srgbClr val="0070C0"/>
                </a:solidFill>
              </a:rPr>
              <a:t>Maria Rita Bartolomei</a:t>
            </a:r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1E21FD0C-FF50-2C97-0C92-153B746314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43B825-0FCC-4E24-9AB0-B3A36126D33D}" type="slidenum">
              <a:rPr lang="it-IT" smtClean="0"/>
              <a:t>7</a:t>
            </a:fld>
            <a:endParaRPr lang="it-IT"/>
          </a:p>
        </p:txBody>
      </p:sp>
      <p:pic>
        <p:nvPicPr>
          <p:cNvPr id="8" name="Immagine 7">
            <a:extLst>
              <a:ext uri="{FF2B5EF4-FFF2-40B4-BE49-F238E27FC236}">
                <a16:creationId xmlns:a16="http://schemas.microsoft.com/office/drawing/2014/main" id="{39CB7610-020B-0300-2F03-54FD69FAEF33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9226" r="11181"/>
          <a:stretch/>
        </p:blipFill>
        <p:spPr>
          <a:xfrm>
            <a:off x="288337" y="4311104"/>
            <a:ext cx="2676664" cy="2367975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9" name="Immagine 8">
            <a:extLst>
              <a:ext uri="{FF2B5EF4-FFF2-40B4-BE49-F238E27FC236}">
                <a16:creationId xmlns:a16="http://schemas.microsoft.com/office/drawing/2014/main" id="{E118816D-04B2-E6CB-E513-AB2082270B41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05580" y="4178528"/>
            <a:ext cx="3539755" cy="2542947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10" name="Immagine 9">
            <a:extLst>
              <a:ext uri="{FF2B5EF4-FFF2-40B4-BE49-F238E27FC236}">
                <a16:creationId xmlns:a16="http://schemas.microsoft.com/office/drawing/2014/main" id="{B098CDE3-714D-FF94-3A29-A7933C12A49A}"/>
              </a:ext>
            </a:extLst>
          </p:cNvPr>
          <p:cNvPicPr>
            <a:picLocks noChangeAspect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1276" r="20818"/>
          <a:stretch/>
        </p:blipFill>
        <p:spPr>
          <a:xfrm>
            <a:off x="6992126" y="4178528"/>
            <a:ext cx="2714317" cy="2500551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11" name="Immagine 10">
            <a:extLst>
              <a:ext uri="{FF2B5EF4-FFF2-40B4-BE49-F238E27FC236}">
                <a16:creationId xmlns:a16="http://schemas.microsoft.com/office/drawing/2014/main" id="{D1D90D78-F79E-3746-754E-A4C42C4BB2E5}"/>
              </a:ext>
            </a:extLst>
          </p:cNvPr>
          <p:cNvPicPr>
            <a:picLocks noChangeAspect="1"/>
          </p:cNvPicPr>
          <p:nvPr/>
        </p:nvPicPr>
        <p:blipFill rotWithShape="1"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4141"/>
          <a:stretch/>
        </p:blipFill>
        <p:spPr>
          <a:xfrm>
            <a:off x="9967758" y="3616658"/>
            <a:ext cx="2073181" cy="3104818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410742592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0E6D2019-5D2A-3C01-3023-D9D98C066F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68941"/>
            <a:ext cx="10515600" cy="1169895"/>
          </a:xfrm>
        </p:spPr>
        <p:txBody>
          <a:bodyPr>
            <a:normAutofit/>
          </a:bodyPr>
          <a:lstStyle/>
          <a:p>
            <a:pPr algn="ctr"/>
            <a:r>
              <a:rPr lang="it-IT" sz="6000" dirty="0">
                <a:latin typeface="Britannic Bold" panose="020B0903060703020204" pitchFamily="34" charset="0"/>
              </a:rPr>
              <a:t>SOCIAL SEMIOTICS</a:t>
            </a:r>
            <a:endParaRPr lang="it-IT" sz="6000" dirty="0"/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DA877478-66C9-8E39-D2A6-2171B20C9EF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28916" y="1533385"/>
            <a:ext cx="11250708" cy="4822965"/>
          </a:xfrm>
        </p:spPr>
        <p:txBody>
          <a:bodyPr>
            <a:normAutofit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4000" b="1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Semantics of the human body</a:t>
            </a:r>
          </a:p>
          <a:p>
            <a:pPr marL="0" indent="0" algn="ctr">
              <a:lnSpc>
                <a:spcPct val="100000"/>
              </a:lnSpc>
              <a:spcBef>
                <a:spcPts val="0"/>
              </a:spcBef>
              <a:buNone/>
            </a:pPr>
            <a:endParaRPr lang="en-US" sz="2000" b="1" dirty="0"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32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Seeds, small grains or other substances are 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32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introduced into the wound, to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endParaRPr lang="en-US" sz="1000" dirty="0"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0000"/>
              </a:lnSpc>
              <a:spcBef>
                <a:spcPts val="0"/>
              </a:spcBef>
              <a:buFontTx/>
              <a:buChar char="-"/>
            </a:pPr>
            <a:r>
              <a:rPr lang="en-US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increase the volume of scars</a:t>
            </a:r>
          </a:p>
          <a:p>
            <a:pPr>
              <a:lnSpc>
                <a:spcPct val="100000"/>
              </a:lnSpc>
              <a:spcBef>
                <a:spcPts val="0"/>
              </a:spcBef>
              <a:buFontTx/>
              <a:buChar char="-"/>
            </a:pPr>
            <a:endParaRPr lang="en-US" sz="800" dirty="0"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0000"/>
              </a:lnSpc>
              <a:spcBef>
                <a:spcPts val="0"/>
              </a:spcBef>
              <a:buFontTx/>
              <a:buChar char="-"/>
            </a:pPr>
            <a:r>
              <a:rPr lang="en-US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delay the healing of wounds</a:t>
            </a:r>
          </a:p>
          <a:p>
            <a:pPr>
              <a:lnSpc>
                <a:spcPct val="100000"/>
              </a:lnSpc>
              <a:spcBef>
                <a:spcPts val="0"/>
              </a:spcBef>
              <a:buFontTx/>
              <a:buChar char="-"/>
            </a:pPr>
            <a:endParaRPr lang="en-US" sz="800" dirty="0"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0000"/>
              </a:lnSpc>
              <a:spcBef>
                <a:spcPts val="0"/>
              </a:spcBef>
              <a:buFontTx/>
              <a:buChar char="-"/>
            </a:pPr>
            <a:r>
              <a:rPr lang="en-US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create designs and forms in a kind of bas-relief</a:t>
            </a:r>
          </a:p>
        </p:txBody>
      </p:sp>
      <p:pic>
        <p:nvPicPr>
          <p:cNvPr id="4" name="Immagine 3">
            <a:extLst>
              <a:ext uri="{FF2B5EF4-FFF2-40B4-BE49-F238E27FC236}">
                <a16:creationId xmlns:a16="http://schemas.microsoft.com/office/drawing/2014/main" id="{783899FF-5AF2-9A9C-EAE3-B82DF57B046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68274" y="174392"/>
            <a:ext cx="1707028" cy="1707028"/>
          </a:xfrm>
          <a:prstGeom prst="rect">
            <a:avLst/>
          </a:prstGeom>
        </p:spPr>
      </p:pic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2715C938-DBC3-69B9-5545-A79E3CA758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it-IT" sz="1600" dirty="0">
                <a:solidFill>
                  <a:srgbClr val="0070C0"/>
                </a:solidFill>
              </a:rPr>
              <a:t>Maria Rita Bartolomei</a:t>
            </a:r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1E21FD0C-FF50-2C97-0C92-153B746314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43B825-0FCC-4E24-9AB0-B3A36126D33D}" type="slidenum">
              <a:rPr lang="it-IT" smtClean="0"/>
              <a:t>8</a:t>
            </a:fld>
            <a:endParaRPr lang="it-IT"/>
          </a:p>
        </p:txBody>
      </p:sp>
      <p:pic>
        <p:nvPicPr>
          <p:cNvPr id="7" name="Immagine 6">
            <a:extLst>
              <a:ext uri="{FF2B5EF4-FFF2-40B4-BE49-F238E27FC236}">
                <a16:creationId xmlns:a16="http://schemas.microsoft.com/office/drawing/2014/main" id="{5B680685-933B-9547-378D-48D573532F3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067801" y="2345172"/>
            <a:ext cx="2743199" cy="4376303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20482" name="Picture 2">
            <a:extLst>
              <a:ext uri="{FF2B5EF4-FFF2-40B4-BE49-F238E27FC236}">
                <a16:creationId xmlns:a16="http://schemas.microsoft.com/office/drawing/2014/main" id="{2DB32AF6-AF2E-7DE5-9BDF-EDC4A9FD648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8200" y="5279231"/>
            <a:ext cx="2774576" cy="14573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76428581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0E6D2019-5D2A-3C01-3023-D9D98C066F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68941"/>
            <a:ext cx="10515600" cy="899319"/>
          </a:xfrm>
        </p:spPr>
        <p:txBody>
          <a:bodyPr>
            <a:normAutofit fontScale="90000"/>
          </a:bodyPr>
          <a:lstStyle/>
          <a:p>
            <a:pPr algn="ctr"/>
            <a:r>
              <a:rPr lang="it-IT" sz="6000" dirty="0">
                <a:latin typeface="Britannic Bold" panose="020B0903060703020204" pitchFamily="34" charset="0"/>
              </a:rPr>
              <a:t>SOCIAL SEMIOTICS</a:t>
            </a:r>
            <a:endParaRPr lang="it-IT" sz="6000" dirty="0"/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DA877478-66C9-8E39-D2A6-2171B20C9EF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28916" y="1533385"/>
            <a:ext cx="11250708" cy="4822965"/>
          </a:xfrm>
        </p:spPr>
        <p:txBody>
          <a:bodyPr>
            <a:normAutofit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4000" b="1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Semantics of the human body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b="1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Piercing</a:t>
            </a:r>
            <a:r>
              <a:rPr lang="en-US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</a:p>
          <a:p>
            <a:pPr>
              <a:lnSpc>
                <a:spcPct val="100000"/>
              </a:lnSpc>
              <a:spcBef>
                <a:spcPts val="0"/>
              </a:spcBef>
              <a:buFont typeface="Wingdings" panose="05000000000000000000" pitchFamily="2" charset="2"/>
              <a:buChar char="Ø"/>
            </a:pPr>
            <a:r>
              <a:rPr lang="en-US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perforation of certain parts of the body (lips, nose, cheeks, etc.) to insert rings, earrings, pins, brooches</a:t>
            </a:r>
          </a:p>
          <a:p>
            <a:pPr>
              <a:lnSpc>
                <a:spcPct val="100000"/>
              </a:lnSpc>
              <a:spcBef>
                <a:spcPts val="0"/>
              </a:spcBef>
              <a:buFont typeface="Wingdings" panose="05000000000000000000" pitchFamily="2" charset="2"/>
              <a:buChar char="Ø"/>
            </a:pPr>
            <a:r>
              <a:rPr lang="en-US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by extension, the word also indicates the inserted object</a:t>
            </a:r>
          </a:p>
          <a:p>
            <a:pPr>
              <a:lnSpc>
                <a:spcPct val="100000"/>
              </a:lnSpc>
              <a:spcBef>
                <a:spcPts val="0"/>
              </a:spcBef>
              <a:buFont typeface="Wingdings" panose="05000000000000000000" pitchFamily="2" charset="2"/>
              <a:buChar char="Ø"/>
            </a:pPr>
            <a:r>
              <a:rPr lang="en-US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is a custom which has tribal origins</a:t>
            </a:r>
          </a:p>
        </p:txBody>
      </p:sp>
      <p:pic>
        <p:nvPicPr>
          <p:cNvPr id="4" name="Immagine 3">
            <a:extLst>
              <a:ext uri="{FF2B5EF4-FFF2-40B4-BE49-F238E27FC236}">
                <a16:creationId xmlns:a16="http://schemas.microsoft.com/office/drawing/2014/main" id="{783899FF-5AF2-9A9C-EAE3-B82DF57B046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68274" y="174392"/>
            <a:ext cx="1707028" cy="1707028"/>
          </a:xfrm>
          <a:prstGeom prst="rect">
            <a:avLst/>
          </a:prstGeom>
        </p:spPr>
      </p:pic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2715C938-DBC3-69B9-5545-A79E3CA758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it-IT" sz="1600" dirty="0">
                <a:solidFill>
                  <a:srgbClr val="0070C0"/>
                </a:solidFill>
              </a:rPr>
              <a:t>Maria Rita Bartolomei</a:t>
            </a:r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1E21FD0C-FF50-2C97-0C92-153B746314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43B825-0FCC-4E24-9AB0-B3A36126D33D}" type="slidenum">
              <a:rPr lang="it-IT" smtClean="0"/>
              <a:t>9</a:t>
            </a:fld>
            <a:endParaRPr lang="it-IT"/>
          </a:p>
        </p:txBody>
      </p:sp>
      <p:pic>
        <p:nvPicPr>
          <p:cNvPr id="7" name="Immagine 6">
            <a:extLst>
              <a:ext uri="{FF2B5EF4-FFF2-40B4-BE49-F238E27FC236}">
                <a16:creationId xmlns:a16="http://schemas.microsoft.com/office/drawing/2014/main" id="{AFEE365D-8785-559A-8908-48CF1F916A8A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2420" t="9910" r="25498" b="8036"/>
          <a:stretch/>
        </p:blipFill>
        <p:spPr>
          <a:xfrm>
            <a:off x="79095" y="4592083"/>
            <a:ext cx="2070062" cy="2175318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8" name="Immagine 7">
            <a:extLst>
              <a:ext uri="{FF2B5EF4-FFF2-40B4-BE49-F238E27FC236}">
                <a16:creationId xmlns:a16="http://schemas.microsoft.com/office/drawing/2014/main" id="{596B5EEA-E2EA-F97A-AF84-54365C215760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84739" y="4546157"/>
            <a:ext cx="2175318" cy="2175318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9" name="Immagine 8">
            <a:extLst>
              <a:ext uri="{FF2B5EF4-FFF2-40B4-BE49-F238E27FC236}">
                <a16:creationId xmlns:a16="http://schemas.microsoft.com/office/drawing/2014/main" id="{0F59DF6D-ECF4-10DF-18AD-B4A6CAD465EC}"/>
              </a:ext>
            </a:extLst>
          </p:cNvPr>
          <p:cNvPicPr>
            <a:picLocks noChangeAspect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5059" t="24617" r="18512" b="13987"/>
          <a:stretch/>
        </p:blipFill>
        <p:spPr>
          <a:xfrm>
            <a:off x="4595639" y="4662973"/>
            <a:ext cx="2316480" cy="1693377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10" name="Immagine 9">
            <a:extLst>
              <a:ext uri="{FF2B5EF4-FFF2-40B4-BE49-F238E27FC236}">
                <a16:creationId xmlns:a16="http://schemas.microsoft.com/office/drawing/2014/main" id="{EEC59963-D1E2-283F-BEF3-6DCB2A6BE244}"/>
              </a:ext>
            </a:extLst>
          </p:cNvPr>
          <p:cNvPicPr>
            <a:picLocks noChangeAspect="1"/>
          </p:cNvPicPr>
          <p:nvPr/>
        </p:nvPicPr>
        <p:blipFill rotWithShape="1"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521"/>
          <a:stretch/>
        </p:blipFill>
        <p:spPr>
          <a:xfrm>
            <a:off x="9561232" y="3152585"/>
            <a:ext cx="2558394" cy="2042293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11" name="Immagine 10">
            <a:extLst>
              <a:ext uri="{FF2B5EF4-FFF2-40B4-BE49-F238E27FC236}">
                <a16:creationId xmlns:a16="http://schemas.microsoft.com/office/drawing/2014/main" id="{67D9EDFC-D2C3-209D-C023-062F35BAE8B4}"/>
              </a:ext>
            </a:extLst>
          </p:cNvPr>
          <p:cNvPicPr>
            <a:picLocks noChangeAspect="1"/>
          </p:cNvPicPr>
          <p:nvPr/>
        </p:nvPicPr>
        <p:blipFill rotWithShape="1"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25921"/>
          <a:stretch/>
        </p:blipFill>
        <p:spPr>
          <a:xfrm>
            <a:off x="7081580" y="4662973"/>
            <a:ext cx="2378035" cy="1693377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184421510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0E6D2019-5D2A-3C01-3023-D9D98C066F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68941"/>
            <a:ext cx="10515600" cy="1169895"/>
          </a:xfrm>
        </p:spPr>
        <p:txBody>
          <a:bodyPr>
            <a:normAutofit/>
          </a:bodyPr>
          <a:lstStyle/>
          <a:p>
            <a:pPr algn="ctr"/>
            <a:r>
              <a:rPr lang="it-IT" sz="6000" dirty="0">
                <a:latin typeface="Britannic Bold" panose="020B0903060703020204" pitchFamily="34" charset="0"/>
              </a:rPr>
              <a:t>SOCIAL SEMIOTICS</a:t>
            </a:r>
            <a:endParaRPr lang="it-IT" sz="6000" dirty="0"/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DA877478-66C9-8E39-D2A6-2171B20C9EF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28916" y="1761565"/>
            <a:ext cx="11250708" cy="4594785"/>
          </a:xfrm>
        </p:spPr>
        <p:txBody>
          <a:bodyPr>
            <a:normAutofit fontScale="92500" lnSpcReduction="10000"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4000" b="1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Semantics of the human body</a:t>
            </a:r>
          </a:p>
          <a:p>
            <a:pPr marL="0" indent="0" algn="ctr">
              <a:lnSpc>
                <a:spcPct val="100000"/>
              </a:lnSpc>
              <a:spcBef>
                <a:spcPts val="0"/>
              </a:spcBef>
              <a:buNone/>
            </a:pPr>
            <a:endParaRPr lang="en-US" sz="2200" b="1" dirty="0"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35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In the West, the tattoo phenomenon was born within specific subcultural contexts for different reasons</a:t>
            </a:r>
          </a:p>
          <a:p>
            <a:pPr>
              <a:lnSpc>
                <a:spcPct val="100000"/>
              </a:lnSpc>
              <a:spcBef>
                <a:spcPts val="0"/>
              </a:spcBef>
              <a:buFont typeface="Wingdings" panose="05000000000000000000" pitchFamily="2" charset="2"/>
              <a:buChar char="ü"/>
            </a:pPr>
            <a:r>
              <a:rPr lang="en-US" sz="35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opposition to dominant social norms</a:t>
            </a:r>
          </a:p>
          <a:p>
            <a:pPr>
              <a:lnSpc>
                <a:spcPct val="100000"/>
              </a:lnSpc>
              <a:spcBef>
                <a:spcPts val="0"/>
              </a:spcBef>
              <a:buFont typeface="Wingdings" panose="05000000000000000000" pitchFamily="2" charset="2"/>
              <a:buChar char="ü"/>
            </a:pPr>
            <a:r>
              <a:rPr lang="en-US" sz="35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criticism of and protest against the system</a:t>
            </a:r>
          </a:p>
          <a:p>
            <a:pPr>
              <a:lnSpc>
                <a:spcPct val="100000"/>
              </a:lnSpc>
              <a:spcBef>
                <a:spcPts val="0"/>
              </a:spcBef>
              <a:buFont typeface="Wingdings" panose="05000000000000000000" pitchFamily="2" charset="2"/>
              <a:buChar char="ü"/>
            </a:pPr>
            <a:r>
              <a:rPr lang="en-US" sz="35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transgression</a:t>
            </a:r>
          </a:p>
          <a:p>
            <a:pPr>
              <a:lnSpc>
                <a:spcPct val="100000"/>
              </a:lnSpc>
              <a:spcBef>
                <a:spcPts val="0"/>
              </a:spcBef>
              <a:buFont typeface="Wingdings" panose="05000000000000000000" pitchFamily="2" charset="2"/>
              <a:buChar char="ü"/>
            </a:pPr>
            <a:r>
              <a:rPr lang="en-US" sz="35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deep individual malaise</a:t>
            </a:r>
          </a:p>
          <a:p>
            <a:pPr>
              <a:lnSpc>
                <a:spcPct val="100000"/>
              </a:lnSpc>
              <a:spcBef>
                <a:spcPts val="0"/>
              </a:spcBef>
              <a:buFont typeface="Wingdings" panose="05000000000000000000" pitchFamily="2" charset="2"/>
              <a:buChar char="ü"/>
            </a:pPr>
            <a:r>
              <a:rPr lang="en-US" sz="35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identification with reference models</a:t>
            </a:r>
          </a:p>
          <a:p>
            <a:pPr>
              <a:lnSpc>
                <a:spcPct val="100000"/>
              </a:lnSpc>
              <a:spcBef>
                <a:spcPts val="0"/>
              </a:spcBef>
              <a:buFont typeface="Wingdings" panose="05000000000000000000" pitchFamily="2" charset="2"/>
              <a:buChar char="ü"/>
            </a:pPr>
            <a:r>
              <a:rPr lang="en-US" sz="35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individual research</a:t>
            </a:r>
          </a:p>
        </p:txBody>
      </p:sp>
      <p:pic>
        <p:nvPicPr>
          <p:cNvPr id="4" name="Immagine 3">
            <a:extLst>
              <a:ext uri="{FF2B5EF4-FFF2-40B4-BE49-F238E27FC236}">
                <a16:creationId xmlns:a16="http://schemas.microsoft.com/office/drawing/2014/main" id="{783899FF-5AF2-9A9C-EAE3-B82DF57B046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68274" y="174392"/>
            <a:ext cx="1707028" cy="1707028"/>
          </a:xfrm>
          <a:prstGeom prst="rect">
            <a:avLst/>
          </a:prstGeom>
        </p:spPr>
      </p:pic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2715C938-DBC3-69B9-5545-A79E3CA758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it-IT" sz="1600" dirty="0">
                <a:solidFill>
                  <a:srgbClr val="0070C0"/>
                </a:solidFill>
              </a:rPr>
              <a:t>Maria Rita Bartolomei</a:t>
            </a:r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1E21FD0C-FF50-2C97-0C92-153B746314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43B825-0FCC-4E24-9AB0-B3A36126D33D}" type="slidenum">
              <a:rPr lang="it-IT" smtClean="0"/>
              <a:t>10</a:t>
            </a:fld>
            <a:endParaRPr lang="it-IT"/>
          </a:p>
        </p:txBody>
      </p:sp>
      <p:pic>
        <p:nvPicPr>
          <p:cNvPr id="7" name="Immagine 6">
            <a:extLst>
              <a:ext uri="{FF2B5EF4-FFF2-40B4-BE49-F238E27FC236}">
                <a16:creationId xmlns:a16="http://schemas.microsoft.com/office/drawing/2014/main" id="{B2E390D6-AE7F-2814-F597-06C75987A74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04035" y="3510990"/>
            <a:ext cx="4543417" cy="3210485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371387191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0E6D2019-5D2A-3C01-3023-D9D98C066F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68941"/>
            <a:ext cx="10515600" cy="899319"/>
          </a:xfrm>
        </p:spPr>
        <p:txBody>
          <a:bodyPr>
            <a:normAutofit fontScale="90000"/>
          </a:bodyPr>
          <a:lstStyle/>
          <a:p>
            <a:pPr algn="ctr"/>
            <a:r>
              <a:rPr lang="it-IT" sz="6000" dirty="0">
                <a:latin typeface="Britannic Bold" panose="020B0903060703020204" pitchFamily="34" charset="0"/>
              </a:rPr>
              <a:t>SOCIAL SEMIOTICS</a:t>
            </a:r>
            <a:endParaRPr lang="it-IT" sz="6000" dirty="0"/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DA877478-66C9-8E39-D2A6-2171B20C9EF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9965" y="1533385"/>
            <a:ext cx="11429999" cy="4822965"/>
          </a:xfrm>
        </p:spPr>
        <p:txBody>
          <a:bodyPr>
            <a:normAutofit fontScale="92500" lnSpcReduction="20000"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4000" b="1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Semantics of the human body</a:t>
            </a:r>
          </a:p>
          <a:p>
            <a:pPr marL="0" indent="0" algn="ctr">
              <a:lnSpc>
                <a:spcPct val="100000"/>
              </a:lnSpc>
              <a:spcBef>
                <a:spcPts val="0"/>
              </a:spcBef>
              <a:buNone/>
            </a:pPr>
            <a:endParaRPr lang="en-US" sz="2600" b="1" dirty="0"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40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In the collective imagination, tattooing had a negative connotation</a:t>
            </a:r>
          </a:p>
          <a:p>
            <a:pPr>
              <a:lnSpc>
                <a:spcPct val="100000"/>
              </a:lnSpc>
              <a:spcBef>
                <a:spcPts val="0"/>
              </a:spcBef>
              <a:buFont typeface="Wingdings" panose="05000000000000000000" pitchFamily="2" charset="2"/>
              <a:buChar char="Ø"/>
            </a:pPr>
            <a:r>
              <a:rPr lang="en-US" sz="40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 </a:t>
            </a:r>
            <a:r>
              <a:rPr lang="en-US" sz="33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often associated with cultures defined as “primitive”,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33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    “savage” or “irrational”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endParaRPr lang="en-US" sz="900" dirty="0"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0000"/>
              </a:lnSpc>
              <a:spcBef>
                <a:spcPts val="0"/>
              </a:spcBef>
              <a:buFont typeface="Wingdings" panose="05000000000000000000" pitchFamily="2" charset="2"/>
              <a:buChar char="Ø"/>
            </a:pPr>
            <a:r>
              <a:rPr lang="en-US" sz="33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 was considered an expression of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33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  - dispute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33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  - deviance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33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  - mental weakness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33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  - moral disorder</a:t>
            </a:r>
          </a:p>
        </p:txBody>
      </p:sp>
      <p:pic>
        <p:nvPicPr>
          <p:cNvPr id="4" name="Immagine 3">
            <a:extLst>
              <a:ext uri="{FF2B5EF4-FFF2-40B4-BE49-F238E27FC236}">
                <a16:creationId xmlns:a16="http://schemas.microsoft.com/office/drawing/2014/main" id="{783899FF-5AF2-9A9C-EAE3-B82DF57B046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68274" y="174392"/>
            <a:ext cx="1707028" cy="1707028"/>
          </a:xfrm>
          <a:prstGeom prst="rect">
            <a:avLst/>
          </a:prstGeom>
        </p:spPr>
      </p:pic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2715C938-DBC3-69B9-5545-A79E3CA758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it-IT" sz="1600" dirty="0">
                <a:solidFill>
                  <a:srgbClr val="0070C0"/>
                </a:solidFill>
              </a:rPr>
              <a:t>Maria Rita Bartolomei</a:t>
            </a:r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1E21FD0C-FF50-2C97-0C92-153B746314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43B825-0FCC-4E24-9AB0-B3A36126D33D}" type="slidenum">
              <a:rPr lang="it-IT" smtClean="0"/>
              <a:t>11</a:t>
            </a:fld>
            <a:endParaRPr lang="it-IT"/>
          </a:p>
        </p:txBody>
      </p:sp>
      <p:pic>
        <p:nvPicPr>
          <p:cNvPr id="7" name="Immagine 6">
            <a:extLst>
              <a:ext uri="{FF2B5EF4-FFF2-40B4-BE49-F238E27FC236}">
                <a16:creationId xmlns:a16="http://schemas.microsoft.com/office/drawing/2014/main" id="{0DEF0DBD-74E4-1413-A312-16D53F749D6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59493" y="3816122"/>
            <a:ext cx="5389071" cy="3041878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8" name="Immagine 7">
            <a:extLst>
              <a:ext uri="{FF2B5EF4-FFF2-40B4-BE49-F238E27FC236}">
                <a16:creationId xmlns:a16="http://schemas.microsoft.com/office/drawing/2014/main" id="{BF27AB64-426C-F499-EA60-D7C832BD5401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36057" y="4762053"/>
            <a:ext cx="2294836" cy="1776859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159359043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0E6D2019-5D2A-3C01-3023-D9D98C066F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0"/>
            <a:ext cx="10515600" cy="1048872"/>
          </a:xfrm>
        </p:spPr>
        <p:txBody>
          <a:bodyPr>
            <a:normAutofit/>
          </a:bodyPr>
          <a:lstStyle/>
          <a:p>
            <a:pPr algn="ctr"/>
            <a:r>
              <a:rPr lang="it-IT" sz="6000" dirty="0">
                <a:latin typeface="Britannic Bold" panose="020B0903060703020204" pitchFamily="34" charset="0"/>
              </a:rPr>
              <a:t>SOCIAL SEMIOTICS</a:t>
            </a:r>
            <a:endParaRPr lang="it-IT" sz="6000" dirty="0"/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DA877478-66C9-8E39-D2A6-2171B20C9EF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28916" y="1223265"/>
            <a:ext cx="11250708" cy="5133086"/>
          </a:xfrm>
        </p:spPr>
        <p:txBody>
          <a:bodyPr>
            <a:normAutofit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4000" b="1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Semantics of the human body</a:t>
            </a:r>
          </a:p>
          <a:p>
            <a:pPr marL="0" indent="0" algn="ctr">
              <a:lnSpc>
                <a:spcPct val="100000"/>
              </a:lnSpc>
              <a:spcBef>
                <a:spcPts val="0"/>
              </a:spcBef>
              <a:buNone/>
            </a:pPr>
            <a:endParaRPr lang="en-US" sz="1600" b="1" dirty="0"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0000"/>
              </a:lnSpc>
              <a:spcBef>
                <a:spcPts val="0"/>
              </a:spcBef>
              <a:buFont typeface="Wingdings" panose="05000000000000000000" pitchFamily="2" charset="2"/>
              <a:buChar char="v"/>
            </a:pPr>
            <a:r>
              <a:rPr lang="en-US" sz="32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Tattooing has strongly </a:t>
            </a:r>
            <a:r>
              <a:rPr lang="en-US" sz="3200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characterised</a:t>
            </a:r>
            <a:r>
              <a:rPr lang="en-US" sz="32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the life of individuals</a:t>
            </a:r>
          </a:p>
          <a:p>
            <a:pPr>
              <a:lnSpc>
                <a:spcPct val="100000"/>
              </a:lnSpc>
              <a:spcBef>
                <a:spcPts val="0"/>
              </a:spcBef>
              <a:buFont typeface="Wingdings" panose="05000000000000000000" pitchFamily="2" charset="2"/>
              <a:buChar char="v"/>
            </a:pPr>
            <a:endParaRPr lang="en-US" sz="1000" dirty="0"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en-US" sz="32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4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making a positive or negative contribution, depending on the case</a:t>
            </a:r>
          </a:p>
        </p:txBody>
      </p:sp>
      <p:pic>
        <p:nvPicPr>
          <p:cNvPr id="4" name="Immagine 3">
            <a:extLst>
              <a:ext uri="{FF2B5EF4-FFF2-40B4-BE49-F238E27FC236}">
                <a16:creationId xmlns:a16="http://schemas.microsoft.com/office/drawing/2014/main" id="{783899FF-5AF2-9A9C-EAE3-B82DF57B046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68274" y="174392"/>
            <a:ext cx="1707028" cy="1707028"/>
          </a:xfrm>
          <a:prstGeom prst="rect">
            <a:avLst/>
          </a:prstGeom>
        </p:spPr>
      </p:pic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2715C938-DBC3-69B9-5545-A79E3CA758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it-IT" sz="1600" dirty="0">
                <a:solidFill>
                  <a:srgbClr val="0070C0"/>
                </a:solidFill>
              </a:rPr>
              <a:t>Maria Rita Bartolomei</a:t>
            </a:r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1E21FD0C-FF50-2C97-0C92-153B746314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43B825-0FCC-4E24-9AB0-B3A36126D33D}" type="slidenum">
              <a:rPr lang="it-IT" smtClean="0"/>
              <a:t>12</a:t>
            </a:fld>
            <a:endParaRPr lang="it-IT"/>
          </a:p>
        </p:txBody>
      </p:sp>
      <p:pic>
        <p:nvPicPr>
          <p:cNvPr id="7" name="Segnaposto contenuto 10">
            <a:extLst>
              <a:ext uri="{FF2B5EF4-FFF2-40B4-BE49-F238E27FC236}">
                <a16:creationId xmlns:a16="http://schemas.microsoft.com/office/drawing/2014/main" id="{F2CFD681-4DC9-6359-10C4-0C006DBD71C1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1763" r="13841"/>
          <a:stretch/>
        </p:blipFill>
        <p:spPr>
          <a:xfrm>
            <a:off x="412376" y="3230518"/>
            <a:ext cx="1698812" cy="3534522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8" name="Immagine 7">
            <a:extLst>
              <a:ext uri="{FF2B5EF4-FFF2-40B4-BE49-F238E27FC236}">
                <a16:creationId xmlns:a16="http://schemas.microsoft.com/office/drawing/2014/main" id="{3B66B26E-2194-CF18-68ED-F48065FE84A7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637" t="5335" r="6449" b="19156"/>
          <a:stretch/>
        </p:blipFill>
        <p:spPr>
          <a:xfrm>
            <a:off x="2402401" y="3371528"/>
            <a:ext cx="3038125" cy="3372314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9" name="Immagine 8">
            <a:extLst>
              <a:ext uri="{FF2B5EF4-FFF2-40B4-BE49-F238E27FC236}">
                <a16:creationId xmlns:a16="http://schemas.microsoft.com/office/drawing/2014/main" id="{A355E7CF-0BD9-7E5B-526D-2443C6B1B611}"/>
              </a:ext>
            </a:extLst>
          </p:cNvPr>
          <p:cNvPicPr>
            <a:picLocks noChangeAspect="1"/>
          </p:cNvPicPr>
          <p:nvPr/>
        </p:nvPicPr>
        <p:blipFill rotWithShape="1"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5145" b="-7554"/>
          <a:stretch/>
        </p:blipFill>
        <p:spPr>
          <a:xfrm>
            <a:off x="5795612" y="3411026"/>
            <a:ext cx="3335151" cy="3737438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10" name="Immagine 9">
            <a:extLst>
              <a:ext uri="{FF2B5EF4-FFF2-40B4-BE49-F238E27FC236}">
                <a16:creationId xmlns:a16="http://schemas.microsoft.com/office/drawing/2014/main" id="{2388AE65-4F68-BECC-7110-56BCBCBA23F4}"/>
              </a:ext>
            </a:extLst>
          </p:cNvPr>
          <p:cNvPicPr>
            <a:picLocks noChangeAspect="1"/>
          </p:cNvPicPr>
          <p:nvPr/>
        </p:nvPicPr>
        <p:blipFill rotWithShape="1"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9379" r="9435"/>
          <a:stretch/>
        </p:blipFill>
        <p:spPr>
          <a:xfrm>
            <a:off x="9485850" y="2842841"/>
            <a:ext cx="2293774" cy="4015159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294769444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0E6D2019-5D2A-3C01-3023-D9D98C066F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36525"/>
            <a:ext cx="10515600" cy="1031735"/>
          </a:xfrm>
        </p:spPr>
        <p:txBody>
          <a:bodyPr>
            <a:normAutofit/>
          </a:bodyPr>
          <a:lstStyle/>
          <a:p>
            <a:pPr algn="ctr"/>
            <a:r>
              <a:rPr lang="it-IT" sz="6000" dirty="0">
                <a:latin typeface="Britannic Bold" panose="020B0903060703020204" pitchFamily="34" charset="0"/>
              </a:rPr>
              <a:t>SOCIAL SEMIOTICS</a:t>
            </a:r>
            <a:endParaRPr lang="it-IT" sz="6000" dirty="0"/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DA877478-66C9-8E39-D2A6-2171B20C9EF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28916" y="1533385"/>
            <a:ext cx="11250708" cy="4822965"/>
          </a:xfrm>
        </p:spPr>
        <p:txBody>
          <a:bodyPr>
            <a:normAutofit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4000" b="1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Semantics of the human body</a:t>
            </a:r>
          </a:p>
          <a:p>
            <a:pPr marL="0" indent="0" algn="ctr">
              <a:lnSpc>
                <a:spcPct val="100000"/>
              </a:lnSpc>
              <a:spcBef>
                <a:spcPts val="0"/>
              </a:spcBef>
              <a:buNone/>
            </a:pPr>
            <a:endParaRPr lang="en-US" sz="1600" b="1" dirty="0"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0000"/>
              </a:lnSpc>
              <a:spcBef>
                <a:spcPts val="0"/>
              </a:spcBef>
              <a:buFont typeface="Wingdings" panose="05000000000000000000" pitchFamily="2" charset="2"/>
              <a:buChar char="v"/>
            </a:pPr>
            <a:r>
              <a:rPr lang="en-US" sz="32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Tattooing is a widespread practice in almost all past and present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32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    societies</a:t>
            </a:r>
          </a:p>
        </p:txBody>
      </p:sp>
      <p:pic>
        <p:nvPicPr>
          <p:cNvPr id="4" name="Immagine 3">
            <a:extLst>
              <a:ext uri="{FF2B5EF4-FFF2-40B4-BE49-F238E27FC236}">
                <a16:creationId xmlns:a16="http://schemas.microsoft.com/office/drawing/2014/main" id="{783899FF-5AF2-9A9C-EAE3-B82DF57B046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68274" y="174392"/>
            <a:ext cx="1707028" cy="1707028"/>
          </a:xfrm>
          <a:prstGeom prst="rect">
            <a:avLst/>
          </a:prstGeom>
        </p:spPr>
      </p:pic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2715C938-DBC3-69B9-5545-A79E3CA758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it-IT" sz="1600" dirty="0">
                <a:solidFill>
                  <a:srgbClr val="0070C0"/>
                </a:solidFill>
              </a:rPr>
              <a:t>Maria Rita Bartolomei</a:t>
            </a:r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1E21FD0C-FF50-2C97-0C92-153B746314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43B825-0FCC-4E24-9AB0-B3A36126D33D}" type="slidenum">
              <a:rPr lang="it-IT" smtClean="0"/>
              <a:t>13</a:t>
            </a:fld>
            <a:endParaRPr lang="it-IT"/>
          </a:p>
        </p:txBody>
      </p:sp>
      <p:pic>
        <p:nvPicPr>
          <p:cNvPr id="8" name="Immagine 7">
            <a:extLst>
              <a:ext uri="{FF2B5EF4-FFF2-40B4-BE49-F238E27FC236}">
                <a16:creationId xmlns:a16="http://schemas.microsoft.com/office/drawing/2014/main" id="{9F2B8A30-A993-2F4D-9BA8-937C1D5D752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8990" y="3604420"/>
            <a:ext cx="4379862" cy="3117055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9" name="Immagine 8">
            <a:extLst>
              <a:ext uri="{FF2B5EF4-FFF2-40B4-BE49-F238E27FC236}">
                <a16:creationId xmlns:a16="http://schemas.microsoft.com/office/drawing/2014/main" id="{217C802B-8E58-C117-507E-022DA28E3A62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0071" r="18643"/>
          <a:stretch/>
        </p:blipFill>
        <p:spPr>
          <a:xfrm>
            <a:off x="5016052" y="3184293"/>
            <a:ext cx="2351498" cy="3537182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10" name="Immagine 9">
            <a:extLst>
              <a:ext uri="{FF2B5EF4-FFF2-40B4-BE49-F238E27FC236}">
                <a16:creationId xmlns:a16="http://schemas.microsoft.com/office/drawing/2014/main" id="{57B790AE-1BED-89A9-FE80-753E0B0C026F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306594" y="3349487"/>
            <a:ext cx="2685942" cy="3496355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191574649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0E6D2019-5D2A-3C01-3023-D9D98C066F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68941"/>
            <a:ext cx="10515600" cy="953107"/>
          </a:xfrm>
        </p:spPr>
        <p:txBody>
          <a:bodyPr>
            <a:normAutofit/>
          </a:bodyPr>
          <a:lstStyle/>
          <a:p>
            <a:pPr algn="ctr"/>
            <a:r>
              <a:rPr lang="it-IT" sz="6000" dirty="0">
                <a:latin typeface="Britannic Bold" panose="020B0903060703020204" pitchFamily="34" charset="0"/>
              </a:rPr>
              <a:t>SOCIAL SEMIOTICS</a:t>
            </a:r>
            <a:endParaRPr lang="it-IT" sz="6000" dirty="0"/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DA877478-66C9-8E39-D2A6-2171B20C9EF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28916" y="1506071"/>
            <a:ext cx="11250708" cy="4850279"/>
          </a:xfrm>
        </p:spPr>
        <p:txBody>
          <a:bodyPr>
            <a:normAutofit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4000" b="1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Semantics of the human body</a:t>
            </a:r>
          </a:p>
          <a:p>
            <a:pPr marL="0" indent="0" algn="ctr">
              <a:lnSpc>
                <a:spcPct val="100000"/>
              </a:lnSpc>
              <a:spcBef>
                <a:spcPts val="0"/>
              </a:spcBef>
              <a:buNone/>
            </a:pPr>
            <a:endParaRPr lang="en-US" sz="2000" b="1" dirty="0"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32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Tattooing is an ever-present practice in the history of humanity</a:t>
            </a:r>
            <a:endParaRPr lang="en-US" sz="3200" b="1" dirty="0"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pic>
        <p:nvPicPr>
          <p:cNvPr id="4" name="Immagine 3">
            <a:extLst>
              <a:ext uri="{FF2B5EF4-FFF2-40B4-BE49-F238E27FC236}">
                <a16:creationId xmlns:a16="http://schemas.microsoft.com/office/drawing/2014/main" id="{783899FF-5AF2-9A9C-EAE3-B82DF57B046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68274" y="174392"/>
            <a:ext cx="1707028" cy="1707028"/>
          </a:xfrm>
          <a:prstGeom prst="rect">
            <a:avLst/>
          </a:prstGeom>
        </p:spPr>
      </p:pic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2715C938-DBC3-69B9-5545-A79E3CA758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it-IT" sz="1600" dirty="0">
                <a:solidFill>
                  <a:srgbClr val="0070C0"/>
                </a:solidFill>
              </a:rPr>
              <a:t>Maria Rita Bartolomei</a:t>
            </a:r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1E21FD0C-FF50-2C97-0C92-153B746314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43B825-0FCC-4E24-9AB0-B3A36126D33D}" type="slidenum">
              <a:rPr lang="it-IT" smtClean="0"/>
              <a:t>14</a:t>
            </a:fld>
            <a:endParaRPr lang="it-IT"/>
          </a:p>
        </p:txBody>
      </p:sp>
      <p:pic>
        <p:nvPicPr>
          <p:cNvPr id="7" name="Immagine 6">
            <a:extLst>
              <a:ext uri="{FF2B5EF4-FFF2-40B4-BE49-F238E27FC236}">
                <a16:creationId xmlns:a16="http://schemas.microsoft.com/office/drawing/2014/main" id="{5FD04730-116D-01D8-8A92-F188D79C6173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3015" t="5653" r="6066" b="8128"/>
          <a:stretch/>
        </p:blipFill>
        <p:spPr>
          <a:xfrm>
            <a:off x="296573" y="3545413"/>
            <a:ext cx="2659757" cy="3043646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8" name="Immagine 7">
            <a:extLst>
              <a:ext uri="{FF2B5EF4-FFF2-40B4-BE49-F238E27FC236}">
                <a16:creationId xmlns:a16="http://schemas.microsoft.com/office/drawing/2014/main" id="{4CDB5654-1A9B-DB36-D762-DAA7ACA414A0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66798" y="4125633"/>
            <a:ext cx="2330923" cy="2347072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9" name="Immagine 8">
            <a:extLst>
              <a:ext uri="{FF2B5EF4-FFF2-40B4-BE49-F238E27FC236}">
                <a16:creationId xmlns:a16="http://schemas.microsoft.com/office/drawing/2014/main" id="{811FD956-130C-4068-FEEE-FD46894918C5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63869" y="3058854"/>
            <a:ext cx="3384504" cy="3799146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10" name="Immagine 9">
            <a:extLst>
              <a:ext uri="{FF2B5EF4-FFF2-40B4-BE49-F238E27FC236}">
                <a16:creationId xmlns:a16="http://schemas.microsoft.com/office/drawing/2014/main" id="{331D449C-DDF6-3EE3-145F-60AC0921BF87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08190" y="3545414"/>
            <a:ext cx="2202478" cy="3237410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74398270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0E6D2019-5D2A-3C01-3023-D9D98C066F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68941"/>
            <a:ext cx="10515600" cy="899319"/>
          </a:xfrm>
        </p:spPr>
        <p:txBody>
          <a:bodyPr>
            <a:normAutofit fontScale="90000"/>
          </a:bodyPr>
          <a:lstStyle/>
          <a:p>
            <a:pPr algn="ctr"/>
            <a:r>
              <a:rPr lang="it-IT" sz="6000" dirty="0">
                <a:latin typeface="Britannic Bold" panose="020B0903060703020204" pitchFamily="34" charset="0"/>
              </a:rPr>
              <a:t>SOCIAL SEMIOTICS</a:t>
            </a:r>
            <a:endParaRPr lang="it-IT" sz="6000" dirty="0"/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DA877478-66C9-8E39-D2A6-2171B20C9EF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28916" y="1533385"/>
            <a:ext cx="11250708" cy="4822965"/>
          </a:xfrm>
        </p:spPr>
        <p:txBody>
          <a:bodyPr>
            <a:normAutofit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4000" b="1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Semantics of the human body</a:t>
            </a:r>
          </a:p>
          <a:p>
            <a:pPr marL="0" indent="0" algn="ctr">
              <a:lnSpc>
                <a:spcPct val="100000"/>
              </a:lnSpc>
              <a:spcBef>
                <a:spcPts val="0"/>
              </a:spcBef>
              <a:buNone/>
            </a:pPr>
            <a:endParaRPr lang="en-US" sz="1200" b="1" dirty="0"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32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Every mark on the body</a:t>
            </a:r>
          </a:p>
          <a:p>
            <a:pPr>
              <a:lnSpc>
                <a:spcPct val="100000"/>
              </a:lnSpc>
              <a:spcBef>
                <a:spcPts val="0"/>
              </a:spcBef>
              <a:buFont typeface="Wingdings" panose="05000000000000000000" pitchFamily="2" charset="2"/>
              <a:buChar char="Ø"/>
            </a:pPr>
            <a:r>
              <a:rPr lang="en-US" sz="40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is a graphic expression of the culture we belong to</a:t>
            </a:r>
          </a:p>
          <a:p>
            <a:pPr>
              <a:lnSpc>
                <a:spcPct val="100000"/>
              </a:lnSpc>
              <a:spcBef>
                <a:spcPts val="0"/>
              </a:spcBef>
              <a:buFont typeface="Wingdings" panose="05000000000000000000" pitchFamily="2" charset="2"/>
              <a:buChar char="Ø"/>
            </a:pPr>
            <a:r>
              <a:rPr lang="en-US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is a specific language through which a biological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   body is transformed into a cultural body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endParaRPr lang="en-US" sz="4000" dirty="0"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pic>
        <p:nvPicPr>
          <p:cNvPr id="4" name="Immagine 3">
            <a:extLst>
              <a:ext uri="{FF2B5EF4-FFF2-40B4-BE49-F238E27FC236}">
                <a16:creationId xmlns:a16="http://schemas.microsoft.com/office/drawing/2014/main" id="{783899FF-5AF2-9A9C-EAE3-B82DF57B046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68274" y="174392"/>
            <a:ext cx="1707028" cy="1707028"/>
          </a:xfrm>
          <a:prstGeom prst="rect">
            <a:avLst/>
          </a:prstGeom>
        </p:spPr>
      </p:pic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2715C938-DBC3-69B9-5545-A79E3CA758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it-IT" sz="1600" dirty="0">
                <a:solidFill>
                  <a:srgbClr val="0070C0"/>
                </a:solidFill>
              </a:rPr>
              <a:t>Maria Rita Bartolomei</a:t>
            </a:r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1E21FD0C-FF50-2C97-0C92-153B746314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43B825-0FCC-4E24-9AB0-B3A36126D33D}" type="slidenum">
              <a:rPr lang="it-IT" smtClean="0"/>
              <a:t>15</a:t>
            </a:fld>
            <a:endParaRPr lang="it-IT"/>
          </a:p>
        </p:txBody>
      </p:sp>
      <p:pic>
        <p:nvPicPr>
          <p:cNvPr id="8" name="Immagine 7">
            <a:extLst>
              <a:ext uri="{FF2B5EF4-FFF2-40B4-BE49-F238E27FC236}">
                <a16:creationId xmlns:a16="http://schemas.microsoft.com/office/drawing/2014/main" id="{3EAC35FC-FD8C-F765-E9A1-7B87EE4A2AA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10176" y="4761403"/>
            <a:ext cx="4056424" cy="2028212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9" name="Immagine 8">
            <a:extLst>
              <a:ext uri="{FF2B5EF4-FFF2-40B4-BE49-F238E27FC236}">
                <a16:creationId xmlns:a16="http://schemas.microsoft.com/office/drawing/2014/main" id="{E5A45EEA-2144-8379-047D-1A67E442A456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9978" r="151" b="13352"/>
          <a:stretch/>
        </p:blipFill>
        <p:spPr>
          <a:xfrm>
            <a:off x="9141000" y="2178160"/>
            <a:ext cx="2638624" cy="2286503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10" name="Immagine 9">
            <a:extLst>
              <a:ext uri="{FF2B5EF4-FFF2-40B4-BE49-F238E27FC236}">
                <a16:creationId xmlns:a16="http://schemas.microsoft.com/office/drawing/2014/main" id="{140A1DC2-08EF-449A-6BE2-885C892B501B}"/>
              </a:ext>
            </a:extLst>
          </p:cNvPr>
          <p:cNvPicPr>
            <a:picLocks noChangeAspect="1"/>
          </p:cNvPicPr>
          <p:nvPr/>
        </p:nvPicPr>
        <p:blipFill rotWithShape="1"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233" r="12867" b="15258"/>
          <a:stretch/>
        </p:blipFill>
        <p:spPr>
          <a:xfrm>
            <a:off x="266698" y="4393001"/>
            <a:ext cx="1588995" cy="2396297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314823960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0E6D2019-5D2A-3C01-3023-D9D98C066F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74393"/>
            <a:ext cx="10515600" cy="1076184"/>
          </a:xfrm>
        </p:spPr>
        <p:txBody>
          <a:bodyPr>
            <a:normAutofit/>
          </a:bodyPr>
          <a:lstStyle/>
          <a:p>
            <a:pPr algn="ctr"/>
            <a:r>
              <a:rPr lang="it-IT" sz="6000" dirty="0">
                <a:latin typeface="Britannic Bold" panose="020B0903060703020204" pitchFamily="34" charset="0"/>
              </a:rPr>
              <a:t>SOCIAL SEMIOTICS</a:t>
            </a:r>
            <a:endParaRPr lang="it-IT" sz="6000" dirty="0"/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DA877478-66C9-8E39-D2A6-2171B20C9EF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28916" y="1344707"/>
            <a:ext cx="11250708" cy="5011644"/>
          </a:xfrm>
        </p:spPr>
        <p:txBody>
          <a:bodyPr>
            <a:normAutofit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3600" b="1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Semantics of the human body</a:t>
            </a:r>
          </a:p>
          <a:p>
            <a:pPr marL="0" indent="0" algn="ctr">
              <a:lnSpc>
                <a:spcPct val="100000"/>
              </a:lnSpc>
              <a:spcBef>
                <a:spcPts val="0"/>
              </a:spcBef>
              <a:buNone/>
            </a:pPr>
            <a:endParaRPr lang="en-US" sz="1600" b="1" dirty="0"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32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Every mark on the body expresses a meaning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endParaRPr lang="en-US" sz="800" dirty="0"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0000"/>
              </a:lnSpc>
              <a:spcBef>
                <a:spcPts val="0"/>
              </a:spcBef>
              <a:buFont typeface="Wingdings" panose="05000000000000000000" pitchFamily="2" charset="2"/>
              <a:buChar char="Ø"/>
            </a:pPr>
            <a:r>
              <a:rPr lang="en-US" sz="24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a body which is also and above all built in the relationship with another body</a:t>
            </a:r>
          </a:p>
          <a:p>
            <a:pPr>
              <a:lnSpc>
                <a:spcPct val="100000"/>
              </a:lnSpc>
              <a:spcBef>
                <a:spcPts val="0"/>
              </a:spcBef>
              <a:buFont typeface="Wingdings" panose="05000000000000000000" pitchFamily="2" charset="2"/>
              <a:buChar char="ü"/>
            </a:pPr>
            <a:r>
              <a:rPr lang="en-US" sz="24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with the image of oneself which each of us intends to communicate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endParaRPr lang="en-US" sz="4000" dirty="0"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endParaRPr lang="en-US" sz="4000" b="1" dirty="0"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pic>
        <p:nvPicPr>
          <p:cNvPr id="4" name="Immagine 3">
            <a:extLst>
              <a:ext uri="{FF2B5EF4-FFF2-40B4-BE49-F238E27FC236}">
                <a16:creationId xmlns:a16="http://schemas.microsoft.com/office/drawing/2014/main" id="{783899FF-5AF2-9A9C-EAE3-B82DF57B046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68274" y="174392"/>
            <a:ext cx="1707028" cy="1707028"/>
          </a:xfrm>
          <a:prstGeom prst="rect">
            <a:avLst/>
          </a:prstGeom>
        </p:spPr>
      </p:pic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2715C938-DBC3-69B9-5545-A79E3CA758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it-IT" sz="1600" dirty="0">
                <a:solidFill>
                  <a:srgbClr val="0070C0"/>
                </a:solidFill>
              </a:rPr>
              <a:t>Maria Rita Bartolomei</a:t>
            </a:r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1E21FD0C-FF50-2C97-0C92-153B746314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43B825-0FCC-4E24-9AB0-B3A36126D33D}" type="slidenum">
              <a:rPr lang="it-IT" smtClean="0"/>
              <a:t>16</a:t>
            </a:fld>
            <a:endParaRPr lang="it-IT"/>
          </a:p>
        </p:txBody>
      </p:sp>
      <p:pic>
        <p:nvPicPr>
          <p:cNvPr id="7" name="Immagine 6">
            <a:extLst>
              <a:ext uri="{FF2B5EF4-FFF2-40B4-BE49-F238E27FC236}">
                <a16:creationId xmlns:a16="http://schemas.microsoft.com/office/drawing/2014/main" id="{9DF40F4F-AAF8-0C14-561E-D1248FA23B5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51646" y="3758140"/>
            <a:ext cx="4456578" cy="2963335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8" name="Immagine 7">
            <a:extLst>
              <a:ext uri="{FF2B5EF4-FFF2-40B4-BE49-F238E27FC236}">
                <a16:creationId xmlns:a16="http://schemas.microsoft.com/office/drawing/2014/main" id="{38262A69-4C7B-C826-D9F3-668FCF6B8022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9969" t="56000" r="28412" b="8191"/>
          <a:stretch/>
        </p:blipFill>
        <p:spPr>
          <a:xfrm>
            <a:off x="497541" y="3900533"/>
            <a:ext cx="2168434" cy="2455817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9" name="Immagine 8">
            <a:extLst>
              <a:ext uri="{FF2B5EF4-FFF2-40B4-BE49-F238E27FC236}">
                <a16:creationId xmlns:a16="http://schemas.microsoft.com/office/drawing/2014/main" id="{5565B16A-978F-4D96-8F7E-D6B39E776126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01319" y="3735634"/>
            <a:ext cx="4414982" cy="2937164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144062011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0E6D2019-5D2A-3C01-3023-D9D98C066F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68941"/>
            <a:ext cx="10515600" cy="1169895"/>
          </a:xfrm>
        </p:spPr>
        <p:txBody>
          <a:bodyPr>
            <a:normAutofit/>
          </a:bodyPr>
          <a:lstStyle/>
          <a:p>
            <a:pPr algn="ctr"/>
            <a:r>
              <a:rPr lang="it-IT" sz="6000" dirty="0">
                <a:latin typeface="Britannic Bold" panose="020B0903060703020204" pitchFamily="34" charset="0"/>
              </a:rPr>
              <a:t>SOCIAL SEMIOTICS</a:t>
            </a:r>
            <a:endParaRPr lang="it-IT" sz="6000" dirty="0"/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DA877478-66C9-8E39-D2A6-2171B20C9EF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28916" y="1761565"/>
            <a:ext cx="11250708" cy="4594785"/>
          </a:xfrm>
        </p:spPr>
        <p:txBody>
          <a:bodyPr>
            <a:normAutofit fontScale="92500" lnSpcReduction="10000"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4000" b="1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Semantics of the human body</a:t>
            </a:r>
          </a:p>
          <a:p>
            <a:pPr marL="0" indent="0" algn="ctr">
              <a:lnSpc>
                <a:spcPct val="100000"/>
              </a:lnSpc>
              <a:spcBef>
                <a:spcPts val="0"/>
              </a:spcBef>
              <a:buNone/>
            </a:pPr>
            <a:endParaRPr lang="en-US" sz="2200" b="1" dirty="0"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39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Each type of tattoo or piercing represents an attempt</a:t>
            </a:r>
          </a:p>
          <a:p>
            <a:pPr>
              <a:lnSpc>
                <a:spcPct val="100000"/>
              </a:lnSpc>
              <a:spcBef>
                <a:spcPts val="0"/>
              </a:spcBef>
              <a:buFont typeface="Wingdings" panose="05000000000000000000" pitchFamily="2" charset="2"/>
              <a:buChar char="Ø"/>
            </a:pPr>
            <a:r>
              <a:rPr lang="en-US" sz="39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to overcome an object conception of the body</a:t>
            </a:r>
          </a:p>
          <a:p>
            <a:pPr>
              <a:lnSpc>
                <a:spcPct val="100000"/>
              </a:lnSpc>
              <a:spcBef>
                <a:spcPts val="0"/>
              </a:spcBef>
              <a:buFont typeface="Wingdings" panose="05000000000000000000" pitchFamily="2" charset="2"/>
              <a:buChar char="Ø"/>
            </a:pPr>
            <a:r>
              <a:rPr lang="en-US" sz="39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to affirm and vindicate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39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   - one’s own subjectivity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39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   - a specific social identity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39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   - individual and collective belonging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39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it is a way of converting the body I have into the body I am</a:t>
            </a:r>
          </a:p>
        </p:txBody>
      </p:sp>
      <p:pic>
        <p:nvPicPr>
          <p:cNvPr id="4" name="Immagine 3">
            <a:extLst>
              <a:ext uri="{FF2B5EF4-FFF2-40B4-BE49-F238E27FC236}">
                <a16:creationId xmlns:a16="http://schemas.microsoft.com/office/drawing/2014/main" id="{783899FF-5AF2-9A9C-EAE3-B82DF57B046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68274" y="174392"/>
            <a:ext cx="1707028" cy="1707028"/>
          </a:xfrm>
          <a:prstGeom prst="rect">
            <a:avLst/>
          </a:prstGeom>
        </p:spPr>
      </p:pic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2715C938-DBC3-69B9-5545-A79E3CA758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it-IT" sz="1600" dirty="0">
                <a:solidFill>
                  <a:srgbClr val="0070C0"/>
                </a:solidFill>
              </a:rPr>
              <a:t>Maria Rita Bartolomei</a:t>
            </a:r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1E21FD0C-FF50-2C97-0C92-153B746314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43B825-0FCC-4E24-9AB0-B3A36126D33D}" type="slidenum">
              <a:rPr lang="it-IT" smtClean="0"/>
              <a:t>17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42229193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0E6D2019-5D2A-3C01-3023-D9D98C066F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68941"/>
            <a:ext cx="10515600" cy="899319"/>
          </a:xfrm>
        </p:spPr>
        <p:txBody>
          <a:bodyPr>
            <a:normAutofit fontScale="90000"/>
          </a:bodyPr>
          <a:lstStyle/>
          <a:p>
            <a:pPr algn="ctr"/>
            <a:r>
              <a:rPr lang="it-IT" sz="6000" dirty="0">
                <a:latin typeface="Britannic Bold" panose="020B0903060703020204" pitchFamily="34" charset="0"/>
              </a:rPr>
              <a:t>SOCIAL SEMIOTICS</a:t>
            </a:r>
            <a:endParaRPr lang="it-IT" sz="6000" dirty="0"/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DA877478-66C9-8E39-D2A6-2171B20C9EF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28916" y="1533385"/>
            <a:ext cx="11250708" cy="4822965"/>
          </a:xfrm>
        </p:spPr>
        <p:txBody>
          <a:bodyPr>
            <a:normAutofit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3600" b="1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Semantics of the human body</a:t>
            </a:r>
          </a:p>
          <a:p>
            <a:pPr marL="0" indent="0" algn="ctr">
              <a:lnSpc>
                <a:spcPct val="100000"/>
              </a:lnSpc>
              <a:spcBef>
                <a:spcPts val="0"/>
              </a:spcBef>
              <a:buNone/>
            </a:pPr>
            <a:endParaRPr lang="en-US" sz="2000" b="1" dirty="0"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Tattooing and piercing perform multiple functions, which sometimes range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from the therapeutic, superstitious and apotropaic one, to that of initiation</a:t>
            </a:r>
          </a:p>
          <a:p>
            <a:pPr marL="0" indent="0" algn="ctr">
              <a:lnSpc>
                <a:spcPct val="100000"/>
              </a:lnSpc>
              <a:spcBef>
                <a:spcPts val="0"/>
              </a:spcBef>
              <a:buNone/>
            </a:pPr>
            <a:endParaRPr lang="en-US" sz="4000" b="1" dirty="0"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pic>
        <p:nvPicPr>
          <p:cNvPr id="4" name="Immagine 3">
            <a:extLst>
              <a:ext uri="{FF2B5EF4-FFF2-40B4-BE49-F238E27FC236}">
                <a16:creationId xmlns:a16="http://schemas.microsoft.com/office/drawing/2014/main" id="{783899FF-5AF2-9A9C-EAE3-B82DF57B046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68274" y="174392"/>
            <a:ext cx="1707028" cy="1707028"/>
          </a:xfrm>
          <a:prstGeom prst="rect">
            <a:avLst/>
          </a:prstGeom>
        </p:spPr>
      </p:pic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2715C938-DBC3-69B9-5545-A79E3CA758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it-IT" sz="1600" dirty="0">
                <a:solidFill>
                  <a:srgbClr val="0070C0"/>
                </a:solidFill>
              </a:rPr>
              <a:t>Maria Rita Bartolomei</a:t>
            </a:r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1E21FD0C-FF50-2C97-0C92-153B746314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43B825-0FCC-4E24-9AB0-B3A36126D33D}" type="slidenum">
              <a:rPr lang="it-IT" smtClean="0"/>
              <a:t>18</a:t>
            </a:fld>
            <a:endParaRPr lang="it-IT"/>
          </a:p>
        </p:txBody>
      </p:sp>
      <p:pic>
        <p:nvPicPr>
          <p:cNvPr id="7" name="Immagine 6">
            <a:extLst>
              <a:ext uri="{FF2B5EF4-FFF2-40B4-BE49-F238E27FC236}">
                <a16:creationId xmlns:a16="http://schemas.microsoft.com/office/drawing/2014/main" id="{C63A7475-2B0B-A77E-E84F-8D14042C2D6C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7165" y="3491365"/>
            <a:ext cx="2069892" cy="3084335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8" name="Immagine 7">
            <a:extLst>
              <a:ext uri="{FF2B5EF4-FFF2-40B4-BE49-F238E27FC236}">
                <a16:creationId xmlns:a16="http://schemas.microsoft.com/office/drawing/2014/main" id="{A60D6682-5FB8-30B1-031E-94B469D5DFF9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47045" y="3429000"/>
            <a:ext cx="2855795" cy="3386604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9" name="Immagine 8">
            <a:extLst>
              <a:ext uri="{FF2B5EF4-FFF2-40B4-BE49-F238E27FC236}">
                <a16:creationId xmlns:a16="http://schemas.microsoft.com/office/drawing/2014/main" id="{EE416673-5275-1DF6-D748-C8CC07A1A490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71315" y="3813175"/>
            <a:ext cx="3810000" cy="2543175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107021898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0E6D2019-5D2A-3C01-3023-D9D98C066F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68941"/>
            <a:ext cx="10515600" cy="1169895"/>
          </a:xfrm>
        </p:spPr>
        <p:txBody>
          <a:bodyPr>
            <a:normAutofit/>
          </a:bodyPr>
          <a:lstStyle/>
          <a:p>
            <a:pPr algn="ctr"/>
            <a:r>
              <a:rPr lang="it-IT" sz="6000" dirty="0">
                <a:latin typeface="Britannic Bold" panose="020B0903060703020204" pitchFamily="34" charset="0"/>
              </a:rPr>
              <a:t>SOCIAL SEMIOTICS</a:t>
            </a:r>
            <a:endParaRPr lang="it-IT" sz="6000" dirty="0"/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DA877478-66C9-8E39-D2A6-2171B20C9EF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28916" y="1761565"/>
            <a:ext cx="11250708" cy="4594785"/>
          </a:xfrm>
        </p:spPr>
        <p:txBody>
          <a:bodyPr>
            <a:normAutofit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4000" b="1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Semantics of the human body</a:t>
            </a:r>
          </a:p>
          <a:p>
            <a:pPr marL="0" indent="0" algn="ctr">
              <a:lnSpc>
                <a:spcPct val="100000"/>
              </a:lnSpc>
              <a:spcBef>
                <a:spcPts val="0"/>
              </a:spcBef>
              <a:buNone/>
            </a:pPr>
            <a:endParaRPr lang="en-US" sz="2000" b="1" dirty="0"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36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Tattooing, piercing and scarification are artistic practices 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36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which have the power to define</a:t>
            </a:r>
          </a:p>
          <a:p>
            <a:pPr>
              <a:lnSpc>
                <a:spcPct val="100000"/>
              </a:lnSpc>
              <a:spcBef>
                <a:spcPts val="0"/>
              </a:spcBef>
              <a:buFont typeface="Wingdings" panose="05000000000000000000" pitchFamily="2" charset="2"/>
              <a:buChar char="Ø"/>
            </a:pPr>
            <a:r>
              <a:rPr lang="en-US" sz="36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who is worthy of belonging to a community</a:t>
            </a:r>
          </a:p>
          <a:p>
            <a:pPr>
              <a:lnSpc>
                <a:spcPct val="100000"/>
              </a:lnSpc>
              <a:spcBef>
                <a:spcPts val="0"/>
              </a:spcBef>
              <a:buFont typeface="Wingdings" panose="05000000000000000000" pitchFamily="2" charset="2"/>
              <a:buChar char="Ø"/>
            </a:pPr>
            <a:r>
              <a:rPr lang="en-US" sz="36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who is excluded</a:t>
            </a:r>
          </a:p>
        </p:txBody>
      </p:sp>
      <p:pic>
        <p:nvPicPr>
          <p:cNvPr id="4" name="Immagine 3">
            <a:extLst>
              <a:ext uri="{FF2B5EF4-FFF2-40B4-BE49-F238E27FC236}">
                <a16:creationId xmlns:a16="http://schemas.microsoft.com/office/drawing/2014/main" id="{783899FF-5AF2-9A9C-EAE3-B82DF57B046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68274" y="174392"/>
            <a:ext cx="1707028" cy="1707028"/>
          </a:xfrm>
          <a:prstGeom prst="rect">
            <a:avLst/>
          </a:prstGeom>
        </p:spPr>
      </p:pic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2715C938-DBC3-69B9-5545-A79E3CA758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it-IT" sz="1600" dirty="0">
                <a:solidFill>
                  <a:srgbClr val="0070C0"/>
                </a:solidFill>
              </a:rPr>
              <a:t>Maria Rita Bartolomei</a:t>
            </a:r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1E21FD0C-FF50-2C97-0C92-153B746314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43B825-0FCC-4E24-9AB0-B3A36126D33D}" type="slidenum">
              <a:rPr lang="it-IT" smtClean="0"/>
              <a:t>19</a:t>
            </a:fld>
            <a:endParaRPr lang="it-IT"/>
          </a:p>
        </p:txBody>
      </p:sp>
      <p:pic>
        <p:nvPicPr>
          <p:cNvPr id="7" name="Immagine 6">
            <a:extLst>
              <a:ext uri="{FF2B5EF4-FFF2-40B4-BE49-F238E27FC236}">
                <a16:creationId xmlns:a16="http://schemas.microsoft.com/office/drawing/2014/main" id="{F0B53E5D-C2EB-ED2F-C279-C766BC88A42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41114" y="4487700"/>
            <a:ext cx="3516683" cy="2101359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251088820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0E6D2019-5D2A-3C01-3023-D9D98C066F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68941"/>
            <a:ext cx="10515600" cy="899319"/>
          </a:xfrm>
        </p:spPr>
        <p:txBody>
          <a:bodyPr>
            <a:normAutofit fontScale="90000"/>
          </a:bodyPr>
          <a:lstStyle/>
          <a:p>
            <a:pPr algn="ctr"/>
            <a:r>
              <a:rPr lang="it-IT" sz="6000" dirty="0">
                <a:latin typeface="Britannic Bold" panose="020B0903060703020204" pitchFamily="34" charset="0"/>
              </a:rPr>
              <a:t>SOCIAL SEMIOTICS</a:t>
            </a:r>
            <a:endParaRPr lang="it-IT" sz="6000" dirty="0"/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DA877478-66C9-8E39-D2A6-2171B20C9EF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12376" y="1364777"/>
            <a:ext cx="11367248" cy="4991574"/>
          </a:xfrm>
        </p:spPr>
        <p:txBody>
          <a:bodyPr>
            <a:normAutofit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4000" b="1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Semantics of the human body</a:t>
            </a:r>
          </a:p>
          <a:p>
            <a:pPr marL="0" indent="0" algn="ctr">
              <a:lnSpc>
                <a:spcPct val="100000"/>
              </a:lnSpc>
              <a:spcBef>
                <a:spcPts val="0"/>
              </a:spcBef>
              <a:buNone/>
            </a:pPr>
            <a:endParaRPr lang="en-US" sz="2000" b="1" dirty="0"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As a system of transmission of knowledge and culture</a:t>
            </a:r>
          </a:p>
          <a:p>
            <a:pPr>
              <a:lnSpc>
                <a:spcPct val="100000"/>
              </a:lnSpc>
              <a:spcBef>
                <a:spcPts val="0"/>
              </a:spcBef>
              <a:buFont typeface="Wingdings" panose="05000000000000000000" pitchFamily="2" charset="2"/>
              <a:buChar char="Ø"/>
            </a:pPr>
            <a:r>
              <a:rPr lang="en-US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tattooing, piercing and scarification continued to be perceived</a:t>
            </a:r>
          </a:p>
          <a:p>
            <a:pPr>
              <a:lnSpc>
                <a:spcPct val="100000"/>
              </a:lnSpc>
              <a:spcBef>
                <a:spcPts val="0"/>
              </a:spcBef>
              <a:buFont typeface="Wingdings" panose="05000000000000000000" pitchFamily="2" charset="2"/>
              <a:buChar char="ü"/>
            </a:pPr>
            <a:r>
              <a:rPr lang="en-US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like a visual language of the skin</a:t>
            </a:r>
          </a:p>
          <a:p>
            <a:pPr>
              <a:lnSpc>
                <a:spcPct val="100000"/>
              </a:lnSpc>
              <a:spcBef>
                <a:spcPts val="0"/>
              </a:spcBef>
              <a:buFont typeface="Wingdings" panose="05000000000000000000" pitchFamily="2" charset="2"/>
              <a:buChar char="ü"/>
            </a:pPr>
            <a:r>
              <a:rPr lang="en-US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on which culture is written, lived and preserved in a myriad of specific ways</a:t>
            </a:r>
          </a:p>
        </p:txBody>
      </p:sp>
      <p:pic>
        <p:nvPicPr>
          <p:cNvPr id="4" name="Immagine 3">
            <a:extLst>
              <a:ext uri="{FF2B5EF4-FFF2-40B4-BE49-F238E27FC236}">
                <a16:creationId xmlns:a16="http://schemas.microsoft.com/office/drawing/2014/main" id="{783899FF-5AF2-9A9C-EAE3-B82DF57B046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68274" y="174392"/>
            <a:ext cx="1707028" cy="1707028"/>
          </a:xfrm>
          <a:prstGeom prst="rect">
            <a:avLst/>
          </a:prstGeom>
        </p:spPr>
      </p:pic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2715C938-DBC3-69B9-5545-A79E3CA758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it-IT" sz="1600" dirty="0">
                <a:solidFill>
                  <a:srgbClr val="0070C0"/>
                </a:solidFill>
              </a:rPr>
              <a:t>Maria Rita Bartolomei</a:t>
            </a:r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1E21FD0C-FF50-2C97-0C92-153B746314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43B825-0FCC-4E24-9AB0-B3A36126D33D}" type="slidenum">
              <a:rPr lang="it-IT" smtClean="0"/>
              <a:t>20</a:t>
            </a:fld>
            <a:endParaRPr lang="it-IT"/>
          </a:p>
        </p:txBody>
      </p:sp>
      <p:pic>
        <p:nvPicPr>
          <p:cNvPr id="7" name="Immagine 6">
            <a:extLst>
              <a:ext uri="{FF2B5EF4-FFF2-40B4-BE49-F238E27FC236}">
                <a16:creationId xmlns:a16="http://schemas.microsoft.com/office/drawing/2014/main" id="{CEB40392-E2C3-6326-A307-72836403EC1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2376" y="4339072"/>
            <a:ext cx="4114800" cy="2288858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8" name="Immagine 7">
            <a:extLst>
              <a:ext uri="{FF2B5EF4-FFF2-40B4-BE49-F238E27FC236}">
                <a16:creationId xmlns:a16="http://schemas.microsoft.com/office/drawing/2014/main" id="{49B23995-60C4-2ED4-90E6-C557788762C3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30807"/>
          <a:stretch/>
        </p:blipFill>
        <p:spPr>
          <a:xfrm>
            <a:off x="4670166" y="4299316"/>
            <a:ext cx="2994660" cy="2072085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9" name="Immagine 8">
            <a:extLst>
              <a:ext uri="{FF2B5EF4-FFF2-40B4-BE49-F238E27FC236}">
                <a16:creationId xmlns:a16="http://schemas.microsoft.com/office/drawing/2014/main" id="{8A734E24-3918-4544-B7EA-2D905D8E0287}"/>
              </a:ext>
            </a:extLst>
          </p:cNvPr>
          <p:cNvPicPr>
            <a:picLocks noChangeAspect="1"/>
          </p:cNvPicPr>
          <p:nvPr/>
        </p:nvPicPr>
        <p:blipFill rotWithShape="1"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9766" t="4912" r="8481" b="4561"/>
          <a:stretch/>
        </p:blipFill>
        <p:spPr>
          <a:xfrm>
            <a:off x="9473489" y="4254221"/>
            <a:ext cx="2143699" cy="2373709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2447269908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0E6D2019-5D2A-3C01-3023-D9D98C066F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68941"/>
            <a:ext cx="10515600" cy="1169895"/>
          </a:xfrm>
        </p:spPr>
        <p:txBody>
          <a:bodyPr>
            <a:normAutofit/>
          </a:bodyPr>
          <a:lstStyle/>
          <a:p>
            <a:pPr algn="ctr"/>
            <a:r>
              <a:rPr lang="it-IT" sz="6000" dirty="0">
                <a:latin typeface="Britannic Bold" panose="020B0903060703020204" pitchFamily="34" charset="0"/>
              </a:rPr>
              <a:t>SOCIAL SEMIOTICS</a:t>
            </a:r>
            <a:endParaRPr lang="it-IT" sz="6000" dirty="0"/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DA877478-66C9-8E39-D2A6-2171B20C9EF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28916" y="1761565"/>
            <a:ext cx="11250708" cy="4594785"/>
          </a:xfrm>
        </p:spPr>
        <p:txBody>
          <a:bodyPr>
            <a:normAutofit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4000" b="1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Semantics of the human body</a:t>
            </a:r>
          </a:p>
          <a:p>
            <a:pPr marL="0" indent="0"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3600" b="1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The body as a social and cultural fact</a:t>
            </a:r>
          </a:p>
        </p:txBody>
      </p:sp>
      <p:pic>
        <p:nvPicPr>
          <p:cNvPr id="4" name="Immagine 3">
            <a:extLst>
              <a:ext uri="{FF2B5EF4-FFF2-40B4-BE49-F238E27FC236}">
                <a16:creationId xmlns:a16="http://schemas.microsoft.com/office/drawing/2014/main" id="{783899FF-5AF2-9A9C-EAE3-B82DF57B046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68274" y="174392"/>
            <a:ext cx="1707028" cy="1707028"/>
          </a:xfrm>
          <a:prstGeom prst="rect">
            <a:avLst/>
          </a:prstGeom>
        </p:spPr>
      </p:pic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2715C938-DBC3-69B9-5545-A79E3CA758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it-IT" sz="1600" dirty="0">
                <a:solidFill>
                  <a:srgbClr val="0070C0"/>
                </a:solidFill>
              </a:rPr>
              <a:t>Maria Rita Bartolomei</a:t>
            </a:r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1E21FD0C-FF50-2C97-0C92-153B746314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43B825-0FCC-4E24-9AB0-B3A36126D33D}" type="slidenum">
              <a:rPr lang="it-IT" smtClean="0"/>
              <a:t>21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920001015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0E6D2019-5D2A-3C01-3023-D9D98C066F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68941"/>
            <a:ext cx="10515600" cy="1169895"/>
          </a:xfrm>
        </p:spPr>
        <p:txBody>
          <a:bodyPr>
            <a:normAutofit/>
          </a:bodyPr>
          <a:lstStyle/>
          <a:p>
            <a:pPr algn="ctr"/>
            <a:r>
              <a:rPr lang="it-IT" sz="6000" dirty="0">
                <a:latin typeface="Britannic Bold" panose="020B0903060703020204" pitchFamily="34" charset="0"/>
              </a:rPr>
              <a:t>SOCIAL SEMIOTICS</a:t>
            </a:r>
            <a:endParaRPr lang="it-IT" sz="6000" dirty="0"/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DA877478-66C9-8E39-D2A6-2171B20C9EF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28916" y="1761565"/>
            <a:ext cx="11250708" cy="4594785"/>
          </a:xfrm>
        </p:spPr>
        <p:txBody>
          <a:bodyPr>
            <a:normAutofit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4000" b="1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Semantics of the human body</a:t>
            </a:r>
          </a:p>
          <a:p>
            <a:pPr marL="0" indent="0"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3600" b="1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The body as a social and cultural fact</a:t>
            </a:r>
          </a:p>
        </p:txBody>
      </p:sp>
      <p:pic>
        <p:nvPicPr>
          <p:cNvPr id="4" name="Immagine 3">
            <a:extLst>
              <a:ext uri="{FF2B5EF4-FFF2-40B4-BE49-F238E27FC236}">
                <a16:creationId xmlns:a16="http://schemas.microsoft.com/office/drawing/2014/main" id="{783899FF-5AF2-9A9C-EAE3-B82DF57B046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68274" y="174392"/>
            <a:ext cx="1707028" cy="1707028"/>
          </a:xfrm>
          <a:prstGeom prst="rect">
            <a:avLst/>
          </a:prstGeom>
        </p:spPr>
      </p:pic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2715C938-DBC3-69B9-5545-A79E3CA758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it-IT" sz="1600" dirty="0">
                <a:solidFill>
                  <a:srgbClr val="0070C0"/>
                </a:solidFill>
              </a:rPr>
              <a:t>Maria Rita Bartolomei</a:t>
            </a:r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1E21FD0C-FF50-2C97-0C92-153B746314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43B825-0FCC-4E24-9AB0-B3A36126D33D}" type="slidenum">
              <a:rPr lang="it-IT" smtClean="0"/>
              <a:t>22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696350909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0E6D2019-5D2A-3C01-3023-D9D98C066F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68941"/>
            <a:ext cx="10515600" cy="1169895"/>
          </a:xfrm>
        </p:spPr>
        <p:txBody>
          <a:bodyPr>
            <a:normAutofit/>
          </a:bodyPr>
          <a:lstStyle/>
          <a:p>
            <a:pPr algn="ctr"/>
            <a:r>
              <a:rPr lang="it-IT" sz="6000" dirty="0">
                <a:latin typeface="Britannic Bold" panose="020B0903060703020204" pitchFamily="34" charset="0"/>
              </a:rPr>
              <a:t>SOCIAL SEMIOTICS</a:t>
            </a:r>
            <a:endParaRPr lang="it-IT" sz="6000" dirty="0"/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DA877478-66C9-8E39-D2A6-2171B20C9EF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28916" y="1761565"/>
            <a:ext cx="11250708" cy="4594785"/>
          </a:xfrm>
        </p:spPr>
        <p:txBody>
          <a:bodyPr>
            <a:normAutofit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4000" b="1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Semantics of the human body</a:t>
            </a:r>
          </a:p>
          <a:p>
            <a:pPr marL="0" indent="0"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3600" b="1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The body as a social and cultural fact</a:t>
            </a:r>
          </a:p>
        </p:txBody>
      </p:sp>
      <p:pic>
        <p:nvPicPr>
          <p:cNvPr id="4" name="Immagine 3">
            <a:extLst>
              <a:ext uri="{FF2B5EF4-FFF2-40B4-BE49-F238E27FC236}">
                <a16:creationId xmlns:a16="http://schemas.microsoft.com/office/drawing/2014/main" id="{783899FF-5AF2-9A9C-EAE3-B82DF57B046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68274" y="174392"/>
            <a:ext cx="1707028" cy="1707028"/>
          </a:xfrm>
          <a:prstGeom prst="rect">
            <a:avLst/>
          </a:prstGeom>
        </p:spPr>
      </p:pic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2715C938-DBC3-69B9-5545-A79E3CA758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it-IT" sz="1600" dirty="0">
                <a:solidFill>
                  <a:srgbClr val="0070C0"/>
                </a:solidFill>
              </a:rPr>
              <a:t>Maria Rita Bartolomei</a:t>
            </a:r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1E21FD0C-FF50-2C97-0C92-153B746314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43B825-0FCC-4E24-9AB0-B3A36126D33D}" type="slidenum">
              <a:rPr lang="it-IT" smtClean="0"/>
              <a:t>23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244168346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0E6D2019-5D2A-3C01-3023-D9D98C066F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68941"/>
            <a:ext cx="10515600" cy="1169895"/>
          </a:xfrm>
        </p:spPr>
        <p:txBody>
          <a:bodyPr>
            <a:normAutofit/>
          </a:bodyPr>
          <a:lstStyle/>
          <a:p>
            <a:pPr algn="ctr"/>
            <a:r>
              <a:rPr lang="it-IT" sz="6000" dirty="0">
                <a:latin typeface="Britannic Bold" panose="020B0903060703020204" pitchFamily="34" charset="0"/>
              </a:rPr>
              <a:t>SOCIAL SEMIOTICS</a:t>
            </a:r>
            <a:endParaRPr lang="it-IT" sz="6000" dirty="0"/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DA877478-66C9-8E39-D2A6-2171B20C9EF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28916" y="1761565"/>
            <a:ext cx="11250708" cy="4594785"/>
          </a:xfrm>
        </p:spPr>
        <p:txBody>
          <a:bodyPr>
            <a:normAutofit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4000" b="1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Semantics of the human body</a:t>
            </a:r>
          </a:p>
          <a:p>
            <a:pPr marL="0" indent="0"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3600" b="1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The body as a social and cultural fact</a:t>
            </a:r>
          </a:p>
        </p:txBody>
      </p:sp>
      <p:pic>
        <p:nvPicPr>
          <p:cNvPr id="4" name="Immagine 3">
            <a:extLst>
              <a:ext uri="{FF2B5EF4-FFF2-40B4-BE49-F238E27FC236}">
                <a16:creationId xmlns:a16="http://schemas.microsoft.com/office/drawing/2014/main" id="{783899FF-5AF2-9A9C-EAE3-B82DF57B046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68274" y="174392"/>
            <a:ext cx="1707028" cy="1707028"/>
          </a:xfrm>
          <a:prstGeom prst="rect">
            <a:avLst/>
          </a:prstGeom>
        </p:spPr>
      </p:pic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2715C938-DBC3-69B9-5545-A79E3CA758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it-IT" sz="1600" dirty="0">
                <a:solidFill>
                  <a:srgbClr val="0070C0"/>
                </a:solidFill>
              </a:rPr>
              <a:t>Maria Rita Bartolomei</a:t>
            </a:r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1E21FD0C-FF50-2C97-0C92-153B746314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43B825-0FCC-4E24-9AB0-B3A36126D33D}" type="slidenum">
              <a:rPr lang="it-IT" smtClean="0"/>
              <a:t>24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371074896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0E6D2019-5D2A-3C01-3023-D9D98C066F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68941"/>
            <a:ext cx="10515600" cy="1169895"/>
          </a:xfrm>
        </p:spPr>
        <p:txBody>
          <a:bodyPr>
            <a:normAutofit/>
          </a:bodyPr>
          <a:lstStyle/>
          <a:p>
            <a:pPr algn="ctr"/>
            <a:r>
              <a:rPr lang="it-IT" sz="6000" dirty="0">
                <a:latin typeface="Britannic Bold" panose="020B0903060703020204" pitchFamily="34" charset="0"/>
              </a:rPr>
              <a:t>SOCIAL SEMIOTICS</a:t>
            </a:r>
            <a:endParaRPr lang="it-IT" sz="6000" dirty="0"/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DA877478-66C9-8E39-D2A6-2171B20C9EF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28916" y="1761565"/>
            <a:ext cx="11250708" cy="4594785"/>
          </a:xfrm>
        </p:spPr>
        <p:txBody>
          <a:bodyPr>
            <a:normAutofit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4000" b="1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Semantics of the human body</a:t>
            </a:r>
          </a:p>
          <a:p>
            <a:pPr marL="0" indent="0"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3600" b="1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The body as a social and cultural fact</a:t>
            </a:r>
          </a:p>
        </p:txBody>
      </p:sp>
      <p:pic>
        <p:nvPicPr>
          <p:cNvPr id="4" name="Immagine 3">
            <a:extLst>
              <a:ext uri="{FF2B5EF4-FFF2-40B4-BE49-F238E27FC236}">
                <a16:creationId xmlns:a16="http://schemas.microsoft.com/office/drawing/2014/main" id="{783899FF-5AF2-9A9C-EAE3-B82DF57B046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68274" y="174392"/>
            <a:ext cx="1707028" cy="1707028"/>
          </a:xfrm>
          <a:prstGeom prst="rect">
            <a:avLst/>
          </a:prstGeom>
        </p:spPr>
      </p:pic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2715C938-DBC3-69B9-5545-A79E3CA758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it-IT" sz="1600" dirty="0">
                <a:solidFill>
                  <a:srgbClr val="0070C0"/>
                </a:solidFill>
              </a:rPr>
              <a:t>Maria Rita Bartolomei</a:t>
            </a:r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1E21FD0C-FF50-2C97-0C92-153B746314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43B825-0FCC-4E24-9AB0-B3A36126D33D}" type="slidenum">
              <a:rPr lang="it-IT" smtClean="0"/>
              <a:t>25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642743752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i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FB55790047DD8148ABBA2789AA47C320" ma:contentTypeVersion="9" ma:contentTypeDescription="Creare un nuovo documento." ma:contentTypeScope="" ma:versionID="f5d0184f3c0a15a1e0d0131ea4b30a13">
  <xsd:schema xmlns:xsd="http://www.w3.org/2001/XMLSchema" xmlns:xs="http://www.w3.org/2001/XMLSchema" xmlns:p="http://schemas.microsoft.com/office/2006/metadata/properties" xmlns:ns2="4c1e1bc0-20d7-4915-b349-ec50805d4704" xmlns:ns3="17b4f9ba-5d33-4440-816d-df83934b65a5" targetNamespace="http://schemas.microsoft.com/office/2006/metadata/properties" ma:root="true" ma:fieldsID="7198817151beefd45f5913d772bfde97" ns2:_="" ns3:_="">
    <xsd:import namespace="4c1e1bc0-20d7-4915-b349-ec50805d4704"/>
    <xsd:import namespace="17b4f9ba-5d33-4440-816d-df83934b65a5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lcf76f155ced4ddcb4097134ff3c332f" minOccurs="0"/>
                <xsd:element ref="ns3:TaxCatchAll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ServiceObjectDetectorVersion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4c1e1bc0-20d7-4915-b349-ec50805d4704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lcf76f155ced4ddcb4097134ff3c332f" ma:index="11" nillable="true" ma:taxonomy="true" ma:internalName="lcf76f155ced4ddcb4097134ff3c332f" ma:taxonomyFieldName="MediaServiceImageTags" ma:displayName="Tag immagine" ma:readOnly="false" ma:fieldId="{5cf76f15-5ced-4ddc-b409-7134ff3c332f}" ma:taxonomyMulti="true" ma:sspId="35712a47-566f-4e2f-ac2c-6a691c9ee469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3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4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5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ObjectDetectorVersions" ma:index="16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7b4f9ba-5d33-4440-816d-df83934b65a5" elementFormDefault="qualified">
    <xsd:import namespace="http://schemas.microsoft.com/office/2006/documentManagement/types"/>
    <xsd:import namespace="http://schemas.microsoft.com/office/infopath/2007/PartnerControls"/>
    <xsd:element name="TaxCatchAll" ma:index="12" nillable="true" ma:displayName="Taxonomy Catch All Column" ma:hidden="true" ma:list="{7a00fc7f-b5c3-40ce-a31d-e4a375ba7a0b}" ma:internalName="TaxCatchAll" ma:showField="CatchAllData" ma:web="17b4f9ba-5d33-4440-816d-df83934b65a5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ipo di contenuto"/>
        <xsd:element ref="dc:title" minOccurs="0" maxOccurs="1" ma:index="4" ma:displayName="Tito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17b4f9ba-5d33-4440-816d-df83934b65a5" xsi:nil="true"/>
    <lcf76f155ced4ddcb4097134ff3c332f xmlns="4c1e1bc0-20d7-4915-b349-ec50805d4704">
      <Terms xmlns="http://schemas.microsoft.com/office/infopath/2007/PartnerControls"/>
    </lcf76f155ced4ddcb4097134ff3c332f>
  </documentManagement>
</p:properties>
</file>

<file path=customXml/itemProps1.xml><?xml version="1.0" encoding="utf-8"?>
<ds:datastoreItem xmlns:ds="http://schemas.openxmlformats.org/officeDocument/2006/customXml" ds:itemID="{5EBE78A6-23AC-4E74-9B10-31F73E335F18}"/>
</file>

<file path=customXml/itemProps2.xml><?xml version="1.0" encoding="utf-8"?>
<ds:datastoreItem xmlns:ds="http://schemas.openxmlformats.org/officeDocument/2006/customXml" ds:itemID="{8BB66A24-BEFF-427F-A712-BCEA338A08F8}"/>
</file>

<file path=customXml/itemProps3.xml><?xml version="1.0" encoding="utf-8"?>
<ds:datastoreItem xmlns:ds="http://schemas.openxmlformats.org/officeDocument/2006/customXml" ds:itemID="{9B27E43F-5942-4F74-BB38-78AD60EDC89E}"/>
</file>

<file path=docProps/app.xml><?xml version="1.0" encoding="utf-8"?>
<Properties xmlns="http://schemas.openxmlformats.org/officeDocument/2006/extended-properties" xmlns:vt="http://schemas.openxmlformats.org/officeDocument/2006/docPropsVTypes">
  <TotalTime>160</TotalTime>
  <Words>939</Words>
  <Application>Microsoft Office PowerPoint</Application>
  <PresentationFormat>Widescreen</PresentationFormat>
  <Paragraphs>222</Paragraphs>
  <Slides>25</Slides>
  <Notes>0</Notes>
  <HiddenSlides>0</HiddenSlides>
  <MMClips>0</MMClips>
  <ScaleCrop>false</ScaleCrop>
  <HeadingPairs>
    <vt:vector size="6" baseType="variant">
      <vt:variant>
        <vt:lpstr>Caratteri utilizzati</vt:lpstr>
      </vt:variant>
      <vt:variant>
        <vt:i4>6</vt:i4>
      </vt:variant>
      <vt:variant>
        <vt:lpstr>Tema</vt:lpstr>
      </vt:variant>
      <vt:variant>
        <vt:i4>1</vt:i4>
      </vt:variant>
      <vt:variant>
        <vt:lpstr>Titoli diapositive</vt:lpstr>
      </vt:variant>
      <vt:variant>
        <vt:i4>25</vt:i4>
      </vt:variant>
    </vt:vector>
  </HeadingPairs>
  <TitlesOfParts>
    <vt:vector size="32" baseType="lpstr">
      <vt:lpstr>Arial</vt:lpstr>
      <vt:lpstr>Britannic Bold</vt:lpstr>
      <vt:lpstr>Calibri</vt:lpstr>
      <vt:lpstr>Calibri Light</vt:lpstr>
      <vt:lpstr>Times New Roman</vt:lpstr>
      <vt:lpstr>Wingdings</vt:lpstr>
      <vt:lpstr>Tema di Office</vt:lpstr>
      <vt:lpstr>UNIVERSITY OF MESSINA</vt:lpstr>
      <vt:lpstr>SOCIAL SEMIOTICS</vt:lpstr>
      <vt:lpstr>SOCIAL SEMIOTICS</vt:lpstr>
      <vt:lpstr>SOCIAL SEMIOTICS</vt:lpstr>
      <vt:lpstr>SOCIAL SEMIOTICS</vt:lpstr>
      <vt:lpstr>SOCIAL SEMIOTICS</vt:lpstr>
      <vt:lpstr>SOCIAL SEMIOTICS</vt:lpstr>
      <vt:lpstr>SOCIAL SEMIOTICS</vt:lpstr>
      <vt:lpstr>SOCIAL SEMIOTICS</vt:lpstr>
      <vt:lpstr>SOCIAL SEMIOTICS</vt:lpstr>
      <vt:lpstr>SOCIAL SEMIOTICS</vt:lpstr>
      <vt:lpstr>SOCIAL SEMIOTICS</vt:lpstr>
      <vt:lpstr>SOCIAL SEMIOTICS</vt:lpstr>
      <vt:lpstr>SOCIAL SEMIOTICS</vt:lpstr>
      <vt:lpstr>SOCIAL SEMIOTICS</vt:lpstr>
      <vt:lpstr>SOCIAL SEMIOTICS</vt:lpstr>
      <vt:lpstr>SOCIAL SEMIOTICS</vt:lpstr>
      <vt:lpstr>SOCIAL SEMIOTICS</vt:lpstr>
      <vt:lpstr>SOCIAL SEMIOTICS</vt:lpstr>
      <vt:lpstr>SOCIAL SEMIOTICS</vt:lpstr>
      <vt:lpstr>SOCIAL SEMIOTICS</vt:lpstr>
      <vt:lpstr>SOCIAL SEMIOTICS</vt:lpstr>
      <vt:lpstr>SOCIAL SEMIOTICS</vt:lpstr>
      <vt:lpstr>SOCIAL SEMIOTICS</vt:lpstr>
      <vt:lpstr>SOCIAL SEMIOTICS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Presentazione standard di PowerPoint</dc:title>
  <dc:creator>MARIA RITA BARTOLOMEI</dc:creator>
  <cp:lastModifiedBy>MARIA RITA BARTOLOMEI</cp:lastModifiedBy>
  <cp:revision>21</cp:revision>
  <dcterms:created xsi:type="dcterms:W3CDTF">2023-05-25T12:31:11Z</dcterms:created>
  <dcterms:modified xsi:type="dcterms:W3CDTF">2023-05-28T21:27:14Z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0x010100FB55790047DD8148ABBA2789AA47C320</vt:lpwstr>
  </property>
</Properties>
</file>