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20" r:id="rId3"/>
    <p:sldId id="330" r:id="rId4"/>
    <p:sldId id="267" r:id="rId5"/>
    <p:sldId id="331" r:id="rId6"/>
    <p:sldId id="268" r:id="rId7"/>
    <p:sldId id="269" r:id="rId8"/>
    <p:sldId id="333" r:id="rId9"/>
    <p:sldId id="334" r:id="rId10"/>
    <p:sldId id="270" r:id="rId11"/>
    <p:sldId id="271" r:id="rId12"/>
    <p:sldId id="332" r:id="rId13"/>
    <p:sldId id="335" r:id="rId14"/>
    <p:sldId id="336" r:id="rId15"/>
    <p:sldId id="337" r:id="rId16"/>
    <p:sldId id="341" r:id="rId17"/>
    <p:sldId id="338" r:id="rId18"/>
    <p:sldId id="339" r:id="rId19"/>
    <p:sldId id="342" r:id="rId20"/>
    <p:sldId id="340" r:id="rId21"/>
    <p:sldId id="343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70139B-200B-6325-F43B-336EBBD51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DC26E20-E18F-1458-8CC4-8DCCAC4FB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8E12D0-5910-7E3A-9DF2-9DEF3B4B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86505E-0BD5-3085-D19F-B2D6B518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7F804E-ABBA-8848-08CC-0202CC5F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5027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A9CC10-BADB-596B-2145-56C2BB92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345B95-F8FB-9BDD-1E34-E5D998C25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DE85BA-3B66-94E4-8CF2-41491998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BA20E7-F3F3-53F2-1C11-494E450D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F8A6CA-B041-8B6F-8BEF-4C6A17AF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3297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90A5DD-9AC6-3471-9AA1-D023F89E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C8E0915-C20D-1AB1-8944-DFD90B9A8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1AC1C2-750B-26F8-994B-9BA8E8B9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3EA0459-3569-0FFA-848F-FAE9969E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DB5413-AA93-B3FE-DE80-1CC8891D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5885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84546C-8AB8-772C-469C-3CC5E8F9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BF0FDA-2072-C0C8-2D98-D54F1263E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B15E843-B57F-F570-8BEE-BCB52B9F6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034D2D6-50EC-D720-0141-A146913C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AC698B8-F406-9A78-8E5A-2E9BF162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02345CA-785C-D834-0747-F4CA6022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307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70A9E0-319F-819E-FF86-2D37A613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F640C5-F451-5B5B-1BFF-A8E3CABC4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F30A36A-944B-67F6-640B-B75D7C36D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FAF0BE7-B88C-8132-0D86-1A915A2ED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DFD6A6B-8527-76FE-202E-68CDF3303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9867F6D-6F15-C6A3-2405-140E63EF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1DBED79-11E7-B534-FF7F-1259C16A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6624429-E7A9-FF86-2276-08E611EF1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750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8E7177-A33C-ED2B-AAA7-291A2208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9FB10BC-2998-C600-C040-101726E3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00458A7-7D58-03BE-F475-683029DF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2812292-FCFA-8356-B813-A65EFB0D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1110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4E1EE2F-E002-AFC2-6D10-8C27A341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9A5234C-A0BA-620C-9FC8-E63DD387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7B3CF7-EDA7-2A14-33A8-0C6362F9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03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84AD06-2C3B-9E35-549F-5526CBEF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84F83B-AF02-FD33-D5F4-17EE86506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9557491-39A7-7EB1-F29C-07CD960B1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265EC6F-64F4-791E-B3EE-F6B7D0D9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05F82E5-0B0B-77BE-C047-67E44B4DC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E49E1B6-B655-1EBD-5618-81B3F02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454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438B96-1EF8-6833-9EE1-17AFE4BEA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73A5065-3099-A3B3-C1AF-36DBC6E6A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6A1B7F2-696D-162D-D6C9-740781676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7EC328E-40F3-266D-DDC6-2B35EC7A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72FF060-898D-CC19-BA75-2EBF41A9B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C4AB44-E6BA-3E66-B64B-6094DEF3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594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2974A3-A9BA-28AA-B29B-18F97FAC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5B5FE91-CAB0-E7DF-0E7A-4E0240827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C61022-1914-055C-2A05-7AD9A947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C66D11-B3DC-94AF-C4C5-5F101BDB5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AC89D0-D7BD-C738-4220-08CEE597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892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7734206-3868-90DB-874E-4444EADFB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F1C4FB4-BD9E-1D16-8D9D-141F42CDF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43E087-BC46-D9EA-5437-B302540A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F2D448-3B1C-12A9-CA11-3839844CF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14820C-3496-A174-1CE7-EE9B6D6AC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620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734A5D-B951-8496-15AA-55C493E2C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98BFD4-83FD-DA69-7C2E-4B8ED6C2C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E6E138-4B17-E3C7-7368-EB611F79C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629F3-3E4F-4157-A26A-E0DC28FBE260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8345CD-A288-4DF4-105A-78FA69753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8A321F-B87B-9C5E-AE3D-48D68D263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FED0F-EC01-49D4-996D-E5689F5966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345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Metonymy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process, a general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 of association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terms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type of connotation in which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 sign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replaces another with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which it is closely associated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sign used may represent </a:t>
            </a: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part, the whole, a function, an attribute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a concept related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the sign represented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255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Examples work metonymically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Stereotypes are metonymies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Visual metonymy is also common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3002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MYTH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coding in which</a:t>
            </a:r>
            <a:endParaRPr lang="it-IT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dominant term stands metonymically for all terms in the system</a:t>
            </a:r>
            <a:endParaRPr lang="it-IT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dominant metonymic relationship among terms stands metonymically for all relationships</a:t>
            </a:r>
            <a:endParaRPr lang="it-IT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249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concept of </a:t>
            </a:r>
            <a:r>
              <a:rPr lang="it-IT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myth</a:t>
            </a:r>
            <a:r>
              <a:rPr lang="it-IT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has</a:t>
            </a:r>
            <a:r>
              <a:rPr lang="it-IT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radically</a:t>
            </a:r>
            <a:r>
              <a:rPr lang="it-IT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changed</a:t>
            </a:r>
            <a:r>
              <a:rPr lang="it-IT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over time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“sacred story”, and hence “true history”</a:t>
            </a:r>
            <a:endParaRPr lang="it-IT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 primitive and “pre-logic” form of thought contrasting science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 cognitive operation that is different from, but as valid as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and complementary to scientific logic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6071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Binary opposition</a:t>
            </a:r>
            <a:endParaRPr lang="it-IT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 terms are in binary opposition when they are related through a quality which is present in one term and absent from the other</a:t>
            </a:r>
            <a:endParaRPr lang="it-IT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L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ight and dark; good and evil; traditional and modern</a:t>
            </a:r>
            <a:endParaRPr lang="it-IT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7064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675"/>
            <a:ext cx="10737102" cy="449828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woman’s place is in the home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is a mythical statement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woman who does the housework becomes a “real woman”</a:t>
            </a:r>
            <a:endParaRPr lang="it-IT" sz="32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  <p:pic>
        <p:nvPicPr>
          <p:cNvPr id="8" name="Immagine 7" descr="Immagine che contiene interno, cucina&#10;&#10;Descrizione generata automaticamente">
            <a:extLst>
              <a:ext uri="{FF2B5EF4-FFF2-40B4-BE49-F238E27FC236}">
                <a16:creationId xmlns:a16="http://schemas.microsoft.com/office/drawing/2014/main" id="{880B0259-93C4-B263-C184-037D6A990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57" y="3528183"/>
            <a:ext cx="4535770" cy="2921036"/>
          </a:xfrm>
          <a:prstGeom prst="rect">
            <a:avLst/>
          </a:prstGeom>
        </p:spPr>
      </p:pic>
      <p:pic>
        <p:nvPicPr>
          <p:cNvPr id="10" name="Immagine 9" descr="Immagine che contiene testo, giornale&#10;&#10;Descrizione generata automaticamente">
            <a:extLst>
              <a:ext uri="{FF2B5EF4-FFF2-40B4-BE49-F238E27FC236}">
                <a16:creationId xmlns:a16="http://schemas.microsoft.com/office/drawing/2014/main" id="{05EC1902-0842-8158-652F-13B8BFC0AD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13642" r="2754" b="2617"/>
          <a:stretch/>
        </p:blipFill>
        <p:spPr>
          <a:xfrm>
            <a:off x="4790916" y="3070747"/>
            <a:ext cx="2886234" cy="3650728"/>
          </a:xfrm>
          <a:prstGeom prst="rect">
            <a:avLst/>
          </a:prstGeom>
        </p:spPr>
      </p:pic>
      <p:pic>
        <p:nvPicPr>
          <p:cNvPr id="12" name="Immagine 11" descr="Immagine che contiene interno, muro, cucina, persona&#10;&#10;Descrizione generata automaticamente">
            <a:extLst>
              <a:ext uri="{FF2B5EF4-FFF2-40B4-BE49-F238E27FC236}">
                <a16:creationId xmlns:a16="http://schemas.microsoft.com/office/drawing/2014/main" id="{7D64ECE0-B276-8FA0-0DD1-7D57D3E12A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246" y="3781336"/>
            <a:ext cx="4132055" cy="27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79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32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Myth</a:t>
            </a:r>
            <a:r>
              <a:rPr lang="it-IT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metonymic</a:t>
            </a:r>
            <a:endParaRPr lang="it-IT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may</a:t>
            </a: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be </a:t>
            </a: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highly</a:t>
            </a: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selective</a:t>
            </a:r>
            <a:endParaRPr lang="it-IT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it-IT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emphasises a specific quality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</a:t>
            </a: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which is being made to stand for the whole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52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32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Myth</a:t>
            </a:r>
            <a:r>
              <a:rPr lang="it-IT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metonymic</a:t>
            </a:r>
            <a:endParaRPr lang="it-IT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mythical sign does not really depend on any accuracy of reference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 powerful agent of the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naturalisation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meaning, and it is often the site of the struggles over meaning.</a:t>
            </a:r>
            <a:endParaRPr lang="it-IT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it-IT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can we reveal myth and understand its nature?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4132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Myth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meta-language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naturalises</a:t>
            </a:r>
            <a:r>
              <a:rPr 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certain views, beliefs and convictions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mythopoetic thinking refers to a specific type of memory, language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and worldview</a:t>
            </a:r>
            <a:endParaRPr lang="it-IT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1871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evolutionary approach </a:t>
            </a:r>
            <a:r>
              <a:rPr lang="en-US" sz="3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emphasises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diachronic shift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a</a:t>
            </a: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mythopoetic to a linear-logical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type of thinking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social semiotics approach considers them as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 different ways of thinking, of constructing and narrating reality, which are not mutually exclusive 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2830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Indifferentiation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mythical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refuses to register the real historical, social, cultural and political differences which often mark i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ndividuals,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groups and societies and the specific needs which arise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3490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Myth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From the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Greek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mỳthos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means</a:t>
            </a:r>
            <a:r>
              <a:rPr lang="it-IT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word, story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 narrative of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particular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deeds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performed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gods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demigods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heroes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monsters</a:t>
            </a:r>
            <a:endParaRPr lang="it-IT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often depicts supernatural beings as having human, animal and sometimes plant forms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it-IT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7036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yth 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can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explain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natural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phenomena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legitimise ritual practices and social institutions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answer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big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questions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which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men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ask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themselves</a:t>
            </a:r>
            <a:endParaRPr lang="it-IT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Cultural myths have been reified and taken-for-granted in their everyday presence as a mediated form of reality</a:t>
            </a:r>
            <a:endParaRPr lang="it-IT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b="1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410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myth as a sign system carries assumptions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which appear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natural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therefore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universal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while they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historically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culturally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embedded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 task of socio semiotics is to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analyse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myth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its structure of meaning</a:t>
            </a: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6623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myth as a sign system carries assumptions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which appear natural and therefore universal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while they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are historically and culturally embedded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en-US" sz="1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rom a figure to the ground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From denotative and connotative signs to a context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cultural assumptions embedded in a form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   to a form of communication</a:t>
            </a: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6079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Myths are sacred tales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which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explain the world and human experience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explain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relationships between man, nature and divinity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explain certain practices and the nature of social institutions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provide a moral code by which to live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tend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to construct a world view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7185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Traditional myths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are more than just stories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answer timeless questions and serve as a compass to each generation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Theogony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embodies the desire to articulate reality as a whole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expresses the desire of man to achieve order out of chaos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8450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Myths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are part of every culture in the world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comfort by 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giving a sense of order and meaning to what can sometimes seem a chaotic world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are 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stories created to teach people about something important and meaningful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8715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Myth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 an ideological </a:t>
            </a:r>
            <a:r>
              <a:rPr lang="en-US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characterisation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be interpreted as a metalanguage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a third order of signification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2853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are myths used in the modern world?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myth is a perceived cultural reality in potential layers of signification</a:t>
            </a:r>
            <a:endParaRPr lang="en-US" kern="100" dirty="0">
              <a:solidFill>
                <a:srgbClr val="202124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myth maintains influential power </a:t>
            </a:r>
            <a:r>
              <a:rPr lang="en-US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through the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quality of appearing self-evident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modern-day “mythologies”</a:t>
            </a:r>
            <a:endParaRPr lang="it-IT" sz="35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meta-languages capable of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naturalising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specific worldviews by converting signs into signifiers to be associated with new meanings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51677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844CE0B-881A-4C72-A449-CDE628334B2A}"/>
</file>

<file path=customXml/itemProps2.xml><?xml version="1.0" encoding="utf-8"?>
<ds:datastoreItem xmlns:ds="http://schemas.openxmlformats.org/officeDocument/2006/customXml" ds:itemID="{BB994A6B-279F-4AF4-BE42-8973C9598AB0}"/>
</file>

<file path=customXml/itemProps3.xml><?xml version="1.0" encoding="utf-8"?>
<ds:datastoreItem xmlns:ds="http://schemas.openxmlformats.org/officeDocument/2006/customXml" ds:itemID="{84F446C5-66EC-426B-8F00-927C4D0EE3A2}"/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902</Words>
  <Application>Microsoft Office PowerPoint</Application>
  <PresentationFormat>Widescreen</PresentationFormat>
  <Paragraphs>170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Clelia Boscolo</cp:lastModifiedBy>
  <cp:revision>14</cp:revision>
  <dcterms:created xsi:type="dcterms:W3CDTF">2023-04-20T10:20:44Z</dcterms:created>
  <dcterms:modified xsi:type="dcterms:W3CDTF">2023-05-28T17:53:59Z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