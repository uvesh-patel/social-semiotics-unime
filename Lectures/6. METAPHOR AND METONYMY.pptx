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7" r:id="rId3"/>
    <p:sldId id="312" r:id="rId4"/>
    <p:sldId id="302" r:id="rId5"/>
    <p:sldId id="316" r:id="rId6"/>
    <p:sldId id="265" r:id="rId7"/>
    <p:sldId id="300" r:id="rId8"/>
    <p:sldId id="322" r:id="rId9"/>
    <p:sldId id="326" r:id="rId10"/>
    <p:sldId id="324" r:id="rId11"/>
    <p:sldId id="327" r:id="rId12"/>
    <p:sldId id="328" r:id="rId13"/>
    <p:sldId id="317" r:id="rId14"/>
    <p:sldId id="318" r:id="rId15"/>
    <p:sldId id="325" r:id="rId16"/>
    <p:sldId id="323" r:id="rId17"/>
    <p:sldId id="319" r:id="rId18"/>
    <p:sldId id="320" r:id="rId19"/>
    <p:sldId id="329" r:id="rId20"/>
    <p:sldId id="330" r:id="rId21"/>
    <p:sldId id="321" r:id="rId22"/>
    <p:sldId id="331" r:id="rId23"/>
    <p:sldId id="334" r:id="rId24"/>
    <p:sldId id="333" r:id="rId25"/>
    <p:sldId id="335" r:id="rId26"/>
    <p:sldId id="336" r:id="rId27"/>
    <p:sldId id="337" r:id="rId28"/>
    <p:sldId id="338" r:id="rId29"/>
    <p:sldId id="339" r:id="rId30"/>
    <p:sldId id="340" r:id="rId31"/>
    <p:sldId id="341" r:id="rId32"/>
    <p:sldId id="342" r:id="rId33"/>
    <p:sldId id="343" r:id="rId34"/>
    <p:sldId id="344" r:id="rId35"/>
    <p:sldId id="345" r:id="rId3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80" d="100"/>
          <a:sy n="80" d="100"/>
        </p:scale>
        <p:origin x="13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ustomXml" Target="../customXml/item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ustomXml" Target="../customXml/item3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23A43D1-D719-2521-9ABE-AF821B86D0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06EDB45-6910-DBF5-B91D-F85DCA32CD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74E5944-7028-E341-AA9C-2DA209684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FCA5B-13E0-4D9F-A27A-BD01517DAA72}" type="datetimeFigureOut">
              <a:rPr lang="it-IT" smtClean="0"/>
              <a:t>28/05/2023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23A1AE8-3BFD-71AF-3D15-D7F64942B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9561FDB-0054-C60D-6B95-CD73173AE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45ED7-2CEB-47D7-81B9-39AACD178BB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56617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AE94800-BAFE-7E9B-1F77-A1ACD232A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30D6398-0E33-6B17-C815-E1BBB823A3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2848E07-EDA2-0337-B61E-6F0B376A8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FCA5B-13E0-4D9F-A27A-BD01517DAA72}" type="datetimeFigureOut">
              <a:rPr lang="it-IT" smtClean="0"/>
              <a:t>28/05/2023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8CB0BBF-1C7E-9D71-0C57-0683C8F01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AE374C0-E1F3-1304-0EEE-8F714782D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45ED7-2CEB-47D7-81B9-39AACD178BB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16712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2656DBC-D314-267E-0B98-36BA37700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84589D1-FFEF-E29F-0729-B2051E0561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FF3A4E5-8DE2-305D-8C2E-BF9DD0768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FCA5B-13E0-4D9F-A27A-BD01517DAA72}" type="datetimeFigureOut">
              <a:rPr lang="it-IT" smtClean="0"/>
              <a:t>28/05/2023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65F1C1E-631D-EBD7-8F2D-9928A41FE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838B9FE-7105-3CC3-2C0F-489494760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45ED7-2CEB-47D7-81B9-39AACD178BB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68472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D799B5B-A665-6AB7-F584-7A968BC72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AC35A45-B51E-EE75-9B93-FABBF8BBEB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D8F1191-7294-E7AA-F247-B3BED42F64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7CF98AC-8ACA-E027-2602-4A27BDAA4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FCA5B-13E0-4D9F-A27A-BD01517DAA72}" type="datetimeFigureOut">
              <a:rPr lang="it-IT" smtClean="0"/>
              <a:t>28/05/2023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F9A415C-FF98-D58E-8B7F-F6EA1021C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5287782-A2BA-0183-A90B-9052EBC07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45ED7-2CEB-47D7-81B9-39AACD178BB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4724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31E3D4A-E4CC-FBC6-926D-AAF62C5B1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CC27D1A-DB91-B4EF-65CF-B0E756E48C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5FC0FF6-574F-8AE4-491A-8A1EA9981A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EDC8E751-060E-CFDB-555D-67A86A9990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FDF3F2C7-3E56-20CF-3DE7-22DC4601CE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1E5C6FE3-66FD-077B-447A-F1C5D3987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FCA5B-13E0-4D9F-A27A-BD01517DAA72}" type="datetimeFigureOut">
              <a:rPr lang="it-IT" smtClean="0"/>
              <a:t>28/05/2023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483326A3-5053-7A91-CC30-44EA3947B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9BBCF026-3C10-630B-B5AF-8374FC7BC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45ED7-2CEB-47D7-81B9-39AACD178BB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8831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608E69-B05E-7309-7F20-B0272C876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451326D1-72DB-0D08-1A33-032F10C4E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FCA5B-13E0-4D9F-A27A-BD01517DAA72}" type="datetimeFigureOut">
              <a:rPr lang="it-IT" smtClean="0"/>
              <a:t>28/05/2023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4251CDE-7BE9-B0FA-47A1-A176CDE68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5DBA6A1-635E-4C68-FD4C-95E17A1AB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45ED7-2CEB-47D7-81B9-39AACD178BB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33024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8E4AB31E-0425-CDAE-7945-31F5889CB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FCA5B-13E0-4D9F-A27A-BD01517DAA72}" type="datetimeFigureOut">
              <a:rPr lang="it-IT" smtClean="0"/>
              <a:t>28/05/2023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9EC68FC8-C5A3-0DD6-FD8F-F19CAD228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221AE82-72BF-5DB1-A296-93AF3F103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45ED7-2CEB-47D7-81B9-39AACD178BB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48573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C4DA34-A3F8-8D0C-5AAC-1D93C0AF0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F0EBC6A-D8A3-02AC-3282-B406873E43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72DA82A-E0CA-39BE-852D-46685CF858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E0D5504-62F2-690E-B976-69AEF69B5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FCA5B-13E0-4D9F-A27A-BD01517DAA72}" type="datetimeFigureOut">
              <a:rPr lang="it-IT" smtClean="0"/>
              <a:t>28/05/2023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FE5591D-E20A-430C-3F50-6915F9D1F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6F55848-C4B1-547D-0114-FC5BF0D89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45ED7-2CEB-47D7-81B9-39AACD178BB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12618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3C57391-B37B-02B5-2D59-7EB7B143F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6F80DD65-E6AF-6D8F-D785-A3C8D23808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C215A06-5D3D-B390-A3CC-705E15CB39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F64B59D-A182-4554-4D26-34709549A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FCA5B-13E0-4D9F-A27A-BD01517DAA72}" type="datetimeFigureOut">
              <a:rPr lang="it-IT" smtClean="0"/>
              <a:t>28/05/2023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4C611A3-E909-896B-D684-24A3F993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F169B3F-4424-7890-99A7-AD3EADC9F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45ED7-2CEB-47D7-81B9-39AACD178BB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20701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AAC0AB-AFA0-A754-DE4C-56D05F7D5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C03C428-0EA1-CA22-5A24-EBC9B7E6CA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97CA6AE-FEB0-54F5-AFEA-7B5530FDF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FCA5B-13E0-4D9F-A27A-BD01517DAA72}" type="datetimeFigureOut">
              <a:rPr lang="it-IT" smtClean="0"/>
              <a:t>28/05/2023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128D15B-FFC3-A015-0268-3DFF4CDA7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09CE0D2-98E1-B5C8-66A3-66829105E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45ED7-2CEB-47D7-81B9-39AACD178BB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06172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D120C5B0-6B1A-E12E-AB94-01D0849C44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2527A4C-F2D3-F615-FF11-2C921C2C85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84F255F-1203-A5E2-1EDC-83B5A2456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FCA5B-13E0-4D9F-A27A-BD01517DAA72}" type="datetimeFigureOut">
              <a:rPr lang="it-IT" smtClean="0"/>
              <a:t>28/05/2023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330E160-2FEF-974B-CFAA-F6308A328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5C50658-6EF3-CF01-580E-6D7CAA938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45ED7-2CEB-47D7-81B9-39AACD178BB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79391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6FCFD7B-F15E-5C8E-400E-B801A238D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57505E3-9BFB-BD8C-600E-9DC51A47F2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CAA56A3-6FDC-761D-C93C-AB8C619D93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5FCA5B-13E0-4D9F-A27A-BD01517DAA72}" type="datetimeFigureOut">
              <a:rPr lang="it-IT" smtClean="0"/>
              <a:t>28/05/2023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4670533-F624-8D7C-360F-FDB37A5695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668E5AC-4164-A11B-136D-92EC3DB2F8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845ED7-2CEB-47D7-81B9-39AACD178BB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52647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g"/><Relationship Id="rId5" Type="http://schemas.openxmlformats.org/officeDocument/2006/relationships/image" Target="../media/image24.jpg"/><Relationship Id="rId4" Type="http://schemas.openxmlformats.org/officeDocument/2006/relationships/image" Target="../media/image23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jpg"/><Relationship Id="rId4" Type="http://schemas.openxmlformats.org/officeDocument/2006/relationships/image" Target="../media/image30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6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jpg"/><Relationship Id="rId5" Type="http://schemas.openxmlformats.org/officeDocument/2006/relationships/image" Target="../media/image34.jpg"/><Relationship Id="rId4" Type="http://schemas.openxmlformats.org/officeDocument/2006/relationships/image" Target="../media/image33.jp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C6E8C581-25A3-E33E-D7DD-A2B2A41FF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>
                <a:latin typeface="Britannic Bold" panose="020B0903060703020204" pitchFamily="34" charset="0"/>
              </a:rPr>
              <a:t>UNIVERSITY OF MESSINA</a:t>
            </a:r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A3F7D7EE-8FE9-90F4-02E6-6CD1AF8216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306" y="1948003"/>
            <a:ext cx="11403106" cy="4291432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buNone/>
            </a:pP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</a:t>
            </a:r>
          </a:p>
          <a:p>
            <a:pPr marL="0" indent="0" algn="ctr">
              <a:buNone/>
            </a:pPr>
            <a:r>
              <a:rPr lang="it-IT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Cognitive Science and Theory of </a:t>
            </a:r>
            <a:r>
              <a:rPr lang="it-IT" sz="4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  <a:r>
              <a:rPr lang="it-IT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45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LM-55</a:t>
            </a:r>
          </a:p>
          <a:p>
            <a:pPr marL="0" indent="0" algn="ctr">
              <a:buNone/>
            </a:pPr>
            <a:endParaRPr lang="it-IT" sz="2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it-IT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Course Title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it-IT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51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SOCIAL SEMIOTICS</a:t>
            </a:r>
          </a:p>
          <a:p>
            <a:pPr marL="0" indent="0" algn="ctr">
              <a:buNone/>
            </a:pPr>
            <a:endParaRPr lang="it-IT" sz="33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it-IT" sz="3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Teacher</a:t>
            </a:r>
            <a:endParaRPr lang="it-IT" sz="3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it-IT" sz="3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Maria Rita Bartolomei</a:t>
            </a:r>
            <a:endParaRPr lang="it-IT" sz="3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Mail: mabartolomei@unime.it</a:t>
            </a:r>
          </a:p>
        </p:txBody>
      </p:sp>
      <p:pic>
        <p:nvPicPr>
          <p:cNvPr id="6" name="Segnaposto contenuto 4" descr="Immagine che contiene testo, contenitore, scatola&#10;&#10;Descrizione generata automaticamente">
            <a:extLst>
              <a:ext uri="{FF2B5EF4-FFF2-40B4-BE49-F238E27FC236}">
                <a16:creationId xmlns:a16="http://schemas.microsoft.com/office/drawing/2014/main" id="{DDD7C24D-9569-D55D-FAB3-A977C76C58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8508" y="309515"/>
            <a:ext cx="1638487" cy="1638487"/>
          </a:xfrm>
          <a:prstGeom prst="rect">
            <a:avLst/>
          </a:prstGeom>
        </p:spPr>
      </p:pic>
      <p:sp>
        <p:nvSpPr>
          <p:cNvPr id="7" name="Segnaposto piè di pagina 6">
            <a:extLst>
              <a:ext uri="{FF2B5EF4-FFF2-40B4-BE49-F238E27FC236}">
                <a16:creationId xmlns:a16="http://schemas.microsoft.com/office/drawing/2014/main" id="{A636110D-77B9-3AB4-BE50-9B93911F2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Maria Rita Bartolomei</a:t>
            </a:r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CCFFF47F-2082-A8BD-E214-32F787B2A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62558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ign</a:t>
            </a: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 the fundamental concept in </a:t>
            </a:r>
            <a:r>
              <a:rPr lang="en-US" sz="36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semiotics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en-US" sz="2000" u="sng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Semiotic resources</a:t>
            </a:r>
            <a:r>
              <a:rPr lang="en-US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are </a:t>
            </a: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fundamental concept in </a:t>
            </a:r>
            <a:r>
              <a:rPr lang="en-US" sz="36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social semiotics</a:t>
            </a:r>
            <a:endParaRPr lang="en-US" sz="3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30031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5317"/>
            <a:ext cx="10515600" cy="3971645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S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emiotic resource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s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are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Cultural resources –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values, rites, norms, texts, songs or actions – 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which lead to a </a:t>
            </a:r>
            <a:r>
              <a:rPr lang="en-US" u="sng" dirty="0">
                <a:latin typeface="Times New Roman" panose="02020603050405020304" pitchFamily="18" charset="0"/>
                <a:ea typeface="Calibri" panose="020F0502020204030204" pitchFamily="34" charset="0"/>
              </a:rPr>
              <a:t>common understanding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Cultural resources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are useful 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both</a:t>
            </a: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Font typeface="Times New Roman" panose="02020603050405020304" pitchFamily="18" charset="0"/>
              <a:buChar char="-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produce communicative artefacts and events AND</a:t>
            </a: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Font typeface="Times New Roman" panose="02020603050405020304" pitchFamily="18" charset="0"/>
              <a:buChar char="-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interpret them</a:t>
            </a: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 the context of specific social situations and practices</a:t>
            </a:r>
            <a:endParaRPr lang="it-IT" sz="3200" u="sng" dirty="0"/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en-US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54324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5317"/>
            <a:ext cx="10515600" cy="3971645"/>
          </a:xfrm>
        </p:spPr>
        <p:txBody>
          <a:bodyPr>
            <a:normAutofit fontScale="92500" lnSpcReduction="20000"/>
          </a:bodyPr>
          <a:lstStyle/>
          <a:p>
            <a:pPr marL="0" lvl="0" indent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ny semiotic resource – physical activity, object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artefact </a:t>
            </a:r>
          </a:p>
          <a:p>
            <a:pPr lvl="0" algn="just">
              <a:lnSpc>
                <a:spcPct val="150000"/>
              </a:lnSpc>
              <a:spcAft>
                <a:spcPts val="800"/>
              </a:spcAft>
              <a:buFontTx/>
              <a:buChar char="-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has its own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semiotic potential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it-I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it-IT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emiotic</a:t>
            </a: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potential</a:t>
            </a: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means</a:t>
            </a: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potential for making meaning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Each</a:t>
            </a: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mode </a:t>
            </a:r>
            <a:r>
              <a:rPr lang="it-IT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has</a:t>
            </a: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its</a:t>
            </a: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specific</a:t>
            </a: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potential</a:t>
            </a:r>
            <a:r>
              <a:rPr lang="it-I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 making </a:t>
            </a:r>
            <a:r>
              <a:rPr lang="it-IT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meaning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Each mode expresses meanings about states, relations, actions and events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in the world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it-IT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Different</a:t>
            </a:r>
            <a:r>
              <a:rPr lang="it-IT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modes</a:t>
            </a:r>
            <a:r>
              <a:rPr lang="it-IT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offer</a:t>
            </a: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different</a:t>
            </a: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potentials</a:t>
            </a: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for making </a:t>
            </a:r>
            <a:r>
              <a:rPr lang="it-IT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meaning</a:t>
            </a: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Aft>
                <a:spcPts val="800"/>
              </a:spcAft>
              <a:buFontTx/>
              <a:buChar char="-"/>
            </a:pP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buNone/>
            </a:pPr>
            <a:endParaRPr lang="en-US" sz="10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60948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5317"/>
            <a:ext cx="10515600" cy="397164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Semiotic resources </a:t>
            </a: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Tx/>
              <a:buChar char="-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are not restricted to speech, writing and picture making: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a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lmost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everything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we do or make allows for the articulation of different social and cultural meanings</a:t>
            </a: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Tx/>
              <a:buChar char="-"/>
            </a:pPr>
            <a:r>
              <a:rPr lang="it-IT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have</a:t>
            </a:r>
            <a:r>
              <a:rPr lang="it-I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specific</a:t>
            </a:r>
            <a:r>
              <a:rPr lang="it-I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forms</a:t>
            </a:r>
            <a:r>
              <a:rPr lang="it-I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 </a:t>
            </a:r>
            <a:r>
              <a:rPr lang="it-IT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different</a:t>
            </a:r>
            <a:r>
              <a:rPr lang="it-I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cultures</a:t>
            </a:r>
            <a:endParaRPr lang="it-IT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concept of “plural meanings” is crucial here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buNone/>
            </a:pPr>
            <a:endParaRPr lang="en-US" sz="10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43B825-0FCC-4E24-9AB0-B3A36126D33D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151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Social semiotics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is a new and distinctive approach which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investigates how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semiotic modes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can be integrated in multimodal artefacts and events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investigates how these resources are used in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specific historical, cultural and institutional contexts</a:t>
            </a:r>
            <a:endParaRPr lang="it-IT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b="1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09728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0883"/>
            <a:ext cx="10515600" cy="4496080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METAPHOR AND METONYMY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it-IT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Metaphor</a:t>
            </a:r>
            <a:r>
              <a:rPr lang="it-I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it-I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expresses the social nature of signification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it-I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 an explicit or implicit comparison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it-I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</a:t>
            </a:r>
            <a:r>
              <a:rPr lang="it-I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 figure of speech </a:t>
            </a:r>
            <a:r>
              <a:rPr lang="it-IT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which</a:t>
            </a:r>
            <a:r>
              <a:rPr lang="it-I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refers</a:t>
            </a:r>
            <a:r>
              <a:rPr lang="it-I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to one </a:t>
            </a:r>
            <a:r>
              <a:rPr lang="it-IT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thing</a:t>
            </a:r>
            <a:r>
              <a:rPr lang="it-I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by </a:t>
            </a:r>
            <a:r>
              <a:rPr lang="it-IT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mentioning</a:t>
            </a:r>
            <a:r>
              <a:rPr lang="it-I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another</a:t>
            </a:r>
            <a:endParaRPr lang="it-IT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is a type of figurative language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it-IT" sz="1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original Greek word </a:t>
            </a:r>
            <a:r>
              <a:rPr lang="en-US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metaphora</a:t>
            </a: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means “to transfer” or “carry over”.</a:t>
            </a: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it-IT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60437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0883"/>
            <a:ext cx="10515600" cy="449608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METAPHOR AND METONYMY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it-IT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Metaphor</a:t>
            </a:r>
            <a:r>
              <a:rPr lang="it-I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it-IT" sz="1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it-I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can have an interesting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transference function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Tears Are Diamonds Falling From Your Eyes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it-IT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12078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0883"/>
            <a:ext cx="10515600" cy="449608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METAPHOR AND METONYMY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it-IT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Metaphors</a:t>
            </a:r>
            <a:r>
              <a:rPr lang="it-I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are an important literary device</a:t>
            </a:r>
            <a:endParaRPr lang="it-IT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represent abstract concepts through something common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endParaRPr lang="en-US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sz="2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All religions, arts and sciences are branches of the same tree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(Albert Einstein)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i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My heart is a bottomless ocean of love</a:t>
            </a:r>
            <a:endParaRPr lang="it-IT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it-IT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668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0882"/>
            <a:ext cx="10515600" cy="4675467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METAPHOR AND METONYMY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endParaRPr lang="en-US" sz="1000" b="1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There are many types of metaphor 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Implied metaphor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2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2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4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Jack tucked his tail and ran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24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Mary purred over the lavish present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24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At the party the men orbited around the super model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endParaRPr lang="en-US" sz="2000" i="1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Dead metaphor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en-US" sz="13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Throw the baby out with the bathwater</a:t>
            </a:r>
            <a:endParaRPr lang="en-US" sz="2400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eart of gold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endParaRPr lang="en-US" sz="2400" i="1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en-US" sz="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074417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0883"/>
            <a:ext cx="10515600" cy="4496080"/>
          </a:xfrm>
        </p:spPr>
        <p:txBody>
          <a:bodyPr>
            <a:normAutofit lnSpcReduction="10000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METAPHOR AND METONYMY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Mixed metaphor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it-IT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Clr>
                <a:srgbClr val="282828"/>
              </a:buClr>
              <a:buSzPts val="1300"/>
              <a:buNone/>
            </a:pP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 were flying through a sea of success</a:t>
            </a:r>
            <a:endParaRPr lang="it-IT" b="1" i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0000"/>
              </a:lnSpc>
              <a:spcBef>
                <a:spcPts val="0"/>
              </a:spcBef>
              <a:buClr>
                <a:srgbClr val="282828"/>
              </a:buClr>
              <a:buSzPts val="1300"/>
              <a:buFont typeface="Wingdings" panose="05000000000000000000" pitchFamily="2" charset="2"/>
              <a:buChar char="Ø"/>
            </a:pPr>
            <a:endParaRPr lang="it-IT" sz="15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Clr>
                <a:srgbClr val="282828"/>
              </a:buClr>
              <a:buSzPts val="1300"/>
              <a:buNone/>
            </a:pPr>
            <a:r>
              <a:rPr lang="en-US" b="0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You're sailing close to thin ice</a:t>
            </a:r>
            <a:endParaRPr lang="it-IT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b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Metaphor one:</a:t>
            </a:r>
            <a:r>
              <a:rPr lang="en-US" sz="2400" b="0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you are sailing too close to the wind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b="0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sz="2400" b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Metaphor two:</a:t>
            </a:r>
            <a:r>
              <a:rPr lang="en-US" sz="2400" b="0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you are on thin ice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it-IT" sz="1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Clr>
                <a:srgbClr val="282828"/>
              </a:buClr>
              <a:buSzPts val="1300"/>
              <a:buNone/>
            </a:pPr>
            <a:r>
              <a:rPr lang="en-US" b="0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test is easy; it’s not rocket surgery</a:t>
            </a:r>
            <a:endParaRPr lang="it-IT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b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Metaphor one:</a:t>
            </a:r>
            <a:r>
              <a:rPr lang="en-US" sz="2400" b="0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It's not rocket science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b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Metaphor two:</a:t>
            </a:r>
            <a:r>
              <a:rPr lang="en-US" sz="2400" b="0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It's not brain surgery.</a:t>
            </a:r>
            <a:endParaRPr lang="it-IT" sz="2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26501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0883"/>
            <a:ext cx="10515600" cy="449608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METAPHOR AND METONYMY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Sustained or extended metaphor</a:t>
            </a: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is carried through multiple sentences or even paragraphs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A famous</a:t>
            </a: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example in English literature comes from </a:t>
            </a:r>
            <a:r>
              <a:rPr lang="en-US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All the world’s stage  </a:t>
            </a: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by William Shakespeare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161616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u="sng" dirty="0">
                <a:solidFill>
                  <a:srgbClr val="16161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Here Shakespeare uses the “stage” as an extended metaphor.</a:t>
            </a:r>
            <a:endParaRPr lang="it-IT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749644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3384"/>
            <a:ext cx="10515600" cy="4934651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All</a:t>
            </a:r>
            <a:r>
              <a:rPr lang="it-IT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</a:t>
            </a:r>
            <a:r>
              <a:rPr lang="it-IT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world’s</a:t>
            </a:r>
            <a:r>
              <a:rPr lang="it-IT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stage</a:t>
            </a:r>
            <a:r>
              <a:rPr lang="it-IT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by William Shakespeare (monologue from </a:t>
            </a:r>
            <a:r>
              <a:rPr lang="en-US" sz="20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 You Like It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it-IT" sz="2000" u="sng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it-IT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52400" fontAlgn="base"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All the world’s a stage,</a:t>
            </a:r>
            <a:endParaRPr lang="it-IT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52400" fontAlgn="base"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all the men and women merely players;</a:t>
            </a:r>
            <a:endParaRPr lang="it-IT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52400" fontAlgn="base"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They have their exits and their entrances;</a:t>
            </a:r>
            <a:endParaRPr lang="it-IT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52400" fontAlgn="base"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one man in his time plays many parts,</a:t>
            </a:r>
            <a:endParaRPr lang="it-IT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52400" fontAlgn="base"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His acts being seven ages. At first the infant,</a:t>
            </a:r>
            <a:endParaRPr lang="it-IT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52400" fontAlgn="base"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Mewling and puking in the nurse’s arms;</a:t>
            </a:r>
            <a:endParaRPr lang="it-IT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52400" fontAlgn="base"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then the whining school-boy, with his satchel</a:t>
            </a:r>
            <a:endParaRPr lang="it-IT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52400" fontAlgn="base"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shining morning face, creeping like snail</a:t>
            </a:r>
            <a:endParaRPr lang="it-IT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52400" fontAlgn="base"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Unwillingly to school. And then the lover,</a:t>
            </a:r>
            <a:endParaRPr lang="it-IT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52400" fontAlgn="base"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Sighing like furnace, with a woeful ballad</a:t>
            </a:r>
            <a:endParaRPr lang="it-IT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52400" fontAlgn="base"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Made to his mistress’ eyebrow. Then a soldier,</a:t>
            </a:r>
            <a:endParaRPr lang="it-IT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52400" fontAlgn="base"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Full of strange oaths, and bearded like the pard,</a:t>
            </a:r>
            <a:endParaRPr lang="it-IT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52400" fontAlgn="base"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Jealous in </a:t>
            </a:r>
            <a:r>
              <a:rPr lang="en-US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honour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sudden and quick in quarrel,</a:t>
            </a:r>
            <a:endParaRPr lang="it-IT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479838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61566"/>
            <a:ext cx="10515600" cy="4827494"/>
          </a:xfrm>
        </p:spPr>
        <p:txBody>
          <a:bodyPr>
            <a:normAutofit fontScale="70000" lnSpcReduction="20000"/>
          </a:bodyPr>
          <a:lstStyle/>
          <a:p>
            <a:pPr indent="-152400" fontAlgn="base">
              <a:lnSpc>
                <a:spcPct val="120000"/>
              </a:lnSpc>
              <a:spcBef>
                <a:spcPts val="0"/>
              </a:spcBef>
            </a:pP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Seeking the bubble reputation</a:t>
            </a:r>
            <a:endParaRPr lang="it-IT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52400" fontAlgn="base">
              <a:lnSpc>
                <a:spcPct val="120000"/>
              </a:lnSpc>
              <a:spcBef>
                <a:spcPts val="0"/>
              </a:spcBef>
            </a:pP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Even in the cannon’s mouth. And then the justice,</a:t>
            </a:r>
            <a:endParaRPr lang="it-IT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52400" fontAlgn="base">
              <a:lnSpc>
                <a:spcPct val="120000"/>
              </a:lnSpc>
              <a:spcBef>
                <a:spcPts val="0"/>
              </a:spcBef>
            </a:pP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fair round belly with good capon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lin’d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it-IT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52400" fontAlgn="base">
              <a:lnSpc>
                <a:spcPct val="120000"/>
              </a:lnSpc>
              <a:spcBef>
                <a:spcPts val="0"/>
              </a:spcBef>
            </a:pP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eyes severe and beard of formal cut,</a:t>
            </a:r>
            <a:endParaRPr lang="it-IT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52400" fontAlgn="base">
              <a:lnSpc>
                <a:spcPct val="120000"/>
              </a:lnSpc>
              <a:spcBef>
                <a:spcPts val="0"/>
              </a:spcBef>
            </a:pP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Full of wise saws and modern instances;</a:t>
            </a:r>
            <a:endParaRPr lang="it-IT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52400" fontAlgn="base">
              <a:lnSpc>
                <a:spcPct val="120000"/>
              </a:lnSpc>
              <a:spcBef>
                <a:spcPts val="0"/>
              </a:spcBef>
            </a:pP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so he plays his part. The sixth age shifts</a:t>
            </a:r>
            <a:endParaRPr lang="it-IT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52400" fontAlgn="base">
              <a:lnSpc>
                <a:spcPct val="120000"/>
              </a:lnSpc>
              <a:spcBef>
                <a:spcPts val="0"/>
              </a:spcBef>
            </a:pP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Into the lean and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slipper’d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pantaloon,</a:t>
            </a:r>
            <a:endParaRPr lang="it-IT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52400" fontAlgn="base">
              <a:lnSpc>
                <a:spcPct val="120000"/>
              </a:lnSpc>
              <a:spcBef>
                <a:spcPts val="0"/>
              </a:spcBef>
            </a:pP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spectacles on nose and pouch on side;</a:t>
            </a:r>
            <a:endParaRPr lang="it-IT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52400" fontAlgn="base">
              <a:lnSpc>
                <a:spcPct val="120000"/>
              </a:lnSpc>
              <a:spcBef>
                <a:spcPts val="0"/>
              </a:spcBef>
            </a:pP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His youthful hose, well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sav’d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 world too wide</a:t>
            </a:r>
            <a:endParaRPr lang="it-IT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52400" fontAlgn="base">
              <a:lnSpc>
                <a:spcPct val="120000"/>
              </a:lnSpc>
              <a:spcBef>
                <a:spcPts val="0"/>
              </a:spcBef>
            </a:pP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his shrunk shank; and his big manly voice,</a:t>
            </a:r>
            <a:endParaRPr lang="it-IT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52400" fontAlgn="base">
              <a:lnSpc>
                <a:spcPct val="120000"/>
              </a:lnSpc>
              <a:spcBef>
                <a:spcPts val="0"/>
              </a:spcBef>
            </a:pP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Turning again toward childish treble, pipes</a:t>
            </a:r>
            <a:endParaRPr lang="it-IT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52400" fontAlgn="base">
              <a:lnSpc>
                <a:spcPct val="120000"/>
              </a:lnSpc>
              <a:spcBef>
                <a:spcPts val="0"/>
              </a:spcBef>
            </a:pP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whistles in his sound. Last scene of all,</a:t>
            </a:r>
            <a:endParaRPr lang="it-IT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52400" fontAlgn="base">
              <a:lnSpc>
                <a:spcPct val="120000"/>
              </a:lnSpc>
              <a:spcBef>
                <a:spcPts val="0"/>
              </a:spcBef>
            </a:pP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That ends this strange eventful history,</a:t>
            </a:r>
            <a:endParaRPr lang="it-IT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52400" fontAlgn="base">
              <a:lnSpc>
                <a:spcPct val="120000"/>
              </a:lnSpc>
              <a:spcBef>
                <a:spcPts val="0"/>
              </a:spcBef>
            </a:pP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 second childishness and mere oblivion;</a:t>
            </a:r>
            <a:endParaRPr lang="it-IT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52400" fontAlgn="base">
              <a:lnSpc>
                <a:spcPct val="120000"/>
              </a:lnSpc>
              <a:spcBef>
                <a:spcPts val="0"/>
              </a:spcBef>
            </a:pP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Sans teeth, sans eyes, sans taste, sans everything.</a:t>
            </a:r>
            <a:endParaRPr lang="it-IT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it-IT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it-IT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it-IT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87724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0883"/>
            <a:ext cx="10515600" cy="4496080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METAPHOR AND METONYMY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it-IT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Metaphor</a:t>
            </a:r>
            <a:r>
              <a:rPr lang="it-I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Metaphor can be visual, verbal or multimodal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it-IT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Visual </a:t>
            </a:r>
            <a:r>
              <a:rPr lang="it-IT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metaphor</a:t>
            </a:r>
            <a:endParaRPr lang="it-IT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it-IT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 </a:t>
            </a:r>
            <a:r>
              <a:rPr lang="it-IT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representation</a:t>
            </a:r>
            <a:r>
              <a:rPr lang="it-IT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of a </a:t>
            </a:r>
            <a:r>
              <a:rPr lang="it-IT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noun</a:t>
            </a:r>
            <a:r>
              <a:rPr lang="it-IT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t-IT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through</a:t>
            </a:r>
            <a:r>
              <a:rPr lang="it-IT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 visual image </a:t>
            </a:r>
            <a:r>
              <a:rPr lang="it-IT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which</a:t>
            </a:r>
            <a:r>
              <a:rPr lang="it-IT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t-IT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suggests</a:t>
            </a:r>
            <a:endParaRPr lang="it-IT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it-IT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it-IT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 </a:t>
            </a:r>
            <a:r>
              <a:rPr lang="it-IT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particular</a:t>
            </a:r>
            <a:r>
              <a:rPr lang="it-IT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it-IT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association</a:t>
            </a:r>
            <a:r>
              <a:rPr lang="it-IT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or </a:t>
            </a:r>
            <a:r>
              <a:rPr lang="it-IT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similarity</a:t>
            </a:r>
            <a:endParaRPr lang="it-IT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it-IT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sz="1600" i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Visual metaphors are important in communicating and resonating </a:t>
            </a: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with your audience</a:t>
            </a: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en-US" b="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292720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200"/>
            <a:ext cx="10515600" cy="4830763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METAPHOR AND METONYMY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it-I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Visual </a:t>
            </a:r>
            <a:r>
              <a:rPr lang="it-IT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metaphor</a:t>
            </a:r>
            <a:endParaRPr lang="it-IT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it-IT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16</a:t>
            </a:fld>
            <a:endParaRPr lang="it-IT"/>
          </a:p>
        </p:txBody>
      </p:sp>
      <p:pic>
        <p:nvPicPr>
          <p:cNvPr id="8" name="Immagine 7" descr="Immagine che contiene testo, edificio&#10;&#10;Descrizione generata automaticamente">
            <a:extLst>
              <a:ext uri="{FF2B5EF4-FFF2-40B4-BE49-F238E27FC236}">
                <a16:creationId xmlns:a16="http://schemas.microsoft.com/office/drawing/2014/main" id="{50D96BDD-AC21-4BE5-2D15-EC8DE430FA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5663" y="2162104"/>
            <a:ext cx="3278137" cy="4695896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57F152CA-F4BC-7400-E99A-4389D03C68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875" y="2965450"/>
            <a:ext cx="4514850" cy="339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5312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5317"/>
            <a:ext cx="10515600" cy="3971645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METAPHOR AND METONYMY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is the difference between a metaphor and a simile?</a:t>
            </a:r>
            <a:endParaRPr lang="it-IT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metaphor states that one thing IS something else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Example: that test was a killer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simile states that one thing is LIKE something else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Example: my cousin is like an open book</a:t>
            </a:r>
            <a:endParaRPr lang="it-IT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it-IT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95970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5317"/>
            <a:ext cx="10515600" cy="3971645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METAPHOR AND METONYMY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Metonymy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 a process, a general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process of association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 terms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15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 type of connotation in which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one sign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replaces another with </a:t>
            </a: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which it is closely associated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en-US" sz="15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sign used may represent </a:t>
            </a:r>
            <a:r>
              <a:rPr lang="en-US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part, the whole, a function, an attribute 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US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or a concept related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the sign represented</a:t>
            </a:r>
            <a:endParaRPr lang="it-IT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it-IT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it-IT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22556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2"/>
            <a:ext cx="10515600" cy="968188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5317"/>
            <a:ext cx="10515600" cy="3971645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it-IT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19</a:t>
            </a:fld>
            <a:endParaRPr lang="it-IT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A6ED1DA6-4AA3-2EAD-8BCD-45EA711A412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77"/>
          <a:stretch/>
        </p:blipFill>
        <p:spPr>
          <a:xfrm>
            <a:off x="1815353" y="1237130"/>
            <a:ext cx="7831419" cy="5620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1533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5317"/>
            <a:ext cx="10515600" cy="3971645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METAPHOR AND METONYMY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Examples work metonymically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Stereotypes are metonymies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Visual metonymy is also common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it-IT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it-IT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20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330020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7435"/>
            <a:ext cx="10515600" cy="4509528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METAPHOR AND METONYMY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it-IT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it-IT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21</a:t>
            </a:fld>
            <a:endParaRPr lang="it-IT"/>
          </a:p>
        </p:txBody>
      </p:sp>
      <p:pic>
        <p:nvPicPr>
          <p:cNvPr id="8" name="Immagine 7" descr="Immagine che contiene logo&#10;&#10;Descrizione generata automaticamente">
            <a:extLst>
              <a:ext uri="{FF2B5EF4-FFF2-40B4-BE49-F238E27FC236}">
                <a16:creationId xmlns:a16="http://schemas.microsoft.com/office/drawing/2014/main" id="{FB2BD392-5C06-6E90-0477-5400026518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0289" y="2178751"/>
            <a:ext cx="4871421" cy="4087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7001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5317"/>
            <a:ext cx="10515600" cy="3971645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it-IT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it-IT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22</a:t>
            </a:fld>
            <a:endParaRPr lang="it-IT"/>
          </a:p>
        </p:txBody>
      </p:sp>
      <p:pic>
        <p:nvPicPr>
          <p:cNvPr id="8" name="Immagine 7" descr="Immagine che contiene testo, interno, statico, legno&#10;&#10;Descrizione generata automaticamente">
            <a:extLst>
              <a:ext uri="{FF2B5EF4-FFF2-40B4-BE49-F238E27FC236}">
                <a16:creationId xmlns:a16="http://schemas.microsoft.com/office/drawing/2014/main" id="{F03DA340-704E-3DF2-443C-FE79727FDA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19" y="2300303"/>
            <a:ext cx="5013281" cy="3421118"/>
          </a:xfrm>
          <a:prstGeom prst="rect">
            <a:avLst/>
          </a:prstGeom>
        </p:spPr>
      </p:pic>
      <p:pic>
        <p:nvPicPr>
          <p:cNvPr id="10" name="Immagine 9" descr="Immagine che contiene testo, interno, portafotografie&#10;&#10;Descrizione generata automaticamente">
            <a:extLst>
              <a:ext uri="{FF2B5EF4-FFF2-40B4-BE49-F238E27FC236}">
                <a16:creationId xmlns:a16="http://schemas.microsoft.com/office/drawing/2014/main" id="{23FB3564-E074-9422-A6DF-62BE63752B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1481" y="2300303"/>
            <a:ext cx="5889961" cy="3421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6929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5317"/>
            <a:ext cx="10515600" cy="3971645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endParaRPr lang="it-IT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23</a:t>
            </a:fld>
            <a:endParaRPr lang="it-IT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203CC4DC-049E-399B-A4F1-2DA0F6CAE6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5355" y="1762733"/>
            <a:ext cx="5425245" cy="397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1901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729" y="1533385"/>
            <a:ext cx="11031071" cy="4643577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METAPHOR AND METONYMY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Metonymies can be quite complex chains of associations</a:t>
            </a:r>
            <a:endParaRPr lang="it-IT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24</a:t>
            </a:fld>
            <a:endParaRPr lang="it-IT"/>
          </a:p>
        </p:txBody>
      </p:sp>
      <p:pic>
        <p:nvPicPr>
          <p:cNvPr id="11" name="Immagine 10" descr="Immagine che contiene logo&#10;&#10;Descrizione generata automaticamente">
            <a:extLst>
              <a:ext uri="{FF2B5EF4-FFF2-40B4-BE49-F238E27FC236}">
                <a16:creationId xmlns:a16="http://schemas.microsoft.com/office/drawing/2014/main" id="{379962CF-207D-A9A6-13B9-66E8EB83447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30" b="14163"/>
          <a:stretch/>
        </p:blipFill>
        <p:spPr>
          <a:xfrm>
            <a:off x="8374561" y="3344862"/>
            <a:ext cx="3666159" cy="3011488"/>
          </a:xfrm>
          <a:prstGeom prst="rect">
            <a:avLst/>
          </a:prstGeom>
        </p:spPr>
      </p:pic>
      <p:pic>
        <p:nvPicPr>
          <p:cNvPr id="13" name="Immagine 12" descr="Immagine che contiene freccia&#10;&#10;Descrizione generata automaticamente">
            <a:extLst>
              <a:ext uri="{FF2B5EF4-FFF2-40B4-BE49-F238E27FC236}">
                <a16:creationId xmlns:a16="http://schemas.microsoft.com/office/drawing/2014/main" id="{DD17FE54-4C13-B5F1-C76F-2FB20437508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93" t="5957" r="6021"/>
          <a:stretch/>
        </p:blipFill>
        <p:spPr>
          <a:xfrm>
            <a:off x="4494090" y="3108232"/>
            <a:ext cx="3880471" cy="3248118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7BFFA3D3-C31A-29BD-7E81-495BEA80E3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280" y="2695575"/>
            <a:ext cx="4025900" cy="402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8302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3385"/>
            <a:ext cx="10515600" cy="4643578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METAPHOR AND METONYMY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25</a:t>
            </a:fld>
            <a:endParaRPr lang="it-IT"/>
          </a:p>
        </p:txBody>
      </p:sp>
      <p:pic>
        <p:nvPicPr>
          <p:cNvPr id="9" name="Immagine 8" descr="Immagine che contiene freccia&#10;&#10;Descrizione generata automaticamente">
            <a:extLst>
              <a:ext uri="{FF2B5EF4-FFF2-40B4-BE49-F238E27FC236}">
                <a16:creationId xmlns:a16="http://schemas.microsoft.com/office/drawing/2014/main" id="{5E8E6A79-658B-D4C6-9538-41E11B9EDFE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5" t="5193" r="4558"/>
          <a:stretch/>
        </p:blipFill>
        <p:spPr>
          <a:xfrm>
            <a:off x="1044387" y="2116289"/>
            <a:ext cx="3352771" cy="4605186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4CB7CDEA-4D17-D8A2-4E55-7B228F4BAD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7976" y="2559893"/>
            <a:ext cx="4235824" cy="3979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7918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5317"/>
            <a:ext cx="10515600" cy="3971645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METAPHOR AND METONYMY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Metonymy is often powerfully invoked in political discourse</a:t>
            </a:r>
            <a:endParaRPr lang="it-IT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26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870351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4330"/>
            <a:ext cx="10515600" cy="4442291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27</a:t>
            </a:fld>
            <a:endParaRPr lang="it-IT"/>
          </a:p>
        </p:txBody>
      </p:sp>
      <p:pic>
        <p:nvPicPr>
          <p:cNvPr id="8" name="Immagine 7" descr="Immagine che contiene persona, finestra&#10;&#10;Descrizione generata automaticamente">
            <a:extLst>
              <a:ext uri="{FF2B5EF4-FFF2-40B4-BE49-F238E27FC236}">
                <a16:creationId xmlns:a16="http://schemas.microsoft.com/office/drawing/2014/main" id="{459E0D03-A27F-A21E-99CC-F5B4A22B69B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7" r="7164"/>
          <a:stretch/>
        </p:blipFill>
        <p:spPr>
          <a:xfrm>
            <a:off x="1277471" y="1646030"/>
            <a:ext cx="8686800" cy="5075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3083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5317"/>
            <a:ext cx="10515600" cy="3971645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28</a:t>
            </a:fld>
            <a:endParaRPr lang="it-IT"/>
          </a:p>
        </p:txBody>
      </p:sp>
      <p:pic>
        <p:nvPicPr>
          <p:cNvPr id="8" name="Immagine 7" descr="Immagine che contiene persona, vestiti, uomo, eretto&#10;&#10;Descrizione generata automaticamente">
            <a:extLst>
              <a:ext uri="{FF2B5EF4-FFF2-40B4-BE49-F238E27FC236}">
                <a16:creationId xmlns:a16="http://schemas.microsoft.com/office/drawing/2014/main" id="{C7D014E4-6EEA-6A7A-F2B2-27C2F34916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26" y="1435661"/>
            <a:ext cx="4910019" cy="5197655"/>
          </a:xfrm>
          <a:prstGeom prst="rect">
            <a:avLst/>
          </a:prstGeom>
        </p:spPr>
      </p:pic>
      <p:pic>
        <p:nvPicPr>
          <p:cNvPr id="10" name="Immagine 9" descr="Immagine che contiene testo, edificio, portafotografie, pietra&#10;&#10;Descrizione generata automaticamente">
            <a:extLst>
              <a:ext uri="{FF2B5EF4-FFF2-40B4-BE49-F238E27FC236}">
                <a16:creationId xmlns:a16="http://schemas.microsoft.com/office/drawing/2014/main" id="{2C0754A8-AA88-58D4-F18E-36348664757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85" t="10732" r="19628" b="21517"/>
          <a:stretch/>
        </p:blipFill>
        <p:spPr>
          <a:xfrm>
            <a:off x="5277597" y="1435661"/>
            <a:ext cx="3333003" cy="5222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3746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5317"/>
            <a:ext cx="10515600" cy="3971645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endParaRPr lang="it-IT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29</a:t>
            </a:fld>
            <a:endParaRPr lang="it-IT"/>
          </a:p>
        </p:txBody>
      </p:sp>
      <p:pic>
        <p:nvPicPr>
          <p:cNvPr id="8" name="Immagine 7" descr="Immagine che contiene persona, aria aperta, ragazza&#10;&#10;Descrizione generata automaticamente">
            <a:extLst>
              <a:ext uri="{FF2B5EF4-FFF2-40B4-BE49-F238E27FC236}">
                <a16:creationId xmlns:a16="http://schemas.microsoft.com/office/drawing/2014/main" id="{10E564A9-1639-E5FC-6061-E9BC84E21F3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42" t="8517" r="3818" b="6358"/>
          <a:stretch/>
        </p:blipFill>
        <p:spPr>
          <a:xfrm>
            <a:off x="134470" y="1851586"/>
            <a:ext cx="6481482" cy="4325376"/>
          </a:xfrm>
          <a:prstGeom prst="rect">
            <a:avLst/>
          </a:prstGeom>
        </p:spPr>
      </p:pic>
      <p:pic>
        <p:nvPicPr>
          <p:cNvPr id="10" name="Immagine 9" descr="Immagine che contiene persona, interno, vestiti, donna&#10;&#10;Descrizione generata automaticamente">
            <a:extLst>
              <a:ext uri="{FF2B5EF4-FFF2-40B4-BE49-F238E27FC236}">
                <a16:creationId xmlns:a16="http://schemas.microsoft.com/office/drawing/2014/main" id="{A3125C69-AA5A-E0E3-90B7-348FC94F75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0452" y="2060808"/>
            <a:ext cx="4514850" cy="43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9179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5317"/>
            <a:ext cx="10515600" cy="3971645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</a:t>
            </a:r>
            <a:endParaRPr lang="it-IT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30</a:t>
            </a:fld>
            <a:endParaRPr lang="it-IT"/>
          </a:p>
        </p:txBody>
      </p:sp>
      <p:pic>
        <p:nvPicPr>
          <p:cNvPr id="8" name="Immagine 7" descr="Immagine che contiene vestiti, persona, muro, vestito&#10;&#10;Descrizione generata automaticamente">
            <a:extLst>
              <a:ext uri="{FF2B5EF4-FFF2-40B4-BE49-F238E27FC236}">
                <a16:creationId xmlns:a16="http://schemas.microsoft.com/office/drawing/2014/main" id="{0C253BE7-39B6-6AE3-E6FD-0DAB4EB4551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95" r="17980"/>
          <a:stretch/>
        </p:blipFill>
        <p:spPr>
          <a:xfrm>
            <a:off x="188259" y="1438836"/>
            <a:ext cx="4509248" cy="4763585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09513B56-CA55-480A-2DB3-68D7CD1E54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925" y="2124734"/>
            <a:ext cx="6229350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0697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5317"/>
            <a:ext cx="10515600" cy="3971645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</a:t>
            </a:r>
            <a:endParaRPr lang="it-IT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31</a:t>
            </a:fld>
            <a:endParaRPr lang="it-IT"/>
          </a:p>
        </p:txBody>
      </p:sp>
      <p:pic>
        <p:nvPicPr>
          <p:cNvPr id="9" name="Immagine 8" descr="Immagine che contiene uomo, persona, braccio&#10;&#10;Descrizione generata automaticamente">
            <a:extLst>
              <a:ext uri="{FF2B5EF4-FFF2-40B4-BE49-F238E27FC236}">
                <a16:creationId xmlns:a16="http://schemas.microsoft.com/office/drawing/2014/main" id="{B0A0D321-77BB-9812-CE73-1A3F17A6399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26" r="8996" b="20924"/>
          <a:stretch/>
        </p:blipFill>
        <p:spPr>
          <a:xfrm>
            <a:off x="8195797" y="1975969"/>
            <a:ext cx="3668991" cy="2683517"/>
          </a:xfrm>
          <a:prstGeom prst="rect">
            <a:avLst/>
          </a:prstGeom>
        </p:spPr>
      </p:pic>
      <p:pic>
        <p:nvPicPr>
          <p:cNvPr id="12" name="Immagine 11" descr="Immagine che contiene persona, pelle&#10;&#10;Descrizione generata automaticamente">
            <a:extLst>
              <a:ext uri="{FF2B5EF4-FFF2-40B4-BE49-F238E27FC236}">
                <a16:creationId xmlns:a16="http://schemas.microsoft.com/office/drawing/2014/main" id="{3EFA972E-E079-9800-8BC9-D2CE73EA2A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275" y="1264444"/>
            <a:ext cx="2993912" cy="5324615"/>
          </a:xfrm>
          <a:prstGeom prst="rect">
            <a:avLst/>
          </a:prstGeom>
        </p:spPr>
      </p:pic>
      <p:pic>
        <p:nvPicPr>
          <p:cNvPr id="14" name="Immagine 13" descr="Immagine che contiene uomo, persona, eretto&#10;&#10;Descrizione generata automaticamente">
            <a:extLst>
              <a:ext uri="{FF2B5EF4-FFF2-40B4-BE49-F238E27FC236}">
                <a16:creationId xmlns:a16="http://schemas.microsoft.com/office/drawing/2014/main" id="{3C44EA76-57F7-6E6A-6D4E-75B16506C7F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09" b="9845"/>
          <a:stretch/>
        </p:blipFill>
        <p:spPr>
          <a:xfrm>
            <a:off x="8471201" y="4718365"/>
            <a:ext cx="3118182" cy="2139635"/>
          </a:xfrm>
          <a:prstGeom prst="rect">
            <a:avLst/>
          </a:prstGeom>
        </p:spPr>
      </p:pic>
      <p:pic>
        <p:nvPicPr>
          <p:cNvPr id="16" name="Immagine 15" descr="Immagine che contiene persona, aria aperta, uomo, costume da bagno&#10;&#10;Descrizione generata automaticamente">
            <a:extLst>
              <a:ext uri="{FF2B5EF4-FFF2-40B4-BE49-F238E27FC236}">
                <a16:creationId xmlns:a16="http://schemas.microsoft.com/office/drawing/2014/main" id="{FEBB8D14-F3F2-A8D1-B7B5-61C04C1041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2112" y="1646284"/>
            <a:ext cx="3714760" cy="4710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7217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5317"/>
            <a:ext cx="10515600" cy="3971645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</a:t>
            </a:r>
            <a:endParaRPr lang="it-IT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32</a:t>
            </a:fld>
            <a:endParaRPr lang="it-IT"/>
          </a:p>
        </p:txBody>
      </p:sp>
      <p:pic>
        <p:nvPicPr>
          <p:cNvPr id="9" name="Immagine 8" descr="Immagine che contiene vestiti&#10;&#10;Descrizione generata automaticamente">
            <a:extLst>
              <a:ext uri="{FF2B5EF4-FFF2-40B4-BE49-F238E27FC236}">
                <a16:creationId xmlns:a16="http://schemas.microsoft.com/office/drawing/2014/main" id="{2A7195CF-B7B5-5ADC-0D2F-37DB83A6EFC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93" r="51823"/>
          <a:stretch/>
        </p:blipFill>
        <p:spPr>
          <a:xfrm>
            <a:off x="366685" y="1422195"/>
            <a:ext cx="3671915" cy="4934155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7B716119-E26E-6A48-A874-BDCDAFE4D37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14" t="5686" r="29503" b="30784"/>
          <a:stretch/>
        </p:blipFill>
        <p:spPr>
          <a:xfrm>
            <a:off x="4038600" y="2232212"/>
            <a:ext cx="3792071" cy="4356847"/>
          </a:xfrm>
          <a:prstGeom prst="rect">
            <a:avLst/>
          </a:prstGeom>
        </p:spPr>
      </p:pic>
      <p:pic>
        <p:nvPicPr>
          <p:cNvPr id="14" name="Immagine 13" descr="Immagine che contiene persona, donna, vestiti, interno&#10;&#10;Descrizione generata automaticamente">
            <a:extLst>
              <a:ext uri="{FF2B5EF4-FFF2-40B4-BE49-F238E27FC236}">
                <a16:creationId xmlns:a16="http://schemas.microsoft.com/office/drawing/2014/main" id="{8E26D2EE-D284-1B4B-8E52-31F08737C1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8912" y="2904566"/>
            <a:ext cx="3986575" cy="2834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1492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5317"/>
            <a:ext cx="10515600" cy="3971645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</a:t>
            </a:r>
            <a:endParaRPr lang="it-IT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33</a:t>
            </a:fld>
            <a:endParaRPr lang="it-IT"/>
          </a:p>
        </p:txBody>
      </p:sp>
      <p:pic>
        <p:nvPicPr>
          <p:cNvPr id="8" name="Immagine 7" descr="Immagine che contiene persona, uomo, vestiti, abito&#10;&#10;Descrizione generata automaticamente">
            <a:extLst>
              <a:ext uri="{FF2B5EF4-FFF2-40B4-BE49-F238E27FC236}">
                <a16:creationId xmlns:a16="http://schemas.microsoft.com/office/drawing/2014/main" id="{A987C572-748C-BCA4-FD17-55A51D500E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698" y="1238997"/>
            <a:ext cx="4514850" cy="5038725"/>
          </a:xfrm>
          <a:prstGeom prst="rect">
            <a:avLst/>
          </a:prstGeom>
        </p:spPr>
      </p:pic>
      <p:pic>
        <p:nvPicPr>
          <p:cNvPr id="15" name="Immagine 14" descr="Immagine che contiene uomo, persona, aria aperta&#10;&#10;Descrizione generata automaticamente">
            <a:extLst>
              <a:ext uri="{FF2B5EF4-FFF2-40B4-BE49-F238E27FC236}">
                <a16:creationId xmlns:a16="http://schemas.microsoft.com/office/drawing/2014/main" id="{0CECB9D7-07EF-EF06-92FA-BF305953AF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8153" y="1622084"/>
            <a:ext cx="3528650" cy="4697422"/>
          </a:xfrm>
          <a:prstGeom prst="rect">
            <a:avLst/>
          </a:prstGeom>
        </p:spPr>
      </p:pic>
      <p:pic>
        <p:nvPicPr>
          <p:cNvPr id="17" name="Immagine 16" descr="Immagine che contiene persona, vestiti&#10;&#10;Descrizione generata automaticamente">
            <a:extLst>
              <a:ext uri="{FF2B5EF4-FFF2-40B4-BE49-F238E27FC236}">
                <a16:creationId xmlns:a16="http://schemas.microsoft.com/office/drawing/2014/main" id="{DD4FC3F6-C4D4-A055-9AD1-0E43C7122AB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36" t="11588" r="8860"/>
          <a:stretch/>
        </p:blipFill>
        <p:spPr>
          <a:xfrm>
            <a:off x="8831543" y="2148306"/>
            <a:ext cx="3286955" cy="394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6009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pic>
        <p:nvPicPr>
          <p:cNvPr id="13" name="Segnaposto contenuto 12">
            <a:extLst>
              <a:ext uri="{FF2B5EF4-FFF2-40B4-BE49-F238E27FC236}">
                <a16:creationId xmlns:a16="http://schemas.microsoft.com/office/drawing/2014/main" id="{79889185-81FF-26D4-B71D-4D1662E506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76" b="3791"/>
          <a:stretch/>
        </p:blipFill>
        <p:spPr>
          <a:xfrm>
            <a:off x="217287" y="1391770"/>
            <a:ext cx="4317252" cy="2895787"/>
          </a:xfr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34</a:t>
            </a:fld>
            <a:endParaRPr lang="it-IT"/>
          </a:p>
        </p:txBody>
      </p:sp>
      <p:pic>
        <p:nvPicPr>
          <p:cNvPr id="9" name="Immagine 8" descr="Immagine che contiene persona, muro, interno, posare&#10;&#10;Descrizione generata automaticamente">
            <a:extLst>
              <a:ext uri="{FF2B5EF4-FFF2-40B4-BE49-F238E27FC236}">
                <a16:creationId xmlns:a16="http://schemas.microsoft.com/office/drawing/2014/main" id="{E5828E4D-EAD6-93C1-FD68-A2C6766514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1914" y="2171436"/>
            <a:ext cx="4600086" cy="3240056"/>
          </a:xfrm>
          <a:prstGeom prst="rect">
            <a:avLst/>
          </a:prstGeom>
        </p:spPr>
      </p:pic>
      <p:pic>
        <p:nvPicPr>
          <p:cNvPr id="11" name="Immagine 10" descr="Immagine che contiene acqua, aria aperta, persona, cielo&#10;&#10;Descrizione generata automaticamente">
            <a:extLst>
              <a:ext uri="{FF2B5EF4-FFF2-40B4-BE49-F238E27FC236}">
                <a16:creationId xmlns:a16="http://schemas.microsoft.com/office/drawing/2014/main" id="{FFB55099-B829-BE55-0522-345B45FC09B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46" r="26233"/>
          <a:stretch/>
        </p:blipFill>
        <p:spPr>
          <a:xfrm>
            <a:off x="343648" y="4287557"/>
            <a:ext cx="2527531" cy="2448859"/>
          </a:xfrm>
          <a:prstGeom prst="rect">
            <a:avLst/>
          </a:prstGeom>
        </p:spPr>
      </p:pic>
      <p:pic>
        <p:nvPicPr>
          <p:cNvPr id="16" name="Immagine 15" descr="Immagine che contiene persona, uomo, interno, posare&#10;&#10;Descrizione generata automaticamente">
            <a:extLst>
              <a:ext uri="{FF2B5EF4-FFF2-40B4-BE49-F238E27FC236}">
                <a16:creationId xmlns:a16="http://schemas.microsoft.com/office/drawing/2014/main" id="{846F6821-187A-73D7-3FED-0AAFC7D77C9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8701" y="4117386"/>
            <a:ext cx="4114801" cy="2740613"/>
          </a:xfrm>
          <a:prstGeom prst="rect">
            <a:avLst/>
          </a:prstGeom>
        </p:spPr>
      </p:pic>
      <p:pic>
        <p:nvPicPr>
          <p:cNvPr id="19" name="Immagine 18" descr="Immagine che contiene testo, letto&#10;&#10;Descrizione generata automaticamente">
            <a:extLst>
              <a:ext uri="{FF2B5EF4-FFF2-40B4-BE49-F238E27FC236}">
                <a16:creationId xmlns:a16="http://schemas.microsoft.com/office/drawing/2014/main" id="{F6386D17-D5F3-E245-9865-1206E1DB346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57" r="8860" b="19709"/>
          <a:stretch/>
        </p:blipFill>
        <p:spPr>
          <a:xfrm>
            <a:off x="4811884" y="1231765"/>
            <a:ext cx="2928504" cy="274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9492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35</a:t>
            </a:fld>
            <a:endParaRPr lang="it-IT"/>
          </a:p>
        </p:txBody>
      </p:sp>
      <p:pic>
        <p:nvPicPr>
          <p:cNvPr id="14" name="Segnaposto contenuto 13" descr="Immagine che contiene persona&#10;&#10;Descrizione generata automaticamente">
            <a:extLst>
              <a:ext uri="{FF2B5EF4-FFF2-40B4-BE49-F238E27FC236}">
                <a16:creationId xmlns:a16="http://schemas.microsoft.com/office/drawing/2014/main" id="{B021DDD5-1AA9-B810-E145-D2215AAF72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0682" y="1619751"/>
            <a:ext cx="7961517" cy="4736599"/>
          </a:xfrm>
        </p:spPr>
      </p:pic>
    </p:spTree>
    <p:extLst>
      <p:ext uri="{BB962C8B-B14F-4D97-AF65-F5344CB8AC3E}">
        <p14:creationId xmlns:p14="http://schemas.microsoft.com/office/powerpoint/2010/main" val="25035134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B55790047DD8148ABBA2789AA47C320" ma:contentTypeVersion="9" ma:contentTypeDescription="Create a new document." ma:contentTypeScope="" ma:versionID="98086a916431a8e183077b15f42af6f4">
  <xsd:schema xmlns:xsd="http://www.w3.org/2001/XMLSchema" xmlns:xs="http://www.w3.org/2001/XMLSchema" xmlns:p="http://schemas.microsoft.com/office/2006/metadata/properties" xmlns:ns2="4c1e1bc0-20d7-4915-b349-ec50805d4704" xmlns:ns3="17b4f9ba-5d33-4440-816d-df83934b65a5" targetNamespace="http://schemas.microsoft.com/office/2006/metadata/properties" ma:root="true" ma:fieldsID="9fefe5fa148b4c4f793265d39efa4f41" ns2:_="" ns3:_="">
    <xsd:import namespace="4c1e1bc0-20d7-4915-b349-ec50805d4704"/>
    <xsd:import namespace="17b4f9ba-5d33-4440-816d-df83934b65a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1e1bc0-20d7-4915-b349-ec50805d470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35712a47-566f-4e2f-ac2c-6a691c9ee46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b4f9ba-5d33-4440-816d-df83934b65a5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a00fc7f-b5c3-40ce-a31d-e4a375ba7a0b}" ma:internalName="TaxCatchAll" ma:showField="CatchAllData" ma:web="17b4f9ba-5d33-4440-816d-df83934b65a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7b4f9ba-5d33-4440-816d-df83934b65a5" xsi:nil="true"/>
    <lcf76f155ced4ddcb4097134ff3c332f xmlns="4c1e1bc0-20d7-4915-b349-ec50805d470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2995AF9-2E7B-4FCC-A4B8-0D0FE1C5FF26}"/>
</file>

<file path=customXml/itemProps2.xml><?xml version="1.0" encoding="utf-8"?>
<ds:datastoreItem xmlns:ds="http://schemas.openxmlformats.org/officeDocument/2006/customXml" ds:itemID="{20614E0C-293D-4EB8-B702-1C3CC1F9A162}"/>
</file>

<file path=customXml/itemProps3.xml><?xml version="1.0" encoding="utf-8"?>
<ds:datastoreItem xmlns:ds="http://schemas.openxmlformats.org/officeDocument/2006/customXml" ds:itemID="{CD14A55A-B12A-482D-845F-2C67A2CA1A57}"/>
</file>

<file path=docProps/app.xml><?xml version="1.0" encoding="utf-8"?>
<Properties xmlns="http://schemas.openxmlformats.org/officeDocument/2006/extended-properties" xmlns:vt="http://schemas.openxmlformats.org/officeDocument/2006/docPropsVTypes">
  <TotalTime>3772</TotalTime>
  <Words>1211</Words>
  <Application>Microsoft Office PowerPoint</Application>
  <PresentationFormat>Widescreen</PresentationFormat>
  <Paragraphs>286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Arial</vt:lpstr>
      <vt:lpstr>Britannic Bold</vt:lpstr>
      <vt:lpstr>Calibri</vt:lpstr>
      <vt:lpstr>Calibri Light</vt:lpstr>
      <vt:lpstr>Times New Roman</vt:lpstr>
      <vt:lpstr>Wingdings</vt:lpstr>
      <vt:lpstr>Tema di Office</vt:lpstr>
      <vt:lpstr>UNIVERSITY OF MESSINA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OF MESSINA</dc:title>
  <dc:creator>MARIA RITA BARTOLOMEI</dc:creator>
  <cp:lastModifiedBy>Clelia Boscolo</cp:lastModifiedBy>
  <cp:revision>30</cp:revision>
  <dcterms:created xsi:type="dcterms:W3CDTF">2023-04-11T08:02:39Z</dcterms:created>
  <dcterms:modified xsi:type="dcterms:W3CDTF">2023-05-28T17:41:44Z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0x010100FB55790047DD8148ABBA2789AA47C320</vt:lpwstr>
  </property>
</Properties>
</file>