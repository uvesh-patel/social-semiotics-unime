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313" r:id="rId3"/>
    <p:sldId id="315" r:id="rId4"/>
    <p:sldId id="314" r:id="rId5"/>
    <p:sldId id="320" r:id="rId6"/>
    <p:sldId id="316" r:id="rId7"/>
    <p:sldId id="317" r:id="rId8"/>
    <p:sldId id="318" r:id="rId9"/>
    <p:sldId id="319" r:id="rId10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30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17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customXml" Target="../customXml/item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9CD27C9-7243-2FBA-4357-D44B585FF7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BCB4108E-A75E-7E39-2B4D-3C7273FD0D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20751E7-227B-8523-2AA7-568F60049E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5FD72-ABAB-47A5-9DAD-8253FA169324}" type="datetimeFigureOut">
              <a:rPr lang="it-IT" smtClean="0"/>
              <a:t>28/05/2023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E960F52-1791-C1E4-30FD-1DFFF6AFC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0A21987-98EF-5024-1CCF-64243ADDB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BAAB30-553E-498F-BBBD-FEC3FEA82787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502683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9887EEF-9B65-5C60-EF6D-A84D3A6AD5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9024415-621D-6170-2411-A67E9BFDD2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A8B9BA5-D18A-24BB-02D9-F64A0D7A0C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5FD72-ABAB-47A5-9DAD-8253FA169324}" type="datetimeFigureOut">
              <a:rPr lang="it-IT" smtClean="0"/>
              <a:t>28/05/2023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DBBBFAB-A735-CE0A-518C-F1AEC7F418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AAF9799-9051-DD21-F154-301F42B66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BAAB30-553E-498F-BBBD-FEC3FEA82787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842450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068C17B-1AD6-2AC3-B8CB-6F66BD0E1F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B78B6197-C95C-A51F-A225-44E0CF12A1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7C405ECE-6349-781A-BE36-6F78EA55F5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5FD72-ABAB-47A5-9DAD-8253FA169324}" type="datetimeFigureOut">
              <a:rPr lang="it-IT" smtClean="0"/>
              <a:t>28/05/2023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59654F9-3AEF-1916-0D97-EC382C9EA2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6027EF8-0A2F-81EC-4CB0-09470AF93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BAAB30-553E-498F-BBBD-FEC3FEA82787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489258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908783B-2C09-81E9-4DC2-722E115AD9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C887DC1-D516-726D-C928-9DB5A3F320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CDC6FB81-2D85-8C19-9A2C-4E828A6488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8CF7DE97-4220-14A5-4F01-B4A55B6F0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5FD72-ABAB-47A5-9DAD-8253FA169324}" type="datetimeFigureOut">
              <a:rPr lang="it-IT" smtClean="0"/>
              <a:t>28/05/2023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0C52DCAE-A4FF-AF8A-19C5-ED47DC5F58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39EAE29C-DD42-9273-E379-08C5A9E35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BAAB30-553E-498F-BBBD-FEC3FEA82787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273204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49FD8C6-7EA0-990B-269E-E3C7E0108E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3749741D-17AB-47BF-552E-139E223125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BCAE7C47-46B0-8349-DFFD-000B1BE48E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83281D21-8259-35D4-9DD0-009BCD4AD3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3E363BAF-E276-A410-7953-CBC790AC54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B5C00703-C6D2-1632-51BD-1D355B737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5FD72-ABAB-47A5-9DAD-8253FA169324}" type="datetimeFigureOut">
              <a:rPr lang="it-IT" smtClean="0"/>
              <a:t>28/05/2023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201FD625-1B6F-F8F3-24E1-28F0FD3400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FC8A844C-452B-2FDC-C79B-A0C53113C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BAAB30-553E-498F-BBBD-FEC3FEA82787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080926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FDDBF9D-6052-BC42-8469-12EA979560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FBA1B7BD-7905-2508-F45C-2F1E822EAF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5FD72-ABAB-47A5-9DAD-8253FA169324}" type="datetimeFigureOut">
              <a:rPr lang="it-IT" smtClean="0"/>
              <a:t>28/05/2023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F7E791F9-8D5D-4360-56D0-F26C548BEB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1EE595CD-C71F-A6B7-B691-5EB3A6F86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BAAB30-553E-498F-BBBD-FEC3FEA82787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047547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FDE72EB0-6464-5DEC-F883-7E468A956F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5FD72-ABAB-47A5-9DAD-8253FA169324}" type="datetimeFigureOut">
              <a:rPr lang="it-IT" smtClean="0"/>
              <a:t>28/05/2023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D287D336-94F4-F762-29FC-8AE83A14A4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60D2DC65-ED34-ED10-D240-617EAAC00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BAAB30-553E-498F-BBBD-FEC3FEA82787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77315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D3416F0-B6E4-5B2A-B72B-334804D330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9C6515E-7F04-0C00-699A-0F37C99D04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084267EE-F32A-355B-9E4F-36AA864949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C7E57EF9-CB5E-D402-5885-8BBFFD7558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5FD72-ABAB-47A5-9DAD-8253FA169324}" type="datetimeFigureOut">
              <a:rPr lang="it-IT" smtClean="0"/>
              <a:t>28/05/2023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D9044263-FAF6-9014-BF9D-4E0589A406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A78D884E-D2BE-6BDC-9519-07BC32AFCA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BAAB30-553E-498F-BBBD-FEC3FEA82787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23409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099E794-A2B8-C426-6E11-041244B75D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F761005A-BCDE-D9DD-5D8D-133C8816FE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8013C037-7836-7479-7E2E-B432343769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771D542A-5219-E3FF-60B0-06DFA45959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5FD72-ABAB-47A5-9DAD-8253FA169324}" type="datetimeFigureOut">
              <a:rPr lang="it-IT" smtClean="0"/>
              <a:t>28/05/2023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A6F73047-0A2D-652A-030F-59EF51248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41D1CEA8-AADF-F386-5252-FEFD347806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BAAB30-553E-498F-BBBD-FEC3FEA82787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693529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C86EC0E-324C-6A9C-3186-AF2C2BE1F4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271448E1-182B-5A51-AD15-3BEFE2E0FB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7F104AB8-424E-071C-4636-E1EA39D7B0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5FD72-ABAB-47A5-9DAD-8253FA169324}" type="datetimeFigureOut">
              <a:rPr lang="it-IT" smtClean="0"/>
              <a:t>28/05/2023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3D8F592-F9E5-728C-57C1-82B5B7F125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913FF25-811D-9C47-E4CB-BA73DED57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BAAB30-553E-498F-BBBD-FEC3FEA82787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319532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0EC921CB-624F-A8AC-FEF8-9AE112356B5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E4167065-44A9-011D-4CAF-DABB4A62E3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4956E0C-FBB5-227C-D774-3BA23A711F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5FD72-ABAB-47A5-9DAD-8253FA169324}" type="datetimeFigureOut">
              <a:rPr lang="it-IT" smtClean="0"/>
              <a:t>28/05/2023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555231F-0FB0-C2F0-475A-89A18EF7C7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D6D4D92-19F1-D278-10C2-EB7A33B564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BAAB30-553E-498F-BBBD-FEC3FEA82787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652941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3D23BCC4-5C73-CAD7-10BA-5014A97EF4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CD074E72-17B7-20D3-5846-93E4D15085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10F5119-A19A-FC44-3DF7-CFD3D81D42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75FD72-ABAB-47A5-9DAD-8253FA169324}" type="datetimeFigureOut">
              <a:rPr lang="it-IT" smtClean="0"/>
              <a:t>28/05/2023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BBE7521-7074-00C1-A19F-C0E12D32EE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26C8468-8A15-1A58-11D0-6E70879428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BAAB30-553E-498F-BBBD-FEC3FEA82787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720389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3">
            <a:extLst>
              <a:ext uri="{FF2B5EF4-FFF2-40B4-BE49-F238E27FC236}">
                <a16:creationId xmlns:a16="http://schemas.microsoft.com/office/drawing/2014/main" id="{C6E8C581-25A3-E33E-D7DD-A2B2A41FF8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dirty="0">
                <a:latin typeface="Britannic Bold" panose="020B0903060703020204" pitchFamily="34" charset="0"/>
              </a:rPr>
              <a:t>UNIVERSITY OF MESSINA</a:t>
            </a:r>
          </a:p>
        </p:txBody>
      </p:sp>
      <p:sp>
        <p:nvSpPr>
          <p:cNvPr id="5" name="Segnaposto contenuto 4">
            <a:extLst>
              <a:ext uri="{FF2B5EF4-FFF2-40B4-BE49-F238E27FC236}">
                <a16:creationId xmlns:a16="http://schemas.microsoft.com/office/drawing/2014/main" id="{A3F7D7EE-8FE9-90F4-02E6-6CD1AF8216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306" y="1948003"/>
            <a:ext cx="11403106" cy="4291432"/>
          </a:xfrm>
        </p:spPr>
        <p:txBody>
          <a:bodyPr>
            <a:normAutofit fontScale="62500" lnSpcReduction="20000"/>
          </a:bodyPr>
          <a:lstStyle/>
          <a:p>
            <a:pPr marL="0" indent="0" algn="ctr">
              <a:buNone/>
            </a:pPr>
            <a:r>
              <a:rPr lang="it-IT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</a:t>
            </a:r>
          </a:p>
          <a:p>
            <a:pPr marL="0" indent="0" algn="ctr">
              <a:buNone/>
            </a:pPr>
            <a:r>
              <a:rPr lang="it-IT" sz="4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Cognitive Science and Theory of </a:t>
            </a:r>
            <a:r>
              <a:rPr lang="it-IT" sz="45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</a:t>
            </a:r>
            <a:r>
              <a:rPr lang="it-IT" sz="4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sz="45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LM-55</a:t>
            </a:r>
          </a:p>
          <a:p>
            <a:pPr marL="0" indent="0" algn="ctr">
              <a:buNone/>
            </a:pPr>
            <a:endParaRPr lang="it-IT" sz="26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it-IT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Course Title</a:t>
            </a:r>
          </a:p>
          <a:p>
            <a:pPr marL="0" indent="0" algn="ctr">
              <a:buNone/>
            </a:pPr>
            <a:r>
              <a:rPr lang="en-US" sz="240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it-IT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t-IT" sz="51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SOCIAL SEMIOTICS</a:t>
            </a:r>
          </a:p>
          <a:p>
            <a:pPr marL="0" indent="0" algn="ctr">
              <a:buNone/>
            </a:pPr>
            <a:endParaRPr lang="it-IT" sz="33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20000"/>
              </a:lnSpc>
              <a:spcBef>
                <a:spcPts val="0"/>
              </a:spcBef>
              <a:buNone/>
            </a:pPr>
            <a:r>
              <a:rPr lang="it-IT" sz="38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Teacher</a:t>
            </a:r>
            <a:endParaRPr lang="it-IT" sz="3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20000"/>
              </a:lnSpc>
              <a:spcBef>
                <a:spcPts val="0"/>
              </a:spcBef>
              <a:buNone/>
            </a:pPr>
            <a:r>
              <a:rPr lang="it-IT" sz="38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Maria Rita Bartolomei</a:t>
            </a:r>
            <a:endParaRPr lang="it-IT" sz="3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Mail: mabartolomei@unime.it</a:t>
            </a:r>
          </a:p>
        </p:txBody>
      </p:sp>
      <p:pic>
        <p:nvPicPr>
          <p:cNvPr id="6" name="Segnaposto contenuto 4" descr="Immagine che contiene testo, contenitore, scatola&#10;&#10;Descrizione generata automaticamente">
            <a:extLst>
              <a:ext uri="{FF2B5EF4-FFF2-40B4-BE49-F238E27FC236}">
                <a16:creationId xmlns:a16="http://schemas.microsoft.com/office/drawing/2014/main" id="{DDD7C24D-9569-D55D-FAB3-A977C76C58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18508" y="309515"/>
            <a:ext cx="1638487" cy="1638487"/>
          </a:xfrm>
          <a:prstGeom prst="rect">
            <a:avLst/>
          </a:prstGeom>
        </p:spPr>
      </p:pic>
      <p:sp>
        <p:nvSpPr>
          <p:cNvPr id="7" name="Segnaposto piè di pagina 6">
            <a:extLst>
              <a:ext uri="{FF2B5EF4-FFF2-40B4-BE49-F238E27FC236}">
                <a16:creationId xmlns:a16="http://schemas.microsoft.com/office/drawing/2014/main" id="{A636110D-77B9-3AB4-BE50-9B93911F2E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Maria Rita Bartolomei</a:t>
            </a:r>
          </a:p>
        </p:txBody>
      </p:sp>
      <p:sp>
        <p:nvSpPr>
          <p:cNvPr id="8" name="Segnaposto numero diapositiva 7">
            <a:extLst>
              <a:ext uri="{FF2B5EF4-FFF2-40B4-BE49-F238E27FC236}">
                <a16:creationId xmlns:a16="http://schemas.microsoft.com/office/drawing/2014/main" id="{CCFFF47F-2082-A8BD-E214-32F787B2A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625581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916" y="1761565"/>
            <a:ext cx="11250708" cy="4594785"/>
          </a:xfrm>
        </p:spPr>
        <p:txBody>
          <a:bodyPr>
            <a:normAutofit fontScale="92500" lnSpcReduction="20000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it-IT" sz="36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STYLE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endParaRPr lang="it-IT" sz="32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it-IT" sz="32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Style is a way of writing, speaking or doing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it-IT" sz="32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GB" dirty="0">
                <a:latin typeface="Times New Roman" panose="02020603050405020304" pitchFamily="18" charset="0"/>
                <a:ea typeface="Calibri" panose="020F0502020204030204" pitchFamily="34" charset="0"/>
              </a:rPr>
              <a:t>A definition includes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GB" sz="22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GB" sz="11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GB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GB" sz="35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Discourse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endParaRPr lang="en-GB" sz="11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GB" sz="3500" dirty="0">
                <a:latin typeface="Times New Roman" panose="02020603050405020304" pitchFamily="18" charset="0"/>
                <a:ea typeface="Calibri" panose="020F0502020204030204" pitchFamily="34" charset="0"/>
              </a:rPr>
              <a:t> Genre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endParaRPr lang="en-GB" sz="11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GB" sz="35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Style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endParaRPr lang="en-GB" sz="30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it-IT" sz="3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idea of </a:t>
            </a:r>
            <a:r>
              <a:rPr lang="it-IT" sz="32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style</a:t>
            </a:r>
            <a:r>
              <a:rPr lang="it-IT" sz="3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t-IT" sz="32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is</a:t>
            </a:r>
            <a:r>
              <a:rPr lang="it-IT" sz="3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t-IT" sz="32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becoming</a:t>
            </a:r>
            <a:r>
              <a:rPr lang="it-IT" sz="3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increasingly important in contemporary society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it-IT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224901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915" y="1881420"/>
            <a:ext cx="11291049" cy="4474930"/>
          </a:xfrm>
        </p:spPr>
        <p:txBody>
          <a:bodyPr>
            <a:normAutofit fontScale="92500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it-IT" sz="36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STYLE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endParaRPr lang="it-IT" sz="32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r>
              <a:rPr lang="it-IT" sz="3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Style </a:t>
            </a:r>
            <a:r>
              <a:rPr lang="it-IT" sz="32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has</a:t>
            </a:r>
            <a:r>
              <a:rPr lang="it-IT" sz="3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t-IT" sz="32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meaning</a:t>
            </a:r>
            <a:r>
              <a:rPr lang="it-IT" sz="3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it-IT" sz="32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expressive</a:t>
            </a:r>
            <a:r>
              <a:rPr lang="it-IT" sz="3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t-IT" sz="32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meaning</a:t>
            </a:r>
            <a:endParaRPr lang="it-IT" sz="32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endParaRPr lang="it-IT" sz="22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r>
              <a:rPr lang="it-IT" sz="3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Style </a:t>
            </a:r>
            <a:r>
              <a:rPr lang="it-IT" sz="32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expresses</a:t>
            </a:r>
            <a:endParaRPr lang="it-IT" sz="32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GB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the personality of the speaker or writer or painter or actor</a:t>
            </a:r>
          </a:p>
          <a:p>
            <a:pPr algn="just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endParaRPr lang="it-IT" sz="9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GB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values, attitudes, feelings about what is said, written, painted or acted </a:t>
            </a:r>
          </a:p>
          <a:p>
            <a:pPr algn="just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endParaRPr lang="en-GB" sz="9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GB" sz="3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the </a:t>
            </a:r>
            <a:r>
              <a:rPr lang="en-US" sz="3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relationship between individual freedom and social determination</a:t>
            </a:r>
            <a:endParaRPr lang="it-IT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it-IT" sz="32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191260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916" y="1881420"/>
            <a:ext cx="11183472" cy="4474930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it-IT" sz="36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STYLE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endParaRPr lang="it-IT" sz="36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14350" indent="-514350" algn="just">
              <a:lnSpc>
                <a:spcPct val="100000"/>
              </a:lnSpc>
              <a:spcBef>
                <a:spcPts val="0"/>
              </a:spcBef>
              <a:buAutoNum type="arabicPeriod"/>
            </a:pPr>
            <a:r>
              <a:rPr lang="it-IT" sz="32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Individual</a:t>
            </a:r>
            <a:r>
              <a:rPr lang="it-IT" sz="3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style </a:t>
            </a:r>
            <a:r>
              <a:rPr lang="it-IT" sz="32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is</a:t>
            </a:r>
            <a:r>
              <a:rPr lang="it-IT" sz="3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 </a:t>
            </a:r>
            <a:r>
              <a:rPr lang="it-IT" sz="32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mark</a:t>
            </a:r>
            <a:r>
              <a:rPr lang="it-IT" sz="3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of </a:t>
            </a:r>
            <a:r>
              <a:rPr lang="it-IT" sz="32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identity</a:t>
            </a:r>
            <a:endParaRPr lang="it-IT" sz="32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14350" indent="-514350" algn="just">
              <a:lnSpc>
                <a:spcPct val="100000"/>
              </a:lnSpc>
              <a:spcBef>
                <a:spcPts val="0"/>
              </a:spcBef>
              <a:buAutoNum type="arabicPeriod"/>
            </a:pPr>
            <a:endParaRPr lang="it-IT" sz="32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14350" indent="-514350" algn="just">
              <a:lnSpc>
                <a:spcPct val="100000"/>
              </a:lnSpc>
              <a:spcBef>
                <a:spcPts val="0"/>
              </a:spcBef>
              <a:buAutoNum type="arabicPeriod"/>
            </a:pPr>
            <a:r>
              <a:rPr lang="it-IT" sz="3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Social style expresses social position</a:t>
            </a:r>
          </a:p>
          <a:p>
            <a:pPr marL="514350" indent="-514350" algn="just">
              <a:lnSpc>
                <a:spcPct val="100000"/>
              </a:lnSpc>
              <a:spcBef>
                <a:spcPts val="0"/>
              </a:spcBef>
              <a:buAutoNum type="arabicPeriod"/>
            </a:pPr>
            <a:endParaRPr lang="it-IT" sz="32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14350" indent="-514350" algn="just">
              <a:lnSpc>
                <a:spcPct val="100000"/>
              </a:lnSpc>
              <a:spcBef>
                <a:spcPts val="0"/>
              </a:spcBef>
              <a:buAutoNum type="arabicPeriod"/>
            </a:pPr>
            <a:r>
              <a:rPr lang="it-IT" sz="3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Lifestyle combines individual and social style</a:t>
            </a:r>
          </a:p>
          <a:p>
            <a:pPr marL="514350" indent="-514350" algn="just">
              <a:lnSpc>
                <a:spcPct val="100000"/>
              </a:lnSpc>
              <a:spcBef>
                <a:spcPts val="0"/>
              </a:spcBef>
              <a:buAutoNum type="arabicPeriod"/>
            </a:pPr>
            <a:endParaRPr lang="it-IT" sz="32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47304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916" y="1881420"/>
            <a:ext cx="11183472" cy="4474930"/>
          </a:xfrm>
        </p:spPr>
        <p:txBody>
          <a:bodyPr>
            <a:normAutofit lnSpcReduction="10000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it-IT" sz="36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STYLE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endParaRPr lang="it-IT" sz="36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it-IT" sz="3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t-IT" sz="36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Individual</a:t>
            </a:r>
            <a:r>
              <a:rPr lang="it-IT" sz="36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style </a:t>
            </a:r>
            <a:r>
              <a:rPr lang="it-IT" sz="36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is</a:t>
            </a:r>
            <a:r>
              <a:rPr lang="it-IT" sz="3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 </a:t>
            </a:r>
            <a:r>
              <a:rPr lang="it-IT" sz="36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mark</a:t>
            </a:r>
            <a:r>
              <a:rPr lang="it-IT" sz="3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of </a:t>
            </a:r>
            <a:r>
              <a:rPr lang="it-IT" sz="36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identity</a:t>
            </a:r>
            <a:endParaRPr lang="it-IT" sz="36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endParaRPr lang="it-IT" sz="2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GB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GB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everyone has their own style in many of the things they do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endParaRPr lang="en-GB" sz="20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GB" sz="3200" dirty="0">
                <a:latin typeface="Times New Roman" panose="02020603050405020304" pitchFamily="18" charset="0"/>
                <a:ea typeface="Calibri" panose="020F0502020204030204" pitchFamily="34" charset="0"/>
              </a:rPr>
              <a:t> i</a:t>
            </a:r>
            <a:r>
              <a:rPr lang="en-GB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ndividual style can result from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endParaRPr lang="en-GB" sz="10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GB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conscious choices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endParaRPr lang="en-GB" sz="1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GB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unconscious behaviours</a:t>
            </a:r>
            <a:endParaRPr lang="it-IT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617744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916" y="1881420"/>
            <a:ext cx="11183472" cy="4474930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it-IT" sz="36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STYLE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endParaRPr lang="it-IT" sz="32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it-IT" sz="32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Individual</a:t>
            </a:r>
            <a:r>
              <a:rPr lang="it-IT" sz="3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style can be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it-IT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it-IT" sz="32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Impressive - </a:t>
            </a:r>
            <a:r>
              <a:rPr lang="en-GB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deliberately cultivated or imitated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it-IT" sz="20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it-IT" sz="32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Expressive</a:t>
            </a:r>
            <a:r>
              <a:rPr lang="it-IT" sz="32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- </a:t>
            </a:r>
            <a:r>
              <a:rPr lang="en-GB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guided by the unconscious</a:t>
            </a:r>
            <a:endParaRPr lang="it-IT" sz="32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840201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916" y="1881420"/>
            <a:ext cx="11183472" cy="4474930"/>
          </a:xfrm>
        </p:spPr>
        <p:txBody>
          <a:bodyPr>
            <a:normAutofit lnSpcReduction="10000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it-IT" sz="36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STYLE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endParaRPr lang="it-IT" sz="36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it-IT" sz="32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Social style </a:t>
            </a:r>
            <a:r>
              <a:rPr lang="it-IT" sz="32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is</a:t>
            </a:r>
            <a:r>
              <a:rPr lang="it-IT" sz="32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32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determined by social factors 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endParaRPr lang="it-IT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it-IT" sz="3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Social style </a:t>
            </a:r>
            <a:r>
              <a:rPr lang="it-IT" sz="32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expresses</a:t>
            </a:r>
            <a:endParaRPr lang="it-IT" sz="32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it-IT" sz="2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it-IT" sz="3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t-IT" sz="32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who</a:t>
            </a:r>
            <a:r>
              <a:rPr lang="it-IT" sz="3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t-IT" sz="32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we</a:t>
            </a:r>
            <a:r>
              <a:rPr lang="it-IT" sz="3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are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endParaRPr lang="it-IT" sz="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it-IT" sz="3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t-IT" sz="32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what</a:t>
            </a:r>
            <a:r>
              <a:rPr lang="it-IT" sz="3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t-IT" sz="32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we</a:t>
            </a:r>
            <a:r>
              <a:rPr lang="it-IT" sz="3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do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it-IT" sz="3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t-IT" sz="32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where</a:t>
            </a:r>
            <a:r>
              <a:rPr lang="it-IT" sz="3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t-IT" sz="32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we</a:t>
            </a:r>
            <a:r>
              <a:rPr lang="it-IT" sz="3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come from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57107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916" y="1881420"/>
            <a:ext cx="11183472" cy="4474930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it-IT" sz="36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STYLE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endParaRPr lang="it-IT" sz="36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en-GB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Lifestyle combines individual and social style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endParaRPr lang="en-GB" sz="32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GB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Lifestyle expresses both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GB" sz="20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GB" sz="3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Individual identity AND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endParaRPr lang="en-GB" sz="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GB" sz="3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Social belonging</a:t>
            </a:r>
            <a:endParaRPr lang="it-IT" sz="32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665242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916" y="1881420"/>
            <a:ext cx="11183472" cy="4474930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it-IT" sz="36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STYLE</a:t>
            </a:r>
            <a:endParaRPr lang="it-IT" sz="36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it-IT" sz="32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1139190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FB55790047DD8148ABBA2789AA47C320" ma:contentTypeVersion="9" ma:contentTypeDescription="Creare un nuovo documento." ma:contentTypeScope="" ma:versionID="f5d0184f3c0a15a1e0d0131ea4b30a13">
  <xsd:schema xmlns:xsd="http://www.w3.org/2001/XMLSchema" xmlns:xs="http://www.w3.org/2001/XMLSchema" xmlns:p="http://schemas.microsoft.com/office/2006/metadata/properties" xmlns:ns2="4c1e1bc0-20d7-4915-b349-ec50805d4704" xmlns:ns3="17b4f9ba-5d33-4440-816d-df83934b65a5" targetNamespace="http://schemas.microsoft.com/office/2006/metadata/properties" ma:root="true" ma:fieldsID="7198817151beefd45f5913d772bfde97" ns2:_="" ns3:_="">
    <xsd:import namespace="4c1e1bc0-20d7-4915-b349-ec50805d4704"/>
    <xsd:import namespace="17b4f9ba-5d33-4440-816d-df83934b65a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c1e1bc0-20d7-4915-b349-ec50805d470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Tag immagine" ma:readOnly="false" ma:fieldId="{5cf76f15-5ced-4ddc-b409-7134ff3c332f}" ma:taxonomyMulti="true" ma:sspId="35712a47-566f-4e2f-ac2c-6a691c9ee46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7b4f9ba-5d33-4440-816d-df83934b65a5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7a00fc7f-b5c3-40ce-a31d-e4a375ba7a0b}" ma:internalName="TaxCatchAll" ma:showField="CatchAllData" ma:web="17b4f9ba-5d33-4440-816d-df83934b65a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17b4f9ba-5d33-4440-816d-df83934b65a5" xsi:nil="true"/>
    <lcf76f155ced4ddcb4097134ff3c332f xmlns="4c1e1bc0-20d7-4915-b349-ec50805d4704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36D764A0-B27B-4720-8CBC-D32B178114E5}"/>
</file>

<file path=customXml/itemProps2.xml><?xml version="1.0" encoding="utf-8"?>
<ds:datastoreItem xmlns:ds="http://schemas.openxmlformats.org/officeDocument/2006/customXml" ds:itemID="{0A6682E2-BD12-4CD0-BBDB-4B9C9A83AACB}"/>
</file>

<file path=customXml/itemProps3.xml><?xml version="1.0" encoding="utf-8"?>
<ds:datastoreItem xmlns:ds="http://schemas.openxmlformats.org/officeDocument/2006/customXml" ds:itemID="{E45B2AD8-9F05-4FC6-B1E2-AB5C4E911251}"/>
</file>

<file path=docProps/app.xml><?xml version="1.0" encoding="utf-8"?>
<Properties xmlns="http://schemas.openxmlformats.org/officeDocument/2006/extended-properties" xmlns:vt="http://schemas.openxmlformats.org/officeDocument/2006/docPropsVTypes">
  <TotalTime>937</TotalTime>
  <Words>272</Words>
  <Application>Microsoft Office PowerPoint</Application>
  <PresentationFormat>Widescreen</PresentationFormat>
  <Paragraphs>108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Britannic Bold</vt:lpstr>
      <vt:lpstr>Calibri</vt:lpstr>
      <vt:lpstr>Calibri Light</vt:lpstr>
      <vt:lpstr>Times New Roman</vt:lpstr>
      <vt:lpstr>Wingdings</vt:lpstr>
      <vt:lpstr>Tema di Office</vt:lpstr>
      <vt:lpstr>UNIVERSITY OF MESSINA</vt:lpstr>
      <vt:lpstr>SOCIAL SEMIOTICS</vt:lpstr>
      <vt:lpstr>SOCIAL SEMIOTICS</vt:lpstr>
      <vt:lpstr>SOCIAL SEMIOTICS</vt:lpstr>
      <vt:lpstr>SOCIAL SEMIOTICS</vt:lpstr>
      <vt:lpstr>SOCIAL SEMIOTICS</vt:lpstr>
      <vt:lpstr>SOCIAL SEMIOTICS</vt:lpstr>
      <vt:lpstr>SOCIAL SEMIOTICS</vt:lpstr>
      <vt:lpstr>SOCIAL SEMIOTICS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UNIVERSITY OF MESSINA</dc:title>
  <dc:creator>MARIA RITA BARTOLOMEI</dc:creator>
  <cp:lastModifiedBy>Clelia Boscolo</cp:lastModifiedBy>
  <cp:revision>9</cp:revision>
  <dcterms:created xsi:type="dcterms:W3CDTF">2023-05-22T14:04:14Z</dcterms:created>
  <dcterms:modified xsi:type="dcterms:W3CDTF">2023-05-28T18:02:06Z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0x010100FB55790047DD8148ABBA2789AA47C320</vt:lpwstr>
  </property>
</Properties>
</file>