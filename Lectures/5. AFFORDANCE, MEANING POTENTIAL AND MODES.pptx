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313" r:id="rId3"/>
    <p:sldId id="322" r:id="rId4"/>
    <p:sldId id="321" r:id="rId5"/>
    <p:sldId id="303" r:id="rId6"/>
    <p:sldId id="331" r:id="rId7"/>
    <p:sldId id="265" r:id="rId8"/>
    <p:sldId id="300" r:id="rId9"/>
    <p:sldId id="325" r:id="rId10"/>
    <p:sldId id="328" r:id="rId11"/>
    <p:sldId id="326" r:id="rId12"/>
    <p:sldId id="327" r:id="rId13"/>
    <p:sldId id="329" r:id="rId14"/>
    <p:sldId id="264" r:id="rId15"/>
    <p:sldId id="324" r:id="rId16"/>
    <p:sldId id="332" r:id="rId17"/>
    <p:sldId id="334" r:id="rId18"/>
    <p:sldId id="298" r:id="rId19"/>
    <p:sldId id="278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C12077-DE00-7E6B-D40E-44397B1B3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4993205-F614-8DEA-9A87-D206B717D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C4FE8E-2163-9EFB-1C47-8CCDE2D0C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3708406-9EFC-43F1-9C54-F2B2FED5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D7699B8-8A8D-AE4D-5D7C-B7541D17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10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B2A932-B230-9A77-6BA0-0C9A317F4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AE5682-C6F7-7416-7259-EBDA78332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B3CAA8-4FF0-19C4-F2BB-32352C28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EF2FD7-1A41-83E2-0BAA-E21F1B771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0066ED1-377B-D243-2D0B-F4C0780BF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6770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24D8EA-C58E-A000-796F-94DCBAC7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B095C4-F789-9F20-8FAC-2440E08E0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847DDDA-40A7-8CD8-6D00-E84E88BE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611C25B-722E-C293-844D-E443E8FA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82C454-C597-920F-917D-7211BA13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7543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3B3577-65D3-8CC5-7D38-DC35C822B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70DFE2-45F2-C541-F178-298A680E13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6EAFB08-459A-C8D9-D383-BABDC328E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65FC110-FEF9-0DFA-6331-4681C26A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A2BBD70-14B9-C1D1-4FCA-75F6122A9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47461EF-3F10-A26D-8801-332CDF066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054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17EBBE-7348-8019-72A6-C27C1BC66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DACF18A-9B40-6723-D3AA-B289A12C6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E9088E8-AB05-20FA-7591-1EDE7766DD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B2875637-9290-92EA-7DE2-AFA232A964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CDE6A54-99A4-B33E-E3F2-E3CC731E6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8633D87-D126-885D-BE4E-627903E93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9F23BF6-D0A1-AE01-DC4F-7D2380D7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C61F762-CBBD-A4AD-F853-9C96C94F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6480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FD9B19-6122-ADAF-285A-8D644C94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7701BEF-14E5-0845-FD66-E85B10B65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E7BE947-62AA-11FE-B697-6094DA9B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2597D41-7533-C3A4-5BE9-E9B756F5C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952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BA58B7D-D3D6-A0FF-84E3-6DDED0717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694CC81-A4C0-211B-C301-2C230BFD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3180098-D7C4-2FBF-E1D0-66EBF88A3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9560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030C8B-AF1E-54F7-9941-7DAB2677B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46BA24-B4A3-B54B-6B0B-7DAB69E26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9B27B0A-CAB9-F416-C536-05E4E7FBA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245E6F4-966A-622B-EC76-E2D0DFEBE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102C186-89CB-CC22-BD25-98CAF66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480A8ED-6715-AD3D-9CAE-9ACC5CA6B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748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427B1A-36A1-34EF-A669-260B4DA46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D8A6EFB-DB74-2382-D611-6DAC8472D7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71962CE-60FB-606E-06FC-BE6DC28F2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41258B0-C373-4313-88D0-829D63444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C3FEB6-AE49-B4D5-F260-EBCEA634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1FE3889-C9D6-528F-712C-B26EF1C5A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95604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EEB1FC-A7F5-711D-A5FF-E085FEAF6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E6B306F-98FF-0D0D-CF2F-B49A3BA90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BD45434-B8CF-4BBC-88AB-D702A5D0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DDC683-8BA1-D243-868B-1A4B6B85F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DAB47DD-7638-46E4-9C11-BFCE627A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131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FFADA34D-6F32-D19F-CE49-00A9ED4A6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9A5EB88-7B7A-0F8A-6CCB-4FCFE07FF3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B0A0E5-8894-65CC-8430-95594AFA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676578-5D91-8DCD-8EF0-393F9C82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D2C865-8951-DD70-63D9-CB42C2FA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62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7EC6C47-42CE-0330-D21A-0710FC8AE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3F14A80-31CC-35A3-BD55-A09DEB519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F2E2233-AD92-E5C4-EA60-C94F970BD6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802F8-748D-4C4E-A38C-5B66FBC6D055}" type="datetimeFigureOut">
              <a:rPr lang="it-IT" smtClean="0"/>
              <a:t>03/04/2023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4C78CF-98EC-EF55-01FF-8DD66D99E6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2A28B30-AE9C-2F63-2985-C839F7CD9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379EC-C0C7-4A6C-BF66-81B2E5DFF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368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Affordances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16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potential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uses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a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given</a:t>
            </a: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stem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directly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their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observable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odes have different affordances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it-IT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mode has its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 potential, its affordances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making meaning</a:t>
            </a:r>
            <a:endParaRPr lang="it-IT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249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183472" cy="447493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Affordances</a:t>
            </a:r>
            <a:endParaRPr lang="it-IT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it-IT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observers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might notice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different affordances </a:t>
            </a:r>
            <a:r>
              <a:rPr lang="it-IT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Affordances are objective, but perception is selective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meanings we find in the world are both objective and subjective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All their uses take place in a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context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might have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8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cultural and social meaning</a:t>
            </a:r>
            <a:endParaRPr lang="it-IT" sz="2800" u="sng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it-IT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034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737102" cy="3971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 term “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 potential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focuses on meanings which have already been introduced into society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term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affordance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also brings in meanings which have not been recognized,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which are waiting to be discovered</a:t>
            </a:r>
          </a:p>
          <a:p>
            <a:pPr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The meaning potential – affordance of a semiotic resource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consists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all their past, present and future uses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74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have meaning in their cultural environments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meaning-potential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modes are the effect of the work of individuals as members of their society</a:t>
            </a:r>
            <a:endParaRPr lang="it-IT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meaning-potentials become part of the cultural resources of any one society</a:t>
            </a:r>
            <a:endParaRPr lang="it-IT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endParaRPr lang="it-IT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7500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705971"/>
            <a:ext cx="11012606" cy="447099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it-IT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Traffic </a:t>
            </a:r>
            <a:r>
              <a:rPr lang="it-IT" sz="40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</a:t>
            </a:r>
            <a:r>
              <a:rPr lang="it-IT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Abstract art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  <p:pic>
        <p:nvPicPr>
          <p:cNvPr id="14" name="Immagine 13" descr="Immagine che contiene testo&#10;&#10;Descrizione generata automaticamente">
            <a:extLst>
              <a:ext uri="{FF2B5EF4-FFF2-40B4-BE49-F238E27FC236}">
                <a16:creationId xmlns:a16="http://schemas.microsoft.com/office/drawing/2014/main" id="{E2D61581-8A98-588C-D4EF-B16BCE253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4943" y="2483893"/>
            <a:ext cx="5690171" cy="409226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33ED00E5-957A-B0B6-E82E-99D046113A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5" b="5474"/>
          <a:stretch/>
        </p:blipFill>
        <p:spPr>
          <a:xfrm>
            <a:off x="251745" y="2606723"/>
            <a:ext cx="5675314" cy="38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322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semiotics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a new and distinctive approach which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investigates how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modes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be integrated in multimodal artefacts and events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investigates how these resources are used in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specific historical, cultural and institutional contexts</a:t>
            </a: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9728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Semiotic resources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specific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forms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cultures</a:t>
            </a: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concept of “plural meanings” is crucial here.</a:t>
            </a:r>
            <a:endParaRPr lang="it-IT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0437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2E03899-8F57-2A7D-4BE4-EAEF628425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878" y="2560800"/>
            <a:ext cx="11082243" cy="3795550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329"/>
            <a:ext cx="10515600" cy="4662021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Red </a:t>
            </a:r>
            <a:r>
              <a:rPr kumimoji="0" lang="en-US" sz="4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colour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3600" b="1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+mn-cs"/>
              </a:rPr>
              <a:t>danger, passion, murder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371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85"/>
            <a:ext cx="10515600" cy="464357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66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en-US" sz="66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anger</a:t>
            </a:r>
            <a:endParaRPr lang="it-IT" sz="6600" dirty="0">
              <a:solidFill>
                <a:srgbClr val="FF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  <p:pic>
        <p:nvPicPr>
          <p:cNvPr id="8" name="Immagine 7" descr="Immagine che contiene logo&#10;&#10;Descrizione generata automaticamente">
            <a:extLst>
              <a:ext uri="{FF2B5EF4-FFF2-40B4-BE49-F238E27FC236}">
                <a16:creationId xmlns:a16="http://schemas.microsoft.com/office/drawing/2014/main" id="{86746477-0BC1-9156-85E8-3F118FCB3E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00" y="3002737"/>
            <a:ext cx="4514850" cy="3600450"/>
          </a:xfrm>
          <a:prstGeom prst="rect">
            <a:avLst/>
          </a:prstGeom>
        </p:spPr>
      </p:pic>
      <p:pic>
        <p:nvPicPr>
          <p:cNvPr id="10" name="Immagine 9" descr="Immagine che contiene testo, acqua, aria aperta, oceano&#10;&#10;Descrizione generata automaticamente">
            <a:extLst>
              <a:ext uri="{FF2B5EF4-FFF2-40B4-BE49-F238E27FC236}">
                <a16:creationId xmlns:a16="http://schemas.microsoft.com/office/drawing/2014/main" id="{5F846832-63D2-B21A-984E-0B3735BB5D5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5" t="4073" r="10035"/>
          <a:stretch/>
        </p:blipFill>
        <p:spPr>
          <a:xfrm>
            <a:off x="4728182" y="1673288"/>
            <a:ext cx="3400985" cy="2658897"/>
          </a:xfrm>
          <a:prstGeom prst="rect">
            <a:avLst/>
          </a:prstGeom>
        </p:spPr>
      </p:pic>
      <p:pic>
        <p:nvPicPr>
          <p:cNvPr id="12" name="Immagine 11" descr="Immagine che contiene testo, cartello&#10;&#10;Descrizione generata automaticamente">
            <a:extLst>
              <a:ext uri="{FF2B5EF4-FFF2-40B4-BE49-F238E27FC236}">
                <a16:creationId xmlns:a16="http://schemas.microsoft.com/office/drawing/2014/main" id="{6E4F4CF3-0836-D6EF-9C0B-6084F9D315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9" t="7807" r="6216" b="7321"/>
          <a:stretch/>
        </p:blipFill>
        <p:spPr>
          <a:xfrm>
            <a:off x="8250331" y="3762702"/>
            <a:ext cx="3941669" cy="295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38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85"/>
            <a:ext cx="10515600" cy="46435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7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assion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  <p:pic>
        <p:nvPicPr>
          <p:cNvPr id="9" name="Immagine 8" descr="Immagine che contiene bouquet, fiore, pianta&#10;&#10;Descrizione generata automaticamente">
            <a:extLst>
              <a:ext uri="{FF2B5EF4-FFF2-40B4-BE49-F238E27FC236}">
                <a16:creationId xmlns:a16="http://schemas.microsoft.com/office/drawing/2014/main" id="{32B5FE7B-A240-CABD-5AEA-2D0C581892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7" r="8997" b="6023"/>
          <a:stretch/>
        </p:blipFill>
        <p:spPr>
          <a:xfrm>
            <a:off x="502023" y="2615077"/>
            <a:ext cx="3576918" cy="424292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430FB276-B236-1DC8-A89F-EDCC584B27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86062"/>
            <a:ext cx="451485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90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85"/>
            <a:ext cx="10515600" cy="46435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6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Blood, murder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  <p:pic>
        <p:nvPicPr>
          <p:cNvPr id="9" name="Immagine 8" descr="Immagine che contiene persona, interno&#10;&#10;Descrizione generata automaticamente">
            <a:extLst>
              <a:ext uri="{FF2B5EF4-FFF2-40B4-BE49-F238E27FC236}">
                <a16:creationId xmlns:a16="http://schemas.microsoft.com/office/drawing/2014/main" id="{AD83E98C-033D-C3D2-B8ED-E5AF0251523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7"/>
          <a:stretch/>
        </p:blipFill>
        <p:spPr>
          <a:xfrm>
            <a:off x="3550711" y="2552167"/>
            <a:ext cx="5084365" cy="3678001"/>
          </a:xfrm>
          <a:prstGeom prst="rect">
            <a:avLst/>
          </a:prstGeom>
        </p:spPr>
      </p:pic>
      <p:pic>
        <p:nvPicPr>
          <p:cNvPr id="13" name="Immagine 12" descr="Immagine che contiene chiusura&#10;&#10;Descrizione generata automaticamente">
            <a:extLst>
              <a:ext uri="{FF2B5EF4-FFF2-40B4-BE49-F238E27FC236}">
                <a16:creationId xmlns:a16="http://schemas.microsoft.com/office/drawing/2014/main" id="{A1901CC0-92CE-1C20-6BD2-23FBB14368A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" r="17399" b="9474"/>
          <a:stretch/>
        </p:blipFill>
        <p:spPr>
          <a:xfrm>
            <a:off x="8505449" y="4058655"/>
            <a:ext cx="3686551" cy="2799345"/>
          </a:xfrm>
          <a:prstGeom prst="rect">
            <a:avLst/>
          </a:prstGeom>
        </p:spPr>
      </p:pic>
      <p:pic>
        <p:nvPicPr>
          <p:cNvPr id="15" name="Immagine 14" descr="Immagine che contiene diagramma&#10;&#10;Descrizione generata automaticamente">
            <a:extLst>
              <a:ext uri="{FF2B5EF4-FFF2-40B4-BE49-F238E27FC236}">
                <a16:creationId xmlns:a16="http://schemas.microsoft.com/office/drawing/2014/main" id="{827CDFE1-E722-BCBB-1C7B-422DD00088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3" r="5332" b="15965"/>
          <a:stretch/>
        </p:blipFill>
        <p:spPr>
          <a:xfrm>
            <a:off x="0" y="4195504"/>
            <a:ext cx="4274107" cy="265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3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85"/>
            <a:ext cx="10515600" cy="464357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en-US" sz="72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assion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  <p:pic>
        <p:nvPicPr>
          <p:cNvPr id="8" name="Immagine 7" descr="Immagine che contiene clipart&#10;&#10;Descrizione generata automaticamente">
            <a:extLst>
              <a:ext uri="{FF2B5EF4-FFF2-40B4-BE49-F238E27FC236}">
                <a16:creationId xmlns:a16="http://schemas.microsoft.com/office/drawing/2014/main" id="{1C6929AB-8A95-6726-BFB9-82385D8885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40" y="4947456"/>
            <a:ext cx="1925595" cy="1868721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2A4E0C9B-8F0E-472E-0643-CC3C7E3F8B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129" y="1956124"/>
            <a:ext cx="4514850" cy="2619375"/>
          </a:xfrm>
          <a:prstGeom prst="rect">
            <a:avLst/>
          </a:prstGeom>
        </p:spPr>
      </p:pic>
      <p:pic>
        <p:nvPicPr>
          <p:cNvPr id="16" name="Immagine 15" descr="Immagine che contiene porcellana&#10;&#10;Descrizione generata automaticamente">
            <a:extLst>
              <a:ext uri="{FF2B5EF4-FFF2-40B4-BE49-F238E27FC236}">
                <a16:creationId xmlns:a16="http://schemas.microsoft.com/office/drawing/2014/main" id="{5FE3AE42-4342-8C85-1E9A-6CBC2B114D3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481" y="1618224"/>
            <a:ext cx="2199583" cy="2199583"/>
          </a:xfrm>
          <a:prstGeom prst="rect">
            <a:avLst/>
          </a:prstGeom>
        </p:spPr>
      </p:pic>
      <p:pic>
        <p:nvPicPr>
          <p:cNvPr id="22" name="Immagine 21" descr="Immagine che contiene aria aperta, terreno, persona&#10;&#10;Descrizione generata automaticamente">
            <a:extLst>
              <a:ext uri="{FF2B5EF4-FFF2-40B4-BE49-F238E27FC236}">
                <a16:creationId xmlns:a16="http://schemas.microsoft.com/office/drawing/2014/main" id="{9E12039C-56FA-62B5-30D3-FABE57F3FA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079" y="4149832"/>
            <a:ext cx="3810000" cy="2619375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E0B2CD25-D0C5-4D75-7558-1757A37DE8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873" y="4564480"/>
            <a:ext cx="4028127" cy="2326402"/>
          </a:xfrm>
          <a:prstGeom prst="rect">
            <a:avLst/>
          </a:prstGeom>
        </p:spPr>
      </p:pic>
      <p:pic>
        <p:nvPicPr>
          <p:cNvPr id="26" name="Immagine 25" descr="Immagine che contiene pianta, fiore, bouquet&#10;&#10;Descrizione generata automaticamente">
            <a:extLst>
              <a:ext uri="{FF2B5EF4-FFF2-40B4-BE49-F238E27FC236}">
                <a16:creationId xmlns:a16="http://schemas.microsoft.com/office/drawing/2014/main" id="{A4B04CA6-1E2B-11AC-E0EF-E9E632F935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9" y="1938574"/>
            <a:ext cx="2305694" cy="2874821"/>
          </a:xfrm>
          <a:prstGeom prst="rect">
            <a:avLst/>
          </a:prstGeom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E3B4575C-B47A-BE8B-42DA-C820BB1CAD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128" y="3031810"/>
            <a:ext cx="2457500" cy="383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25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semiotics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is a branch of the field of semiotics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</a:rPr>
              <a:t>c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ollects, documents and catalogues semiotic resources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compares semiotic modes (image, music, and so on)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contributes to the discovery and development of new semiotic resources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has much in common with cultural studies and critical discourse analysis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4812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5317"/>
            <a:ext cx="10515600" cy="397164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Semiotic resources 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are not restricted to speech and writing and picture making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a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lmost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everything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we do or make allows the articulation of different social and cultural meanings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Walking could be an example</a:t>
            </a: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Tx/>
              <a:buChar char="-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There are different ways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o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 walking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1075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329"/>
            <a:ext cx="10515600" cy="44826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There are different ways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o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 walking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  <p:pic>
        <p:nvPicPr>
          <p:cNvPr id="8" name="Immagine 7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7B6862B6-A698-DCB9-7AD3-380A9A43C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247" y="2347522"/>
            <a:ext cx="6683188" cy="437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58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3385"/>
            <a:ext cx="10515600" cy="4643577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There are different ways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o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 walking</a:t>
            </a:r>
          </a:p>
          <a:p>
            <a:pPr marL="0" indent="0" algn="just">
              <a:lnSpc>
                <a:spcPct val="107000"/>
              </a:lnSpc>
              <a:spcBef>
                <a:spcPts val="0"/>
              </a:spcBef>
              <a:buNone/>
            </a:pPr>
            <a:endParaRPr lang="en-US" sz="1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B1250C5B-8B56-7642-866D-F56A8B6122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77" y="3271746"/>
            <a:ext cx="3462972" cy="3392299"/>
          </a:xfrm>
          <a:prstGeom prst="rect">
            <a:avLst/>
          </a:prstGeom>
        </p:spPr>
      </p:pic>
      <p:pic>
        <p:nvPicPr>
          <p:cNvPr id="11" name="Immagine 10" descr="Immagine che contiene clipart&#10;&#10;Descrizione generata automaticamente">
            <a:extLst>
              <a:ext uri="{FF2B5EF4-FFF2-40B4-BE49-F238E27FC236}">
                <a16:creationId xmlns:a16="http://schemas.microsoft.com/office/drawing/2014/main" id="{A6C50A17-DAFE-446E-A9A1-24BCE19C8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318" y="2219885"/>
            <a:ext cx="2925413" cy="3220010"/>
          </a:xfrm>
          <a:prstGeom prst="rect">
            <a:avLst/>
          </a:prstGeom>
        </p:spPr>
      </p:pic>
      <p:pic>
        <p:nvPicPr>
          <p:cNvPr id="13" name="Immagine 12" descr="Immagine che contiene clipart&#10;&#10;Descrizione generata automaticamente">
            <a:extLst>
              <a:ext uri="{FF2B5EF4-FFF2-40B4-BE49-F238E27FC236}">
                <a16:creationId xmlns:a16="http://schemas.microsoft.com/office/drawing/2014/main" id="{18AE017D-3FCC-7536-1B7E-9F05BAC7D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731" y="2520856"/>
            <a:ext cx="3025180" cy="3899647"/>
          </a:xfrm>
          <a:prstGeom prst="rect">
            <a:avLst/>
          </a:prstGeom>
        </p:spPr>
      </p:pic>
      <p:pic>
        <p:nvPicPr>
          <p:cNvPr id="15" name="Immagine 14" descr="Immagine che contiene clipart&#10;&#10;Descrizione generata automaticamente">
            <a:extLst>
              <a:ext uri="{FF2B5EF4-FFF2-40B4-BE49-F238E27FC236}">
                <a16:creationId xmlns:a16="http://schemas.microsoft.com/office/drawing/2014/main" id="{B41DEBD0-0179-4408-A391-5D08E2CC9D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843" y="2454048"/>
            <a:ext cx="2743200" cy="372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7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4670"/>
            <a:ext cx="10515600" cy="462167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a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perspectives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 are not fixed into unchanged codes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 are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which people use, design and adapt to make meaning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Signs cannot be separated from 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concrete forms of social relations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cannot exist without it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resources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take place 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 a social context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might have 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cultural and social meaning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ocial meaning-making processes of many types: verbal, written, visual, musical, aural, and so forth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These different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also be joined in </a:t>
            </a:r>
            <a:r>
              <a:rPr lang="en-US" sz="24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multimodal ensembles</a:t>
            </a:r>
            <a:endParaRPr lang="it-IT" sz="2400" u="sng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3139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16" y="1881420"/>
            <a:ext cx="11046385" cy="4474930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en-US" sz="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r>
              <a:rPr lang="en-US" b="1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Social semiotics – </a:t>
            </a: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theory which deals with </a:t>
            </a:r>
            <a:r>
              <a:rPr lang="en-US" b="1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meaning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 all its appearances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 all social occasions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en-US" dirty="0">
                <a:solidFill>
                  <a:srgbClr val="202124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in all cultural sites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Clr>
                <a:srgbClr val="000000"/>
              </a:buClr>
              <a:buNone/>
            </a:pPr>
            <a:endParaRPr lang="it-IT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10858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55790047DD8148ABBA2789AA47C320" ma:contentTypeVersion="9" ma:contentTypeDescription="Creare un nuovo documento." ma:contentTypeScope="" ma:versionID="f5d0184f3c0a15a1e0d0131ea4b30a13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7198817151beefd45f5913d772bfde97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Tag immagine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299D0FF-6FB0-45F1-ACE9-5D713EBC7836}"/>
</file>

<file path=customXml/itemProps2.xml><?xml version="1.0" encoding="utf-8"?>
<ds:datastoreItem xmlns:ds="http://schemas.openxmlformats.org/officeDocument/2006/customXml" ds:itemID="{AC3FD3A5-EF78-4F2D-9742-63D6727F82A4}"/>
</file>

<file path=customXml/itemProps3.xml><?xml version="1.0" encoding="utf-8"?>
<ds:datastoreItem xmlns:ds="http://schemas.openxmlformats.org/officeDocument/2006/customXml" ds:itemID="{64A1F4E7-3192-4F5E-BE81-7F5F710C0F8E}"/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601</Words>
  <Application>Microsoft Office PowerPoint</Application>
  <PresentationFormat>Widescreen</PresentationFormat>
  <Paragraphs>143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MARIA RITA BARTOLOMEI</cp:lastModifiedBy>
  <cp:revision>6</cp:revision>
  <dcterms:created xsi:type="dcterms:W3CDTF">2023-04-03T13:35:33Z</dcterms:created>
  <dcterms:modified xsi:type="dcterms:W3CDTF">2023-04-03T18:02:58Z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