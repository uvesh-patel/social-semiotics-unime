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7" r:id="rId2"/>
    <p:sldId id="259" r:id="rId3"/>
    <p:sldId id="296" r:id="rId4"/>
    <p:sldId id="287" r:id="rId5"/>
    <p:sldId id="263" r:id="rId6"/>
    <p:sldId id="288" r:id="rId7"/>
    <p:sldId id="293" r:id="rId8"/>
    <p:sldId id="294" r:id="rId9"/>
    <p:sldId id="290" r:id="rId10"/>
    <p:sldId id="260" r:id="rId11"/>
    <p:sldId id="292" r:id="rId12"/>
    <p:sldId id="291" r:id="rId13"/>
    <p:sldId id="295" r:id="rId14"/>
    <p:sldId id="297" r:id="rId15"/>
    <p:sldId id="267" r:id="rId16"/>
    <p:sldId id="262" r:id="rId17"/>
    <p:sldId id="298" r:id="rId18"/>
    <p:sldId id="264" r:id="rId19"/>
    <p:sldId id="265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FAE3B-CF09-49C5-81CE-58E21E4275B4}" type="datetimeFigureOut">
              <a:rPr lang="it-IT" smtClean="0"/>
              <a:t>26/03/2023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6D238-4D31-4663-8F3A-9B69ABC91E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1318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4D8C8D-5385-5DF4-4568-9EC48E8CB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31A05C6-95F3-0A1D-409B-0CA4BCF0C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90B37F-1A75-4A8C-506D-2155B5A8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ADA6C-35C7-4188-ACE9-720A55AAE3C4}" type="datetime1">
              <a:rPr lang="it-IT" smtClean="0"/>
              <a:t>26/03/2023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5B2E7C-46C1-F218-1D9B-A05EFF737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035198-E568-5FD8-F269-BBAEA73AB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043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EC3C37-D356-D7F3-4D3D-5E6CFC28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8B5E35-89F3-65B2-523B-F91397433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040A2D-3F1D-3701-9F98-E5E5AFC69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A8B48-92A0-4B61-ADE0-A59710EF28CB}" type="datetime1">
              <a:rPr lang="it-IT" smtClean="0"/>
              <a:t>26/03/2023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F4FD702-BD10-1F8E-2A8A-CEB6A7F96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D124EE8-ABE7-CF36-6D91-15B932C8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5286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BDEDDF-CA25-717E-BFD9-13AFE294E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E9D8020-F0D6-79FA-7FE6-4AA5ECDE7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CB7299C-9BA3-CB25-6A7F-B06DEF36C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BFCB1-3BDC-4843-835C-657DB763427C}" type="datetime1">
              <a:rPr lang="it-IT" smtClean="0"/>
              <a:t>26/03/2023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A755907-421E-B7B5-354B-29912F83A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BBE023-5C70-041E-CEB3-E7AAF18F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0696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224AB7-7BB0-6622-C340-3C42A6370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9F5306-5701-3EE9-2AE1-0D4B37A90F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03C2873-816C-C113-CFB7-A6E7DB3A4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2716AF5-1BCB-89DF-A57C-6CA012CD1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ADEFD-0D7A-4BBE-B554-68B885A8D1C5}" type="datetime1">
              <a:rPr lang="it-IT" smtClean="0"/>
              <a:t>26/03/2023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445FC00-F04B-74AC-62D5-D6E9447F9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6BB91AC-FCA8-96F0-9D40-1FB10996F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898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D8D413-9504-78C7-C712-1839D3D0B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697ED9A-AF06-F07E-E4C1-9A872DA3B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F361F4A-85D3-E568-54E0-B7467EA70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D999066-E07B-8906-9F14-B39A0FF207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1A0D1DE-8A5C-3CF1-F99E-00FF306CAA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9800E89-76B6-A8DA-604A-A2818011B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A0E8-0427-420A-860E-20B303B02BE6}" type="datetime1">
              <a:rPr lang="it-IT" smtClean="0"/>
              <a:t>26/03/2023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09D1BA7-D8AB-7512-96AC-A27A01AD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8B01E86-41B5-6987-B63B-2B56505F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313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A8933E-496E-F558-2097-92C260CE7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F9B70DE-0DA6-21FA-5817-559FE4D3A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4D59-03E4-4165-BD06-44A7B7421C22}" type="datetime1">
              <a:rPr lang="it-IT" smtClean="0"/>
              <a:t>26/03/2023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8E4F414-0383-7B93-BAED-6E7C7B4BF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5EC60E0-F354-B6C2-8D3F-C48731BE6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005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898EF22-1E0E-8F71-6FC4-2458CF45C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E4F6D-4B98-478D-BD6A-179884B3832E}" type="datetime1">
              <a:rPr lang="it-IT" smtClean="0"/>
              <a:t>26/03/2023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576AB07-5199-2F05-317B-83A5BDA5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60BEBB7-B783-7DA4-112E-495D49643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118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0BD179-6885-DAA4-A32F-4CF1B774C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23B462-FF9D-6E02-5C88-FC70D1195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81A5795-5821-99E6-67C1-DE88F17A1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D31B85D-EE3E-0C6C-0CF3-A816C3A0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163A8-6B87-4289-ABDC-7801A7691269}" type="datetime1">
              <a:rPr lang="it-IT" smtClean="0"/>
              <a:t>26/03/2023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E5A3E84-0A29-E370-16A5-DA7B5B6CF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FCFD8F-FA8A-F888-5A8E-D43793433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816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0FB591-B568-C0AB-92BC-8A9DE77FC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A758FC2-2C9E-B320-E606-FCF1D9843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27A87DA-CEFE-5311-3B23-B5639F9CA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6772330-822A-0DCF-A469-CCA9E5B3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F12BE-9C92-4B9B-B543-EEF6CB83B214}" type="datetime1">
              <a:rPr lang="it-IT" smtClean="0"/>
              <a:t>26/03/2023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8C08D3F-F6A5-A34E-A2B7-F3A871A23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4717DCC-419A-DD8F-9366-5BC876AA5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5329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82838F-B55E-F9E8-2467-0398687F0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8C6FE89-8624-A06D-EFCE-44AF3B915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C11259-1A90-A8D2-4CC7-A21A11AF2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095F0-5B7E-46CA-9EF6-356AC652726D}" type="datetime1">
              <a:rPr lang="it-IT" smtClean="0"/>
              <a:t>26/03/2023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A7EE50-F6F1-0FD3-CA5B-4F4DCE468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F1F452-0404-949B-6B1F-832081C29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576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A11B94E-F9F0-3099-2DED-F4F846FE5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B1672FF-10D9-51BC-C8B1-F4C858DE0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5230764-CFBE-95C9-FE31-7317C3D33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1CEDB-814C-4C75-9247-8959010AAA37}" type="datetime1">
              <a:rPr lang="it-IT" smtClean="0"/>
              <a:t>26/03/2023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40663CB-9EA9-D753-CA42-5ACD18C1E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5ABEBA1-2A6F-9D97-E727-FF81A0FDD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6765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2BCF117-4999-A97B-8CB0-AE64768F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FBE1E5E-8E26-16FB-8108-07C8A6020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40ED437-712C-3BDF-EE51-E2D19976A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55AF2-AF27-439C-AE19-0777B55B4968}" type="datetime1">
              <a:rPr lang="it-IT" smtClean="0"/>
              <a:t>26/03/2023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0798B4-CAB5-B48F-C89B-65F53AC75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6B96FB-7B3C-9D33-9723-F045C74D3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3B825-0FCC-4E24-9AB0-B3A36126D3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462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6E8C581-25A3-E33E-D7DD-A2B2A41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Britannic Bold" panose="020B0903060703020204" pitchFamily="34" charset="0"/>
              </a:rPr>
              <a:t>UNIVERSITY OF MESSINA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F7D7EE-8FE9-90F4-02E6-6CD1AF82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948003"/>
            <a:ext cx="11403106" cy="429143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0" indent="0" algn="ctr">
              <a:buNone/>
            </a:pP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Science and Theory of </a:t>
            </a:r>
            <a:r>
              <a:rPr lang="it-IT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4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LM-55</a:t>
            </a:r>
          </a:p>
          <a:p>
            <a:pPr marL="0" indent="0" algn="ctr">
              <a:buNone/>
            </a:pP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</a:p>
          <a:p>
            <a:pPr marL="0" indent="0" algn="ctr">
              <a:buNone/>
            </a:pPr>
            <a:endParaRPr lang="it-IT" sz="3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endParaRPr lang="it-IT" sz="3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Maria Rita Bartolomei</a:t>
            </a:r>
            <a:endParaRPr lang="it-IT" sz="3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mabartolomei@unime.it</a:t>
            </a:r>
          </a:p>
        </p:txBody>
      </p:sp>
      <p:pic>
        <p:nvPicPr>
          <p:cNvPr id="6" name="Segnaposto contenuto 4" descr="Immagine che contiene testo, contenitore, scatola&#10;&#10;Descrizione generata automaticamente">
            <a:extLst>
              <a:ext uri="{FF2B5EF4-FFF2-40B4-BE49-F238E27FC236}">
                <a16:creationId xmlns:a16="http://schemas.microsoft.com/office/drawing/2014/main" id="{DDD7C24D-9569-D55D-FAB3-A977C76C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508" y="309515"/>
            <a:ext cx="1638487" cy="1638487"/>
          </a:xfrm>
          <a:prstGeom prst="rect">
            <a:avLst/>
          </a:prstGeom>
        </p:spPr>
      </p:pic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636110D-77B9-3AB4-BE50-9B93911F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FFF47F-2082-A8BD-E214-32F787B2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5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046385" cy="447493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Recommended reading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it-IT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non-attending students:</a:t>
            </a:r>
            <a:endParaRPr lang="it-IT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arenR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T. van Leeuwen,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Introducing social semiotics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Routdledge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2005.</a:t>
            </a:r>
            <a:endParaRPr lang="it-IT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arenR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G. Kress,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Multimodality. A social semiotic approach to contemporary communication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Routdledge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2010.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arenR"/>
            </a:pPr>
            <a:endParaRPr lang="it-IT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students attending classes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it-IT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program will be defined during the lessons: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notes taken in class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recommended readings, exercises, short dissertation, essays, etc.</a:t>
            </a:r>
            <a:endParaRPr lang="it-IT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7853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046385" cy="4474930"/>
          </a:xfrm>
        </p:spPr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it-IT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</a:t>
            </a:r>
            <a:r>
              <a:rPr lang="it-IT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semiotics</a:t>
            </a:r>
            <a:endParaRPr lang="it-IT" sz="4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 social theory of meaning and communication modelled on Michael Halliday’s theories of language </a:t>
            </a:r>
          </a:p>
          <a:p>
            <a:pPr marL="0" indent="0" algn="just">
              <a:lnSpc>
                <a:spcPct val="107000"/>
              </a:lnSpc>
              <a:buNone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 new and distinctive approach to the practice and theory of semiotics 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0783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046385" cy="4474930"/>
          </a:xfrm>
        </p:spPr>
        <p:txBody>
          <a:bodyPr/>
          <a:lstStyle/>
          <a:p>
            <a:pPr marL="514350" indent="-514350" algn="just">
              <a:lnSpc>
                <a:spcPct val="107000"/>
              </a:lnSpc>
              <a:buAutoNum type="arabicPeriod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Halliday developed a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functional linguistic model of language</a:t>
            </a:r>
          </a:p>
          <a:p>
            <a:pPr marL="0" indent="0" algn="just">
              <a:lnSpc>
                <a:spcPct val="107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named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Systemic Functional Grammar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SFL</a:t>
            </a:r>
          </a:p>
          <a:p>
            <a:pPr marL="0" indent="0" algn="just">
              <a:lnSpc>
                <a:spcPct val="107000"/>
              </a:lnSpc>
              <a:buNone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differs from both</a:t>
            </a:r>
          </a:p>
          <a:p>
            <a:pPr algn="just">
              <a:lnSpc>
                <a:spcPct val="107000"/>
              </a:lnSpc>
            </a:pPr>
            <a:r>
              <a:rPr lang="it-IT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it-IT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enerative </a:t>
            </a:r>
            <a:r>
              <a:rPr lang="it-IT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grammar</a:t>
            </a:r>
            <a:r>
              <a:rPr lang="it-IT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Noam Chomsky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n-US" u="sng" dirty="0">
                <a:latin typeface="Times New Roman" panose="02020603050405020304" pitchFamily="18" charset="0"/>
                <a:ea typeface="Calibri" panose="020F0502020204030204" pitchFamily="34" charset="0"/>
              </a:rPr>
              <a:t>S</a:t>
            </a: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tructuralist models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such as that of Luis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Hjelmslev</a:t>
            </a:r>
            <a:endParaRPr lang="en-US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buNone/>
            </a:pPr>
            <a:endParaRPr lang="en-US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buNone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0517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Generative grammar</a:t>
            </a:r>
            <a:r>
              <a:rPr lang="en-US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is a theory of  “universal grammar”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US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all humans have an innate language faculty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US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human language is shaped by a set of basic principles which are part of the human brain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8277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Ferdinand de Saussure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the founder of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structuralism</a:t>
            </a: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US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Language is a system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which all the elements fit together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we want to describe a language, we need to understand the formal characteristic of the language itself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US" dirty="0">
                <a:solidFill>
                  <a:srgbClr val="282828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</a:t>
            </a:r>
            <a:r>
              <a:rPr lang="en-US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nderstanding structure is essential to understanding what language is meant to convey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Tx/>
              <a:buChar char="-"/>
            </a:pP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Saussure considered a sign as having two sides, </a:t>
            </a:r>
            <a:r>
              <a:rPr lang="en-US" i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signifier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and </a:t>
            </a:r>
            <a:r>
              <a:rPr lang="en-US" i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signified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7333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Luis </a:t>
            </a:r>
            <a:r>
              <a:rPr lang="en-US" b="1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Hjelmslev</a:t>
            </a:r>
            <a:endParaRPr lang="en-US" b="1" dirty="0">
              <a:solidFill>
                <a:srgbClr val="20212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renamed </a:t>
            </a:r>
            <a:r>
              <a:rPr lang="en-US" i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signifier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</a:t>
            </a:r>
            <a:r>
              <a:rPr lang="en-US" i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signified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as respectively </a:t>
            </a:r>
            <a:r>
              <a:rPr lang="en-US" i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expression plane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and </a:t>
            </a:r>
            <a:r>
              <a:rPr lang="en-US" i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content plane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distinguished between form and substance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argued that </a:t>
            </a:r>
            <a:r>
              <a:rPr lang="en-US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sign can be interpreted unless it is contextualized</a:t>
            </a:r>
            <a:endParaRPr lang="it-IT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sz="24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55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Functionalism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communication is the primary purpose of language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language is an instrument of social interaction among human beings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linguistic structure can be better explained with reference to its function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6558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87635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Both structuralists and functionalists emphasize that elements are interconnected, but the way they are connected, is analyzed differently</a:t>
            </a:r>
            <a:endParaRPr lang="en-US" b="1" dirty="0">
              <a:solidFill>
                <a:srgbClr val="282828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functionalism</a:t>
            </a:r>
            <a:r>
              <a:rPr lang="en-US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prioritizes thinking about the reasoning which creates language and the intended meaning of communication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structuralism</a:t>
            </a:r>
            <a:r>
              <a:rPr lang="en-US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prioritizes thinking about strictly categorizing parts of language that create meaning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dirty="0">
              <a:solidFill>
                <a:srgbClr val="282828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solidFill>
                  <a:srgbClr val="28282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40276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9" y="1975969"/>
            <a:ext cx="11055348" cy="420099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Systemic Functional Grammar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SFL</a:t>
            </a:r>
          </a:p>
          <a:p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Halliday 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argues that </a:t>
            </a:r>
            <a:r>
              <a:rPr lang="en-US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lexis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</a:t>
            </a:r>
            <a:r>
              <a:rPr lang="en-US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grammar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are part of the same phenomenon</a:t>
            </a:r>
          </a:p>
          <a:p>
            <a:endParaRPr lang="en-US" dirty="0">
              <a:solidFill>
                <a:srgbClr val="20212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Explanations of linguistic phenomena must be sought in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between systems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between structures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Every linguistic act involves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choice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1035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According to Halliday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2021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inguistic structure in a process of </a:t>
            </a:r>
            <a:r>
              <a:rPr lang="en-US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mutual creativity 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the realization of social structure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2021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anguage has the property of not only </a:t>
            </a:r>
            <a:r>
              <a:rPr lang="en-US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transmitting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</a:t>
            </a:r>
            <a:r>
              <a:rPr lang="en-US" u="sng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social order 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but also </a:t>
            </a:r>
            <a:r>
              <a:rPr lang="en-US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maintaining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potentially </a:t>
            </a:r>
            <a:r>
              <a:rPr lang="en-US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modifying</a:t>
            </a:r>
            <a:r>
              <a:rPr lang="en-US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it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0680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Halliday</a:t>
            </a:r>
            <a:r>
              <a:rPr lang="en-US" sz="3600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described </a:t>
            </a:r>
            <a:r>
              <a:rPr lang="en-US" sz="3600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language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600" dirty="0">
                <a:solidFill>
                  <a:srgbClr val="2021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en-US" sz="360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 a </a:t>
            </a:r>
            <a:r>
              <a:rPr lang="en-US" sz="3600" b="1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semiotic system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3600" dirty="0">
                <a:solidFill>
                  <a:srgbClr val="202122"/>
                </a:solidFill>
                <a:latin typeface="Times New Roman" panose="02020603050405020304" pitchFamily="18" charset="0"/>
              </a:rPr>
              <a:t>As a “meaning potential”</a:t>
            </a:r>
            <a:endParaRPr lang="it-IT" sz="36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024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riginally defined by Ferdinand de Saussure as “the science of the life of signs in society”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the study of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signs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symbols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their use or interpretation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</a:t>
            </a: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has a referential function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anything which produces meaning and refers to something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9684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 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union of a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signifier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a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it-IT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Signifier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observable form of the sign, such as a sound, a word or a </a:t>
            </a:r>
            <a:r>
              <a:rPr lang="en-US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colour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communication; the sensory impression of the sign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it-IT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Signified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concept that a signifier refers to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depends on who you are and where you are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5322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ign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the fundamental concept of </a:t>
            </a:r>
            <a:r>
              <a:rPr lang="en-US" sz="36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semiotics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Semiotic resources</a:t>
            </a: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the fundamental concept of </a:t>
            </a:r>
            <a:r>
              <a:rPr lang="en-US" sz="36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7507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term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“semiotic resource”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originated in the work of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Halliday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 argued that </a:t>
            </a:r>
            <a:r>
              <a:rPr lang="en-US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grammar of a language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not a code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not a set of rules for producing correct sentences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but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“resource” for making meaning </a:t>
            </a:r>
            <a:endParaRPr lang="it-IT" b="1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4557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670"/>
            <a:ext cx="10515600" cy="462167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a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perspectives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Signs are not fixed into unchanged codes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Signs are resources which people use, design and adapt to make meaning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Signs cannot be separated from concrete forms of social relations and cannot exist without it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social resources take place in a social context and might have different cultural and social meaning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s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ocial meaning-making processes of many types: verbal, written, visual, musical, aural, and so forth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different resources can also be joined in multimodal ensembles</a:t>
            </a:r>
            <a:endParaRPr lang="it-IT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3139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Social semiotics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a branch of the field of semiotics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c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ollects, documents and catalogues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semiotic resources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compares semiotic modes (image, music, and so on)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contribute to the discovery and development of new semiotic resources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has much in common with cultural studies and critical discourse analysis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6131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Social semiotics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a new and distinctive approach which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investigates how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semiotic modes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 be integrated in multimodal artefacts and events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investigates how these resources are used in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specific historical, cultural and institutional contexts</a:t>
            </a:r>
            <a:endParaRPr lang="it-IT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0540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55790047DD8148ABBA2789AA47C320" ma:contentTypeVersion="9" ma:contentTypeDescription="Creare un nuovo documento." ma:contentTypeScope="" ma:versionID="f5d0184f3c0a15a1e0d0131ea4b30a13">
  <xsd:schema xmlns:xsd="http://www.w3.org/2001/XMLSchema" xmlns:xs="http://www.w3.org/2001/XMLSchema" xmlns:p="http://schemas.microsoft.com/office/2006/metadata/properties" xmlns:ns2="4c1e1bc0-20d7-4915-b349-ec50805d4704" xmlns:ns3="17b4f9ba-5d33-4440-816d-df83934b65a5" targetNamespace="http://schemas.microsoft.com/office/2006/metadata/properties" ma:root="true" ma:fieldsID="7198817151beefd45f5913d772bfde97" ns2:_="" ns3:_="">
    <xsd:import namespace="4c1e1bc0-20d7-4915-b349-ec50805d4704"/>
    <xsd:import namespace="17b4f9ba-5d33-4440-816d-df83934b6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e1bc0-20d7-4915-b349-ec50805d47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35712a47-566f-4e2f-ac2c-6a691c9ee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f9ba-5d33-4440-816d-df83934b65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a00fc7f-b5c3-40ce-a31d-e4a375ba7a0b}" ma:internalName="TaxCatchAll" ma:showField="CatchAllData" ma:web="17b4f9ba-5d33-4440-816d-df83934b6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b4f9ba-5d33-4440-816d-df83934b65a5" xsi:nil="true"/>
    <lcf76f155ced4ddcb4097134ff3c332f xmlns="4c1e1bc0-20d7-4915-b349-ec50805d47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BFE1532-A498-4ADB-AE23-F1A688114D55}"/>
</file>

<file path=customXml/itemProps2.xml><?xml version="1.0" encoding="utf-8"?>
<ds:datastoreItem xmlns:ds="http://schemas.openxmlformats.org/officeDocument/2006/customXml" ds:itemID="{402D26EE-FED3-48EC-953B-0D98A364CE2A}"/>
</file>

<file path=customXml/itemProps3.xml><?xml version="1.0" encoding="utf-8"?>
<ds:datastoreItem xmlns:ds="http://schemas.openxmlformats.org/officeDocument/2006/customXml" ds:itemID="{9B7AC61D-EF54-4FA9-A6F4-5C1C4BB9AB22}"/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899</Words>
  <Application>Microsoft Office PowerPoint</Application>
  <PresentationFormat>Widescreen</PresentationFormat>
  <Paragraphs>169</Paragraphs>
  <Slides>19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7" baseType="lpstr">
      <vt:lpstr>Arial</vt:lpstr>
      <vt:lpstr>Britannic Bold</vt:lpstr>
      <vt:lpstr>Calibri</vt:lpstr>
      <vt:lpstr>Calibri Light</vt:lpstr>
      <vt:lpstr>Symbol</vt:lpstr>
      <vt:lpstr>Times New Roman</vt:lpstr>
      <vt:lpstr>Wingdings</vt:lpstr>
      <vt:lpstr>Tema di Office</vt:lpstr>
      <vt:lpstr>UNIVERSITY OF MESSINA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MESSINA</dc:title>
  <dc:creator>MARIA RITA BARTOLOMEI</dc:creator>
  <cp:lastModifiedBy>MARIA RITA BARTOLOMEI</cp:lastModifiedBy>
  <cp:revision>21</cp:revision>
  <dcterms:created xsi:type="dcterms:W3CDTF">2023-03-18T16:00:50Z</dcterms:created>
  <dcterms:modified xsi:type="dcterms:W3CDTF">2023-03-26T09:17:48Z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0x010100FB55790047DD8148ABBA2789AA47C320</vt:lpwstr>
  </property>
</Properties>
</file>