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7" r:id="rId4"/>
    <p:sldId id="295" r:id="rId5"/>
    <p:sldId id="267" r:id="rId6"/>
    <p:sldId id="261" r:id="rId7"/>
    <p:sldId id="262" r:id="rId8"/>
    <p:sldId id="315" r:id="rId9"/>
    <p:sldId id="312" r:id="rId10"/>
    <p:sldId id="299" r:id="rId11"/>
    <p:sldId id="314" r:id="rId12"/>
    <p:sldId id="301" r:id="rId13"/>
    <p:sldId id="277" r:id="rId14"/>
    <p:sldId id="276" r:id="rId15"/>
    <p:sldId id="302" r:id="rId16"/>
    <p:sldId id="268" r:id="rId17"/>
    <p:sldId id="321" r:id="rId18"/>
    <p:sldId id="319" r:id="rId19"/>
    <p:sldId id="318" r:id="rId20"/>
    <p:sldId id="320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DD4B6C-E9FB-49F4-9C8E-F35F8A315394}" v="1" dt="2023-06-05T15:36:13.8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6/11/relationships/changesInfo" Target="changesInfos/changesInfo1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R MOHAMMAD JAFARIAN (546596)" userId="S::jfrmmh98a03z224t@studenti.unime.it::ddc665e7-e6de-4577-9a4c-378163204ae5" providerId="AD" clId="Web-{9CDD4B6C-E9FB-49F4-9C8E-F35F8A315394}"/>
    <pc:docChg chg="addSld">
      <pc:chgData name="AMIR MOHAMMAD JAFARIAN (546596)" userId="S::jfrmmh98a03z224t@studenti.unime.it::ddc665e7-e6de-4577-9a4c-378163204ae5" providerId="AD" clId="Web-{9CDD4B6C-E9FB-49F4-9C8E-F35F8A315394}" dt="2023-06-05T15:36:13.844" v="0"/>
      <pc:docMkLst>
        <pc:docMk/>
      </pc:docMkLst>
      <pc:sldChg chg="new">
        <pc:chgData name="AMIR MOHAMMAD JAFARIAN (546596)" userId="S::jfrmmh98a03z224t@studenti.unime.it::ddc665e7-e6de-4577-9a4c-378163204ae5" providerId="AD" clId="Web-{9CDD4B6C-E9FB-49F4-9C8E-F35F8A315394}" dt="2023-06-05T15:36:13.844" v="0"/>
        <pc:sldMkLst>
          <pc:docMk/>
          <pc:sldMk cId="2051432531" sldId="32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6339E6-A350-CCFA-CB85-852D2141D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C8BA406-2BAC-3E4C-7554-2D488D88C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7D2FCD-99EA-5980-76DD-8530DB348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0337-A4F7-47B3-BCF8-61B1935E68E7}" type="datetimeFigureOut">
              <a:rPr lang="it-IT" smtClean="0"/>
              <a:t>05/06/2023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BA2B23-F1C0-EBB0-DE84-4BDBA2ECF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942A055-4D96-3CBB-04E2-F6CA613E8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8DC6-BFB0-4789-B954-8B5DB72251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8004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B8305A-F91E-2ECE-3FCE-8D5B0F0D9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82A382-85AF-1CE9-17CB-E0F14D1D6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1A94F50-B98F-70DE-9707-CF029238B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0337-A4F7-47B3-BCF8-61B1935E68E7}" type="datetimeFigureOut">
              <a:rPr lang="it-IT" smtClean="0"/>
              <a:t>05/06/2023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690FC75-1640-AAE3-5CB1-E8DF0DF9B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BD73D41-0992-1A11-7A9A-41AA482D1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8DC6-BFB0-4789-B954-8B5DB72251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494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33A9FD-45C5-71CF-16D1-7C21465A8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4C0EBDA-D59D-DFF7-7FAC-D41DAE6DF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7932E96-E1F8-6287-CA90-682A8DF5F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0337-A4F7-47B3-BCF8-61B1935E68E7}" type="datetimeFigureOut">
              <a:rPr lang="it-IT" smtClean="0"/>
              <a:t>05/06/2023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1703E89-6217-83B9-822F-8C30935C9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18C062-30E1-0F4E-EB04-1A7BF1801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8DC6-BFB0-4789-B954-8B5DB72251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7640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D2F514-9A8C-E98F-A807-0D787A25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96AF4B-EE78-31F8-EBD4-673457672C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75346B8-EB97-4B7C-4BDA-32BF8244F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061167A-9B70-5DBD-4056-39DC5ECBA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0337-A4F7-47B3-BCF8-61B1935E68E7}" type="datetimeFigureOut">
              <a:rPr lang="it-IT" smtClean="0"/>
              <a:t>05/06/2023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8360A0-7470-54CB-A555-89C86773B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3F1FE67-0825-066D-1E49-F5CAB357D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8DC6-BFB0-4789-B954-8B5DB72251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302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F8C250-8C4F-7096-27B8-72F48F89E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8E1AAE2-71A7-C6E7-DC7D-95168EA8D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0847A7B-77C3-7638-E4CD-6B8FFF769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FCA9669-D8C7-7F54-4324-8716749CD2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72D8062-D557-3E28-7E7A-B70BE4FC09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D2F7F1D-32D8-723A-013C-2E0E4A87E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0337-A4F7-47B3-BCF8-61B1935E68E7}" type="datetimeFigureOut">
              <a:rPr lang="it-IT" smtClean="0"/>
              <a:t>05/06/2023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4EA4374-FC3A-44E1-8005-3358441CE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8735AB1-FCFB-C490-E3BC-AAADEC22A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8DC6-BFB0-4789-B954-8B5DB72251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400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8D59B7-07CE-4F92-0796-08CC5BA38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FFD14F2-B31F-2FD2-C369-D9DDC31E8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0337-A4F7-47B3-BCF8-61B1935E68E7}" type="datetimeFigureOut">
              <a:rPr lang="it-IT" smtClean="0"/>
              <a:t>05/06/2023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0F5AF23-68D9-DC55-8E0F-C9A8A2DDD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2F38793-99F5-381D-E55C-D5BA1B7FF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8DC6-BFB0-4789-B954-8B5DB72251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6530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BC895B0-B47E-0268-4E97-DB03A47A0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0337-A4F7-47B3-BCF8-61B1935E68E7}" type="datetimeFigureOut">
              <a:rPr lang="it-IT" smtClean="0"/>
              <a:t>05/06/2023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318C199-2622-1F5F-9CA3-EF2B90307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E546AA1-FD06-700A-D763-58785EB1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8DC6-BFB0-4789-B954-8B5DB72251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2810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57C8EC-8743-0E77-E106-0A40D4FE7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72D9D2D-06A8-C684-DCBE-2D4DC9F30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D0714FC-B233-0EF9-242B-F5CA94992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3599875-725A-B35F-5200-A9B73D4A3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0337-A4F7-47B3-BCF8-61B1935E68E7}" type="datetimeFigureOut">
              <a:rPr lang="it-IT" smtClean="0"/>
              <a:t>05/06/2023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16A552C-89C5-C6F7-905E-B50E9DF87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0595794-408B-C938-DFD7-FE0C17009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8DC6-BFB0-4789-B954-8B5DB72251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152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5B9E35-799B-0F5E-633E-307FF82B4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7ECD65B-DB52-7094-0075-7967D08755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E370569-1B4B-3798-B6E3-E7941AFE4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1F502B7-0DC6-DE59-34C9-2E6345982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0337-A4F7-47B3-BCF8-61B1935E68E7}" type="datetimeFigureOut">
              <a:rPr lang="it-IT" smtClean="0"/>
              <a:t>05/06/2023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1CDA7FC-2B98-6F99-E033-8D45F08CF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19C1CD0-B1BB-109D-BBAC-34A70DF1F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8DC6-BFB0-4789-B954-8B5DB72251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9898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E26DB0-57A4-523B-6CAD-B668BC61D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67250CF-3FD3-3BB9-F659-03DF58921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05B06F0-EC26-6B8A-2148-E0B5C32A3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0337-A4F7-47B3-BCF8-61B1935E68E7}" type="datetimeFigureOut">
              <a:rPr lang="it-IT" smtClean="0"/>
              <a:t>05/06/2023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805779F-5E2C-B465-3552-73BC4FD13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D3FA31E-DE95-80B4-A7F5-85CC3DEAD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8DC6-BFB0-4789-B954-8B5DB72251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7568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E2F3103-3A23-D809-5AAA-039270D7F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C404DA8-5B80-720B-9BEA-F0EF0F78F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BEC60C-3824-90E9-FF04-00DA831A6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10337-A4F7-47B3-BCF8-61B1935E68E7}" type="datetimeFigureOut">
              <a:rPr lang="it-IT" smtClean="0"/>
              <a:t>05/06/2023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F6F73FE-BE76-5AC6-F679-8E4602788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2D2B8C2-CD9F-F4A5-6C97-EC0EA6828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8DC6-BFB0-4789-B954-8B5DB72251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8652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D007B2A-7447-71FF-39F1-055D993E7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D519B39-0BAA-3152-52F4-437FDFA85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70F753A-B064-0B1C-183B-8874AB3EEC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10337-A4F7-47B3-BCF8-61B1935E68E7}" type="datetimeFigureOut">
              <a:rPr lang="it-IT" smtClean="0"/>
              <a:t>05/06/2023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9738BB-9A8D-D10D-E7DA-6B9FBCB78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0B67E0-24AC-08D4-AA2D-B1956D939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C8DC6-BFB0-4789-B954-8B5DB722515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396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6E8C581-25A3-E33E-D7DD-A2B2A41F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Britannic Bold" panose="020B0903060703020204" pitchFamily="34" charset="0"/>
              </a:rPr>
              <a:t>UNIVERSITY OF MESSINA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3F7D7EE-8FE9-90F4-02E6-6CD1AF821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948003"/>
            <a:ext cx="11403106" cy="4291432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</a:p>
          <a:p>
            <a:pPr marL="0" indent="0" algn="ctr">
              <a:buNone/>
            </a:pP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Science and Theory of </a:t>
            </a:r>
            <a:r>
              <a:rPr lang="it-IT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4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LM-55</a:t>
            </a:r>
          </a:p>
          <a:p>
            <a:pPr marL="0" indent="0" algn="ctr">
              <a:buNone/>
            </a:pPr>
            <a:endParaRPr lang="it-IT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it-IT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 Title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it-IT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5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</a:t>
            </a:r>
          </a:p>
          <a:p>
            <a:pPr marL="0" indent="0" algn="ctr">
              <a:buNone/>
            </a:pPr>
            <a:endParaRPr lang="it-IT" sz="33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Teacher</a:t>
            </a:r>
            <a:endParaRPr lang="it-IT" sz="3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Maria Rita Bartolomei</a:t>
            </a:r>
            <a:endParaRPr lang="it-IT" sz="3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Mail: mabartolomei@unime.it</a:t>
            </a:r>
          </a:p>
        </p:txBody>
      </p:sp>
      <p:pic>
        <p:nvPicPr>
          <p:cNvPr id="6" name="Segnaposto contenuto 4" descr="Immagine che contiene testo, contenitore, scatola&#10;&#10;Descrizione generata automaticamente">
            <a:extLst>
              <a:ext uri="{FF2B5EF4-FFF2-40B4-BE49-F238E27FC236}">
                <a16:creationId xmlns:a16="http://schemas.microsoft.com/office/drawing/2014/main" id="{DDD7C24D-9569-D55D-FAB3-A977C76C5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508" y="309515"/>
            <a:ext cx="1638487" cy="1638487"/>
          </a:xfrm>
          <a:prstGeom prst="rect">
            <a:avLst/>
          </a:prstGeom>
        </p:spPr>
      </p:pic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A636110D-77B9-3AB4-BE50-9B93911F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CCFFF47F-2082-A8BD-E214-32F787B2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255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 the study of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signs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and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symbols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and their use or interpretation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</a:t>
            </a:r>
          </a:p>
          <a:p>
            <a:pPr marR="0" lvl="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has a referential function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anything which produces meaning and refers to something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9684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ign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the fundamental concept of </a:t>
            </a:r>
            <a:r>
              <a:rPr lang="en-US" sz="36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2000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 resource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the fundamental concept of </a:t>
            </a:r>
            <a:r>
              <a:rPr lang="en-US" sz="36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</a:t>
            </a:r>
            <a:endParaRPr lang="en-US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0031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8"/>
            <a:ext cx="10515600" cy="4151031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Just as in linguistics the focus has changed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-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a “sentence” to a “text” and its “context”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-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from “grammar” to “discourse”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-"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Also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semiotics the focus has changed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it-IT" sz="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-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a “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to a “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 resource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it-IT" sz="1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3154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term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“semiotic resource”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originated in the work of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Halliday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buNone/>
            </a:pPr>
            <a:endParaRPr lang="en-US" sz="1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en-US" sz="2800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described </a:t>
            </a:r>
            <a:r>
              <a:rPr lang="en-US" sz="2800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language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solidFill>
                  <a:srgbClr val="2021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en-US" sz="28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 a </a:t>
            </a:r>
            <a:r>
              <a:rPr lang="en-US" sz="2800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semiotic system and resource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solidFill>
                  <a:srgbClr val="202122"/>
                </a:solidFill>
                <a:latin typeface="Times New Roman" panose="02020603050405020304" pitchFamily="18" charset="0"/>
              </a:rPr>
              <a:t>As a “meaning potential”</a:t>
            </a:r>
            <a:endParaRPr lang="it-IT" sz="28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8926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Halliday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argued that </a:t>
            </a:r>
            <a:r>
              <a:rPr lang="en-US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grammar of a language 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 not a code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nor a set of rules for producing correct sentences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but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 “resource” for making meaning </a:t>
            </a:r>
            <a:endParaRPr lang="it-IT" b="1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8027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S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emiotic resource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s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are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Cultural resources –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values, rite, norms, texts, songs or actions – 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which lead to a </a:t>
            </a:r>
            <a:r>
              <a:rPr lang="en-US" u="sng" dirty="0">
                <a:latin typeface="Times New Roman" panose="02020603050405020304" pitchFamily="18" charset="0"/>
                <a:ea typeface="Calibri" panose="020F0502020204030204" pitchFamily="34" charset="0"/>
              </a:rPr>
              <a:t>common understanding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Cultural resources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are useful both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-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produce communicative artefacts and events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-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interpret them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 the context of specific social situations and practices</a:t>
            </a:r>
            <a:endParaRPr lang="it-IT" sz="3200" u="sng" dirty="0"/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4324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353" y="2205317"/>
            <a:ext cx="11040035" cy="397164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 van Leeuwen defines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 resources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actions and artefacts we use to communicate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 term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resource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preferred to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because it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Avoids the impression that “what a sign stands for” is somehow pre-given and not affected by its use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Indicates that signs may not be divorced from the concrete forms of social interaction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sz="18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buNone/>
            </a:pPr>
            <a:endParaRPr lang="en-US" sz="1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8061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1421"/>
            <a:ext cx="10515600" cy="4295542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5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Semiotic resources are r</a:t>
            </a:r>
            <a:r>
              <a:rPr lang="en-US" sz="5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esources for making meaning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are the resources for making meaning?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</a:t>
            </a: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socially-shaped and culturally-given semiotic resource for making meaning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</a:t>
            </a: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many</a:t>
            </a:r>
            <a: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modes</a:t>
            </a:r>
            <a: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used in communication and re</a:t>
            </a: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presentation: images, writing, layout, music, gestures, speech, moving images, 3D objects, etc.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Modes</a:t>
            </a:r>
            <a: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are the product of social work 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Social work with the “</a:t>
            </a: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same</a:t>
            </a:r>
            <a: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” material can lead to very </a:t>
            </a: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different</a:t>
            </a:r>
            <a: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modes</a:t>
            </a:r>
            <a:endParaRPr lang="it-IT" sz="4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sz="1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2219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1420"/>
            <a:ext cx="10515600" cy="4474929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communication, several modes are always used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together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image, writing, layout, music, gesture, speech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etc.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ifferent resources can be joined in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multimodal ensembles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ach mode has a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specific task and function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Writing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names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Images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show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Logos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symbolise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inform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sz="2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lang="en-US" sz="2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our</a:t>
            </a: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frames and highlights</a:t>
            </a:r>
            <a:endParaRPr lang="en-US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3380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132" y="1662545"/>
            <a:ext cx="11359170" cy="4693805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these posters w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have four modes in the same sign: 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writing, logos, images and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colours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endParaRPr lang="it-IT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11</a:t>
            </a:fld>
            <a:endParaRPr lang="it-IT"/>
          </a:p>
        </p:txBody>
      </p:sp>
      <p:pic>
        <p:nvPicPr>
          <p:cNvPr id="12" name="Immagine 11" descr="Immagine che contiene Sito Web&#10;&#10;Descrizione generata automaticamente">
            <a:extLst>
              <a:ext uri="{FF2B5EF4-FFF2-40B4-BE49-F238E27FC236}">
                <a16:creationId xmlns:a16="http://schemas.microsoft.com/office/drawing/2014/main" id="{491624BF-C62A-E86F-F0DE-A56665E64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975969"/>
            <a:ext cx="3997675" cy="4882031"/>
          </a:xfrm>
          <a:prstGeom prst="rect">
            <a:avLst/>
          </a:prstGeom>
        </p:spPr>
      </p:pic>
      <p:pic>
        <p:nvPicPr>
          <p:cNvPr id="8" name="Immagine 7" descr="Immagine che contiene testo, cartello&#10;&#10;Descrizione generata automaticamente">
            <a:extLst>
              <a:ext uri="{FF2B5EF4-FFF2-40B4-BE49-F238E27FC236}">
                <a16:creationId xmlns:a16="http://schemas.microsoft.com/office/drawing/2014/main" id="{CBCAED17-5DC1-09AD-00DC-5C9D1B34A1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17" y="2790464"/>
            <a:ext cx="5896517" cy="393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339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712423"/>
            <a:ext cx="11046385" cy="4643928"/>
          </a:xfrm>
        </p:spPr>
        <p:txBody>
          <a:bodyPr>
            <a:normAutofit fontScale="85000" lnSpcReduction="20000"/>
          </a:bodyPr>
          <a:lstStyle/>
          <a:p>
            <a:pPr marL="0" lvl="0" indent="0"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None/>
            </a:pPr>
            <a:endParaRPr lang="en-US" sz="1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ll modes have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equal significance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 representation and communication</a:t>
            </a:r>
            <a:endParaRPr lang="en-US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Each mode has its distinct potential for meaning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signs can be different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 the mode used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 how the modes are used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Font typeface="Wingdings" panose="05000000000000000000" pitchFamily="2" charset="2"/>
              <a:buChar char="ü"/>
            </a:pPr>
            <a:endParaRPr lang="en-US" sz="1000" dirty="0">
              <a:solidFill>
                <a:srgbClr val="20212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b="1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Multimodality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</a:pPr>
            <a:r>
              <a:rPr lang="en-US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Can tell us </a:t>
            </a:r>
            <a:r>
              <a:rPr lang="en-US" u="sng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what modes are used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</a:pPr>
            <a:r>
              <a:rPr lang="en-US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Cannot tell us about a difference in style and </a:t>
            </a:r>
            <a:r>
              <a:rPr lang="en-US" b="1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what that difference would mean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endParaRPr lang="it-IT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5348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 fontScale="92500" lnSpcReduction="20000"/>
          </a:bodyPr>
          <a:lstStyle/>
          <a:p>
            <a:pPr marL="0" lv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 semiotic resource – physical activity, object and artefact </a:t>
            </a:r>
          </a:p>
          <a:p>
            <a:pPr lvl="0" algn="just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has its own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 potential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emiotic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potential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means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potential for making meaning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Each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mode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its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specific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potential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making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meaning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Each mode expresses meanings about states, relations, actions and events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in the world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it-IT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</a:t>
            </a:r>
            <a:r>
              <a:rPr lang="it-IT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modes</a:t>
            </a:r>
            <a:r>
              <a:rPr lang="it-IT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offer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potentials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making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meaning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buNone/>
            </a:pPr>
            <a:endParaRPr lang="en-US" sz="1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0948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1881420"/>
            <a:ext cx="11618258" cy="447493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“The man who moves a mountain begins by carrying away small stones”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Confucius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b="1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14</a:t>
            </a:fld>
            <a:endParaRPr lang="it-IT"/>
          </a:p>
        </p:txBody>
      </p:sp>
      <p:pic>
        <p:nvPicPr>
          <p:cNvPr id="10" name="Immagine 9" descr="Immagine che contiene testo, roccia, aria aperta&#10;&#10;Descrizione generata automaticamente">
            <a:extLst>
              <a:ext uri="{FF2B5EF4-FFF2-40B4-BE49-F238E27FC236}">
                <a16:creationId xmlns:a16="http://schemas.microsoft.com/office/drawing/2014/main" id="{E1D7F775-F4F5-7788-D187-AC6E97200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71" y="2891118"/>
            <a:ext cx="6356792" cy="3465232"/>
          </a:xfrm>
          <a:prstGeom prst="rect">
            <a:avLst/>
          </a:prstGeom>
        </p:spPr>
      </p:pic>
      <p:pic>
        <p:nvPicPr>
          <p:cNvPr id="12" name="Immagine 11" descr="Immagine che contiene erba, aria aperta, cielo, persona&#10;&#10;Descrizione generata automaticamente">
            <a:extLst>
              <a:ext uri="{FF2B5EF4-FFF2-40B4-BE49-F238E27FC236}">
                <a16:creationId xmlns:a16="http://schemas.microsoft.com/office/drawing/2014/main" id="{545671FF-9FAE-353C-EA8E-430DE77AF1F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59" r="14620"/>
          <a:stretch/>
        </p:blipFill>
        <p:spPr>
          <a:xfrm>
            <a:off x="7387732" y="2625026"/>
            <a:ext cx="3966067" cy="405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337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9D049-7AB9-8BF0-A945-3762D8B3E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0A08A-7B01-61A5-CF6F-C766D049C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32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b="1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16</a:t>
            </a:fld>
            <a:endParaRPr lang="it-IT"/>
          </a:p>
        </p:txBody>
      </p:sp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E644498E-388E-CA2D-9BC0-BF9A80E512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4" t="27434" r="2676" b="29353"/>
          <a:stretch/>
        </p:blipFill>
        <p:spPr>
          <a:xfrm>
            <a:off x="6578127" y="2943914"/>
            <a:ext cx="4997175" cy="2099433"/>
          </a:xfrm>
          <a:prstGeom prst="rect">
            <a:avLst/>
          </a:prstGeom>
        </p:spPr>
      </p:pic>
      <p:pic>
        <p:nvPicPr>
          <p:cNvPr id="12" name="Immagine 11" descr="Immagine che contiene testo&#10;&#10;Descrizione generata automaticamente">
            <a:extLst>
              <a:ext uri="{FF2B5EF4-FFF2-40B4-BE49-F238E27FC236}">
                <a16:creationId xmlns:a16="http://schemas.microsoft.com/office/drawing/2014/main" id="{B0AF7F00-A870-33F5-07CF-342E14FBF9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23" y="1881420"/>
            <a:ext cx="5968478" cy="411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339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“The man who moves a mountain begins by carrying away small stones”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Confucius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b="1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17</a:t>
            </a:fld>
            <a:endParaRPr lang="it-IT"/>
          </a:p>
        </p:txBody>
      </p:sp>
      <p:pic>
        <p:nvPicPr>
          <p:cNvPr id="8" name="Immagine 7" descr="Immagine che contiene testo, natura, montagna, roccia&#10;&#10;Descrizione generata automaticamente">
            <a:extLst>
              <a:ext uri="{FF2B5EF4-FFF2-40B4-BE49-F238E27FC236}">
                <a16:creationId xmlns:a16="http://schemas.microsoft.com/office/drawing/2014/main" id="{4815A3AF-F435-6E32-C827-531BA2AA42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73" b="29545"/>
          <a:stretch/>
        </p:blipFill>
        <p:spPr>
          <a:xfrm>
            <a:off x="172094" y="3145864"/>
            <a:ext cx="5923906" cy="3498980"/>
          </a:xfrm>
          <a:prstGeom prst="rect">
            <a:avLst/>
          </a:prstGeom>
        </p:spPr>
      </p:pic>
      <p:pic>
        <p:nvPicPr>
          <p:cNvPr id="14" name="Immagine 13" descr="Immagine che contiene testo, persona&#10;&#10;Descrizione generata automaticamente">
            <a:extLst>
              <a:ext uri="{FF2B5EF4-FFF2-40B4-BE49-F238E27FC236}">
                <a16:creationId xmlns:a16="http://schemas.microsoft.com/office/drawing/2014/main" id="{BB763DA6-2CAD-FD26-DE91-9318F8D1B5C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57" b="4770"/>
          <a:stretch/>
        </p:blipFill>
        <p:spPr>
          <a:xfrm>
            <a:off x="6264698" y="2670862"/>
            <a:ext cx="5755207" cy="397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829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b="1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18</a:t>
            </a:fld>
            <a:endParaRPr lang="it-IT"/>
          </a:p>
        </p:txBody>
      </p:sp>
      <p:pic>
        <p:nvPicPr>
          <p:cNvPr id="11" name="Immagine 10" descr="Immagine che contiene roccia, muro, persona, pietra&#10;&#10;Descrizione generata automaticamente">
            <a:extLst>
              <a:ext uri="{FF2B5EF4-FFF2-40B4-BE49-F238E27FC236}">
                <a16:creationId xmlns:a16="http://schemas.microsoft.com/office/drawing/2014/main" id="{E7B27C1F-5903-3620-96F9-3F1962AF626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94"/>
          <a:stretch/>
        </p:blipFill>
        <p:spPr>
          <a:xfrm>
            <a:off x="1645920" y="1797842"/>
            <a:ext cx="8356209" cy="506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4234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B55790047DD8148ABBA2789AA47C320" ma:contentTypeVersion="9" ma:contentTypeDescription="Creare un nuovo documento." ma:contentTypeScope="" ma:versionID="f5d0184f3c0a15a1e0d0131ea4b30a13">
  <xsd:schema xmlns:xsd="http://www.w3.org/2001/XMLSchema" xmlns:xs="http://www.w3.org/2001/XMLSchema" xmlns:p="http://schemas.microsoft.com/office/2006/metadata/properties" xmlns:ns2="4c1e1bc0-20d7-4915-b349-ec50805d4704" xmlns:ns3="17b4f9ba-5d33-4440-816d-df83934b65a5" targetNamespace="http://schemas.microsoft.com/office/2006/metadata/properties" ma:root="true" ma:fieldsID="7198817151beefd45f5913d772bfde97" ns2:_="" ns3:_="">
    <xsd:import namespace="4c1e1bc0-20d7-4915-b349-ec50805d4704"/>
    <xsd:import namespace="17b4f9ba-5d33-4440-816d-df83934b65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e1bc0-20d7-4915-b349-ec50805d47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Tag immagine" ma:readOnly="false" ma:fieldId="{5cf76f15-5ced-4ddc-b409-7134ff3c332f}" ma:taxonomyMulti="true" ma:sspId="35712a47-566f-4e2f-ac2c-6a691c9ee4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b4f9ba-5d33-4440-816d-df83934b65a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a00fc7f-b5c3-40ce-a31d-e4a375ba7a0b}" ma:internalName="TaxCatchAll" ma:showField="CatchAllData" ma:web="17b4f9ba-5d33-4440-816d-df83934b65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b4f9ba-5d33-4440-816d-df83934b65a5" xsi:nil="true"/>
    <lcf76f155ced4ddcb4097134ff3c332f xmlns="4c1e1bc0-20d7-4915-b349-ec50805d470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1845AFD-FC24-4550-8953-F6EC603F26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8FF12F-AC81-4B7F-9B5D-3F1E4E0C7E6F}"/>
</file>

<file path=customXml/itemProps3.xml><?xml version="1.0" encoding="utf-8"?>
<ds:datastoreItem xmlns:ds="http://schemas.openxmlformats.org/officeDocument/2006/customXml" ds:itemID="{07DCFCFF-406F-4D1B-9F09-B02D5B925030}"/>
</file>

<file path=docProps/app.xml><?xml version="1.0" encoding="utf-8"?>
<Properties xmlns="http://schemas.openxmlformats.org/officeDocument/2006/extended-properties" xmlns:vt="http://schemas.openxmlformats.org/officeDocument/2006/docPropsVTypes">
  <TotalTime>3892</TotalTime>
  <Words>687</Words>
  <Application>Microsoft Office PowerPoint</Application>
  <PresentationFormat>Widescreen</PresentationFormat>
  <Paragraphs>152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Tema di Office</vt:lpstr>
      <vt:lpstr>UNIVERSITY OF MESSINA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PowerPoint Presentation</vt:lpstr>
      <vt:lpstr>SOCIAL SEMIOTICS</vt:lpstr>
      <vt:lpstr>SOCIAL SEMIOTICS</vt:lpstr>
      <vt:lpstr>SOCIAL SEMIOTICS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MARIA RITA BARTOLOMEI</dc:creator>
  <cp:lastModifiedBy>Clelia Boscolo</cp:lastModifiedBy>
  <cp:revision>32</cp:revision>
  <dcterms:created xsi:type="dcterms:W3CDTF">2023-03-28T19:38:20Z</dcterms:created>
  <dcterms:modified xsi:type="dcterms:W3CDTF">2023-06-05T15:36:14Z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0x010100FB55790047DD8148ABBA2789AA47C320</vt:lpwstr>
  </property>
</Properties>
</file>