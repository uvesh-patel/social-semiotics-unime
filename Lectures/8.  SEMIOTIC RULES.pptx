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13" r:id="rId3"/>
    <p:sldId id="314" r:id="rId4"/>
    <p:sldId id="315" r:id="rId5"/>
    <p:sldId id="298" r:id="rId6"/>
    <p:sldId id="264" r:id="rId7"/>
    <p:sldId id="265" r:id="rId8"/>
    <p:sldId id="317" r:id="rId9"/>
    <p:sldId id="318" r:id="rId10"/>
    <p:sldId id="297" r:id="rId11"/>
    <p:sldId id="320" r:id="rId12"/>
    <p:sldId id="321" r:id="rId13"/>
    <p:sldId id="322" r:id="rId14"/>
    <p:sldId id="327" r:id="rId15"/>
    <p:sldId id="328" r:id="rId16"/>
    <p:sldId id="329" r:id="rId17"/>
    <p:sldId id="316" r:id="rId18"/>
    <p:sldId id="330" r:id="rId19"/>
    <p:sldId id="331" r:id="rId20"/>
    <p:sldId id="332" r:id="rId21"/>
    <p:sldId id="333" r:id="rId22"/>
    <p:sldId id="334" r:id="rId23"/>
    <p:sldId id="323" r:id="rId24"/>
    <p:sldId id="324" r:id="rId25"/>
    <p:sldId id="325" r:id="rId26"/>
    <p:sldId id="326" r:id="rId27"/>
    <p:sldId id="319" r:id="rId2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AC49E5-CB37-9D28-870B-F7D64EA6E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704404C-963E-BAF9-EB2F-8BD85541E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57DF2F-E052-4107-12FF-DD0A25688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95B5A5-77C2-4B65-EEB5-0E01BA6F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F7CE8F-D4A8-F5E4-080A-3728206A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044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C67496-751D-C3F8-C396-98BF60D2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2F3773-E1B9-8849-9476-356B85ADB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DD8A01-0AB2-34BA-370E-4A2210CD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5F56D5-35A7-676D-B2B8-A1BC00D88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16FCC2-F588-A7BD-E5B2-9D303BE6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817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0F7215-2CE1-185D-85D9-028666A8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55CF9A-2C75-97A9-6439-17498DE3C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AF09B0-7D57-8DDA-EFFC-609DE040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B1F5AE-D26B-F1BF-B90C-30C00FBE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A901C9-5E3B-AEC6-B1C1-1412A583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048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9B3A3F-10F5-D87D-B90D-232A7425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3FA80F-8DD2-0B53-6E6D-D6A10EB7C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7305EB3-9979-6230-4BA7-49783738A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02001A-B493-5BD4-AA0C-BE7C4579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09416E-C390-E89B-E94B-5C7AD599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577A06-421E-B243-B737-0E802E08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660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FA3F83-BA31-F48D-BEA0-874F795A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84421A0-1185-A670-138B-B38869428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C3674-12DE-0177-3357-E7E62A6E3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39B32C-6D30-371A-977D-A6F86BD16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C2AF39E-A156-2F19-5FB5-4F4A3741E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7125D1C-F906-3140-0FDC-A21CB201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5584391-5B36-84F2-A839-2CCDDE88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7F75484-4348-2C5E-B540-028B0048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663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395DB2-59F7-42B4-0913-639892A2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AC3CDB5-024D-D0A9-72D3-20EAB53B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D3EDD1-E986-29F9-B86D-85DA1CF2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1AFEEE-FCE0-0DEE-6DA5-7C8F024D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610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7947438-09D7-2DD6-3C51-D6603E19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3740451-C2D1-7D91-3C85-C3937660A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8DBE34B-8B5C-B9FD-10C7-C50D8DD2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015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731F3B-E891-58B4-6968-6FD14B03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FB9DEB-A95F-758C-4DC9-06D57939E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2F3AEED-FD9F-FE48-D238-C0A9C5669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10A728A-55AD-2D4A-5AA9-409B5834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95B7DF-6B7C-FEE9-2347-8CF937FE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7331E5-0F22-64E9-0893-18DF6134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81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4B2B7A-10A1-ADC5-C9DC-FD3E15F8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25587AF-3D2C-C87D-BDF1-242FDF2B6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5371CB-FE89-B4DF-14AE-21FA7226C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9FC6D6-632B-DF85-0205-2B6E60EC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8C9DCC-CA31-984A-0386-47F0D5F8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9E3C5DC-3930-9148-CB2C-CD16C499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899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CCE2D4-9FB7-8CED-791C-C5445922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7A6314E-6364-3693-3C20-D4BAC3D3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5E61A2-626E-E426-F077-82182A6C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68149F-1804-D85A-5342-61D343E81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708704-ABDF-B785-33AB-4BBB1A45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538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97B0C9D-C788-92E3-5060-FE93790B8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DADCCCF-96D4-615A-F4C8-8EAFEAAE5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A56BB5-AFAF-7CD2-23D7-0295F62D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5FA754-4049-5BEF-3429-F7A96606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0DF045-88EB-AE57-FC88-47E5F464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2285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E70DA09-CEA2-17C5-D71F-FF1FCD6E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9210B6-70A5-115A-E098-1BEDA2D95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DAA7E2-8508-6BC3-848A-650EBF3FB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82B40-0B3B-4BA2-B164-8DCF5A90F094}" type="datetimeFigureOut">
              <a:rPr lang="it-IT" smtClean="0"/>
              <a:t>25/04/2023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1A088B-EAAD-6522-59CD-EB66A74F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E068A4-B2AD-E12D-F75C-075E3C084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AA5DC-F6BD-406E-8FB1-D3FAD73A6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741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traditional semiotics the concept of “rule” plays an important role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rules of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binding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unchangeable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this kind of formulation,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rules rule people</a:t>
            </a:r>
            <a:endParaRPr lang="it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249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takes a different approach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written or unwritten – are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made by people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therefore be changed by people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certain contexts, explicit and detailed rules are enforced</a:t>
            </a:r>
            <a:endParaRPr lang="it-IT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44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65" y="1881420"/>
            <a:ext cx="11389659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There are different kinds of rules and different ways of changing thinks</a:t>
            </a:r>
          </a:p>
          <a:p>
            <a:pPr marL="0" indent="0">
              <a:buNone/>
            </a:pPr>
            <a:endParaRPr lang="it-IT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Compliance can be achieved by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imposing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rules, or by making them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understood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by setting the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right example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60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670"/>
            <a:ext cx="10515600" cy="462167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a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perspectives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are not fixed into unchanged codes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are resources which people use, design and adapt to make meaning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cannot be separated from concrete forms of social relations and cannot exist without it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social resources take place in a social context and might have different cultural and social meaning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meaning-making processes of many types: verbal, written, visual, musical, aural, and so forth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different resources can also be joined in multimodal ensembles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313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semiotics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ollects, documents and catalogues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resources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compares semiotic modes (image, music, and so on)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contribute to the discovery and development of new semiotic resources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has much in common with cultural studies and critical discourse analysis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613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semiotics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investigates how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modes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integrated in multimodal artefacts and events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investigates how these resources are used in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specific historical, cultural and institutional contexts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 only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inventories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past, present and possible future semiotic resources, but also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types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taken up in different ways in different contexts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007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traditional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Saussurean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-inspired approach to lexicon rules argues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rule of the lexicon is entirely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arbitrary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can only by obeyed</a:t>
            </a: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discussing this topic semioticians added three concepts from C.S. Pierce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Icon, index, symbol</a:t>
            </a:r>
            <a:endParaRPr lang="it-IT" i="1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02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Icon, index and symbol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Three types of signs which differ in the way the </a:t>
            </a:r>
            <a:r>
              <a:rPr lang="en-US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 between their signifiers and signifieds is motivated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9537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union of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observable form of the sign, such as a sound, a word or a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communication; the sensory impression of the sign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concept that a signifier refers to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depends on who you are and where you are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322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665027"/>
            <a:ext cx="11289307" cy="469132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relation between signifier and signified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is arbitrary, wholly conventional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20017D0-30CB-C3B7-1068-51664B2DB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496" y="2804670"/>
            <a:ext cx="3419289" cy="296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7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33385"/>
            <a:ext cx="11183472" cy="48229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Icon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there is a relation of partial resemblance: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the signifier looks in some respect or to some degree like the signified</a:t>
            </a: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  <p:pic>
        <p:nvPicPr>
          <p:cNvPr id="8" name="Immagine 7" descr="Immagine che contiene albero, pianta, aria aperta&#10;&#10;Descrizione generata automaticamente">
            <a:extLst>
              <a:ext uri="{FF2B5EF4-FFF2-40B4-BE49-F238E27FC236}">
                <a16:creationId xmlns:a16="http://schemas.microsoft.com/office/drawing/2014/main" id="{E74B4DE8-DE5A-364A-B5CD-DF11DEE82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69" y="3912720"/>
            <a:ext cx="2981247" cy="279256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47E0E1F-5C35-9B93-263C-55C90B5486D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1" t="3930" r="12883" b="13354"/>
          <a:stretch/>
        </p:blipFill>
        <p:spPr>
          <a:xfrm>
            <a:off x="9067800" y="3831248"/>
            <a:ext cx="2743200" cy="302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04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ndex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there is a causal relation between signifier and signified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  <p:pic>
        <p:nvPicPr>
          <p:cNvPr id="8" name="Immagine 7" descr="Immagine che contiene aria aperta, spiaggia, acqua, natura&#10;&#10;Descrizione generata automaticamente">
            <a:extLst>
              <a:ext uri="{FF2B5EF4-FFF2-40B4-BE49-F238E27FC236}">
                <a16:creationId xmlns:a16="http://schemas.microsoft.com/office/drawing/2014/main" id="{D9195296-AE40-ECD3-9B77-3B361B3458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0" b="17342"/>
          <a:stretch/>
        </p:blipFill>
        <p:spPr>
          <a:xfrm>
            <a:off x="1173034" y="3871261"/>
            <a:ext cx="2634018" cy="2485089"/>
          </a:xfrm>
          <a:prstGeom prst="rect">
            <a:avLst/>
          </a:prstGeom>
        </p:spPr>
      </p:pic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526B47B5-B38E-93F5-EBC2-5AD10E7FE0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1" t="17076" r="6751" b="25398"/>
          <a:stretch/>
        </p:blipFill>
        <p:spPr>
          <a:xfrm rot="5400000">
            <a:off x="8982227" y="3641982"/>
            <a:ext cx="3330054" cy="185609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F312535-FA4D-5CDB-36AC-1FBFCA1A182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5" t="7320" r="24775"/>
          <a:stretch/>
        </p:blipFill>
        <p:spPr>
          <a:xfrm>
            <a:off x="5158855" y="3646001"/>
            <a:ext cx="2634018" cy="273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81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According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the social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point of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view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meaning is produced in use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signs are always motivated by the interest of the producer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the characteristics of the object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  <p:pic>
        <p:nvPicPr>
          <p:cNvPr id="8" name="Immagine 7" descr="Immagine che contiene testo, edificio&#10;&#10;Descrizione generata automaticamente">
            <a:extLst>
              <a:ext uri="{FF2B5EF4-FFF2-40B4-BE49-F238E27FC236}">
                <a16:creationId xmlns:a16="http://schemas.microsoft.com/office/drawing/2014/main" id="{A205D000-11B0-81B1-0088-4630C7735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047" y="2324004"/>
            <a:ext cx="2669481" cy="3824003"/>
          </a:xfrm>
          <a:prstGeom prst="rect">
            <a:avLst/>
          </a:prstGeom>
        </p:spPr>
      </p:pic>
      <p:pic>
        <p:nvPicPr>
          <p:cNvPr id="10" name="Immagine 9" descr="Immagine che contiene bouquet, fiore, pianta&#10;&#10;Descrizione generata automaticamente">
            <a:extLst>
              <a:ext uri="{FF2B5EF4-FFF2-40B4-BE49-F238E27FC236}">
                <a16:creationId xmlns:a16="http://schemas.microsoft.com/office/drawing/2014/main" id="{7EB56323-1AFB-61FD-4B7E-EE1BB0167E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0" t="3918" r="14834" b="11383"/>
          <a:stretch/>
        </p:blipFill>
        <p:spPr>
          <a:xfrm>
            <a:off x="7233313" y="4402324"/>
            <a:ext cx="1967291" cy="239661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B1AEAFD-812A-1D1D-524E-E5C0408638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79" y="4906265"/>
            <a:ext cx="2240574" cy="168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88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general, our uses of semiotic resources are controlled by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rules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which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will vary in detail and strictness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But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rules can never control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every detail of what we do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Every time we produce and interpret a sign, </a:t>
            </a:r>
            <a:r>
              <a:rPr lang="en-US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create something new</a:t>
            </a:r>
            <a:endParaRPr lang="it-IT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413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ocial semiotics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argues that 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rules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semiotic systems are not objectively there,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 a kind of natural law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unchangeable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written or unwritten – are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made by people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therefore be changed by people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6279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7" y="1533385"/>
            <a:ext cx="11335871" cy="505567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 be able to changes rules you need </a:t>
            </a:r>
            <a:r>
              <a:rPr lang="en-US" sz="3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power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2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Legal power – judges, juridical doctrine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Political power – legislative powers and governmental power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Religious power – Pope, priest, imam, rabbi, etc.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Financial power –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multinational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companies and corporations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Symbolic artistic power – writers, poets, artists, singer, etc.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Opinion leaders – family, friends, colleagues, celebrities and role models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Fashion and/or social media influencers – Chiara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Ferragni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Camila Coelho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4769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19"/>
            <a:ext cx="11183472" cy="470763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2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Different types of rules tend to be set and justified in different ways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it-IT" sz="3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rule of personal authority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exercised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people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</a:pPr>
            <a:endParaRPr lang="it-IT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in position of power –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dictator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patriarch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opinion leader, etc.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need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justify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their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actions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it-IT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rule </a:t>
            </a:r>
            <a:r>
              <a:rPr lang="it-IT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</a:t>
            </a:r>
            <a:r>
              <a:rPr lang="it-IT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always</a:t>
            </a:r>
            <a:r>
              <a:rPr lang="it-IT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ad hoc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it-IT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Its</a:t>
            </a:r>
            <a:r>
              <a:rPr lang="it-IT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application</a:t>
            </a:r>
            <a:r>
              <a:rPr lang="it-IT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</a:t>
            </a:r>
            <a:r>
              <a:rPr lang="it-IT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arbitrary</a:t>
            </a: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Sanctions too depend on whim</a:t>
            </a:r>
            <a:endParaRPr lang="it-IT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0090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semiotic example of personal power is “the dictate of fashion”</a:t>
            </a: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dictate of fashion never comes with justifications, nor is it grounded on expertise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fashion designers never poll people for their preference nor cite any </a:t>
            </a:r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other form of research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some fashion influencers have launched and built their own fashion houses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7051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rule of “impersonal authority”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two forms of impersonal authority: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	The authority of the written word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	The authority of tradition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930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694329"/>
            <a:ext cx="11183472" cy="4894729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4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4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it-IT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lphaLcPeriod"/>
            </a:pPr>
            <a:r>
              <a:rPr lang="en-US" sz="4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authority of the written word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lphaLcPeriod"/>
            </a:pPr>
            <a:endParaRPr lang="it-IT" sz="2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</a:t>
            </a:r>
            <a:r>
              <a:rPr lang="en-US" sz="34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ritten codes are explicit and accessible rules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30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Not following them has consequences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30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Human agents such as priests, the police, the judiciary, employers implement control according to explicit rules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30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4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 change when most people have begun to act in ways that no longer conform to the written law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it-IT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it-IT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it-IT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rules </a:t>
            </a:r>
            <a:r>
              <a:rPr lang="it-IT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it-IT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it-IT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changed</a:t>
            </a:r>
            <a:r>
              <a:rPr lang="it-IT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it-IT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it-IT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it-IT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endParaRPr lang="it-IT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8446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b. The authority of tradition or customary law</a:t>
            </a: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othing is explicitly and systematically codified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usually sayings, proverbs and tales to reinforce traditions and customs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Rules are not questioned or in need of justification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 rules are enforced by everyone rather than by specific agents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Diverging from the tradition will have consequences</a:t>
            </a:r>
            <a:endParaRPr lang="en-US" dirty="0">
              <a:solidFill>
                <a:srgbClr val="202124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8682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694329"/>
            <a:ext cx="11183472" cy="46620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Conformity</a:t>
            </a:r>
            <a:endParaRPr lang="it-IT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it-IT" sz="1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6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knows neither explicit codes, nor the know-how which comes from the tradition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100" dirty="0">
              <a:solidFill>
                <a:srgbClr val="202124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based on a fear to be different, of not blending in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It tends to occur in groups without significant differences in status and power, </a:t>
            </a:r>
            <a:r>
              <a:rPr lang="en-US" sz="2600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but </a:t>
            </a:r>
            <a:r>
              <a:rPr lang="en-US" sz="26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weakly cohesive, without shared traditions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10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Going against rules of conformity has consequences: gossip, innuendo, ostracization and social exclusion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10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Conformity provides little opportunity for change</a:t>
            </a:r>
            <a:endParaRPr lang="it-IT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9440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640541"/>
            <a:ext cx="11183472" cy="4715809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Role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Even though it appears to provide much freedom of choice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provides clues on how to dress, how to talk, how to think about current issue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control </a:t>
            </a:r>
            <a:r>
              <a:rPr lang="it-IT" sz="300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</a:t>
            </a:r>
            <a:r>
              <a:rPr lang="it-IT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300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exercised</a:t>
            </a:r>
            <a:r>
              <a:rPr lang="it-IT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300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through</a:t>
            </a:r>
            <a:r>
              <a:rPr lang="it-IT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300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examples</a:t>
            </a:r>
            <a:r>
              <a:rPr lang="it-IT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300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provided</a:t>
            </a:r>
            <a:r>
              <a:rPr lang="it-IT" sz="30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people of high social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not follow these standards of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behaviour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have </a:t>
            </a:r>
            <a:r>
              <a:rPr lang="en-US" sz="3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consequences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2316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383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9072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9371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55790047DD8148ABBA2789AA47C320" ma:contentTypeVersion="9" ma:contentTypeDescription="Create a new document." ma:contentTypeScope="" ma:versionID="98086a916431a8e183077b15f42af6f4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9fefe5fa148b4c4f793265d39efa4f41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E94DF8F-6A34-428B-A8DD-AB095D48032D}"/>
</file>

<file path=customXml/itemProps2.xml><?xml version="1.0" encoding="utf-8"?>
<ds:datastoreItem xmlns:ds="http://schemas.openxmlformats.org/officeDocument/2006/customXml" ds:itemID="{1ACD7807-A8E3-43A3-8A8C-230502ADEF00}"/>
</file>

<file path=customXml/itemProps3.xml><?xml version="1.0" encoding="utf-8"?>
<ds:datastoreItem xmlns:ds="http://schemas.openxmlformats.org/officeDocument/2006/customXml" ds:itemID="{860A7513-0480-4A11-989F-379F85CB9413}"/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1347</Words>
  <Application>Microsoft Office PowerPoint</Application>
  <PresentationFormat>Widescreen</PresentationFormat>
  <Paragraphs>289</Paragraphs>
  <Slides>27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4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MARIA RITA BARTOLOMEI</cp:lastModifiedBy>
  <cp:revision>26</cp:revision>
  <dcterms:created xsi:type="dcterms:W3CDTF">2023-04-25T08:20:24Z</dcterms:created>
  <dcterms:modified xsi:type="dcterms:W3CDTF">2023-04-25T18:17:56Z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