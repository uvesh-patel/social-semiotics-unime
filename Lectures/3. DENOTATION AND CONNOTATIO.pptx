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97" r:id="rId3"/>
    <p:sldId id="276" r:id="rId4"/>
    <p:sldId id="270" r:id="rId5"/>
    <p:sldId id="273" r:id="rId6"/>
    <p:sldId id="263" r:id="rId7"/>
    <p:sldId id="299" r:id="rId8"/>
    <p:sldId id="300" r:id="rId9"/>
    <p:sldId id="274" r:id="rId10"/>
    <p:sldId id="301" r:id="rId11"/>
    <p:sldId id="303" r:id="rId12"/>
    <p:sldId id="305" r:id="rId13"/>
    <p:sldId id="264" r:id="rId14"/>
    <p:sldId id="313" r:id="rId15"/>
    <p:sldId id="304" r:id="rId16"/>
    <p:sldId id="311" r:id="rId17"/>
    <p:sldId id="306" r:id="rId18"/>
    <p:sldId id="307" r:id="rId19"/>
    <p:sldId id="309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3830C0-2C30-9C63-318D-75EDF357F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561F237-8750-56BC-7A26-648CF7CAD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04AFAB-A67C-191A-92D1-D7356661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F5A06A-ADEB-03CD-D9FE-5600479A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87E016-11CF-913C-9176-4E76F037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769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8D2CA3-B4DF-8638-80DC-CA728719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23E700-B4EE-568C-FE2F-E775C5B2B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BC0C92-4F7F-D7D7-50B8-AFD68C8B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93F3F4-6594-CDC0-490F-15852B2E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0FBD77-8C81-259E-B712-FFC7C950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1605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E6087C-A538-80F5-556A-C2A1A89D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DB97F3-5E17-8595-E4B2-247EACA4E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D8862A-18EC-FF7B-6BAF-0EFF8892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FD19AD-D334-3D4A-2E49-8F1100E4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5D20FA-9220-09F5-5B69-EC197377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017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D0396F-4267-CB80-E561-DD8D6DE1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7A2FB5-B761-2AE0-6A84-9610986DE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7D051D-52F4-DF8E-3087-1FCE43B6E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4D5E087-32CF-2ED9-B620-15BA9C34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46449F7-32C1-49AC-F389-10780819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C7EFAE-1F4D-F131-7750-B0DAA88D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487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C0B537-948B-CB50-0D58-95047DFF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8ADD71-8B48-BC0B-257B-92189081F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BA42756-C086-D719-5FEF-AB2AB0050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FA82DEC-6736-6B3F-6E18-9D4F4C02D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9F614E9-C324-F272-AB84-D4A2E8179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83F69D-964E-E967-370B-5B0AB402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4C7726D-3879-2CCD-DABB-644A273E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62F0559-B034-132A-5965-26E8B24E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418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B27EE-0019-EA7A-78BB-FF8EE3DD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C7A5F5-A4F9-91A0-1E48-B8554EC6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DC3F1AE-215C-72D1-F773-ACB07966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71139A-46FF-FC17-F93A-F8664AC6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133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C911CAA-459B-0974-1171-DA9B8AFF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94ACA2-6901-B064-FAC5-7325BEE5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2D70D1-0256-1715-0A0B-21AF6284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575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36A16E-B866-BBEF-6D40-EB4C0506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7A30C3-410B-C5D6-0516-E07D739B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7F00E7-2754-D69C-6FB6-320811E5A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DD4D4B2-1EE6-44C9-0843-7F746113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4D37B9-93B0-C56A-2AF8-C3E5B770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8E8EC61-A8E2-3B1F-8C80-26DBD135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071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637D6E-C187-A52C-2F9C-EC8B13EC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E0D19B-9817-D695-5097-DC0C08EEC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E4DE5B-1428-DD71-3E08-2CD0CBB9B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E26F96F-C245-FD5A-4F7E-B5E676C6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E8215D-E8B1-BBDD-1557-F3D24C9F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8B2396A-29A8-C7A3-F3BB-3F091466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262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1D2DC8-0437-8C63-D806-F266271F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AB5F4-4AE1-D6D9-1D76-827D6B197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E2184A-142E-1FD5-52DB-3224D077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F46241-2B7E-E24B-9FA4-901FC5C7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E45994-B108-F696-C4C3-7682C4BF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892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6B2069F-029A-2322-A1C5-0D639574B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489C6A0-0B8D-223A-6C24-B988085E8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5B6259-B247-888E-B07A-73DA5E76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74D214-FC87-43A0-E080-97F49419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9D3970-9D40-7E09-06DE-53DAB060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018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316232F-955A-9CEC-8726-68AE1A0D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9B4995-34FE-B31A-EF8B-C8EB33906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E13F12-28DD-332A-597E-C87A1BE27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4FCCB-E45A-4322-B63A-D625757190DF}" type="datetimeFigureOut">
              <a:rPr lang="it-IT" smtClean="0"/>
              <a:t>29/03/2023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8707A0-1E2F-3B86-DF43-A86FB4DA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1EF0F1-FD2A-3E23-B5EC-D7E46B10B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568B2-48B4-4EAD-B121-F52FE35A42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735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Communication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union of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observable form of the sign, such as a sound, a word or 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communication; the sensory impression of the sign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concept that a signifier refers to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depends on who you are and where you are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261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/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signification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  <a:endParaRPr lang="it-IT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sound image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concept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24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relationship is conventional and arbitrary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  <p:pic>
        <p:nvPicPr>
          <p:cNvPr id="10" name="Immagine 9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6192A87B-997E-A359-FF0E-726B51B24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877" y="2183642"/>
            <a:ext cx="4915207" cy="43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6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has a referential function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anything which produces meaning and refers to something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 in communication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meanings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making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3200" dirty="0"/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669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connotation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 to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related concepts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en-US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easily confused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79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both refer to word meanings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they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 very different concepts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difference between </a:t>
            </a:r>
            <a:r>
              <a:rPr lang="en-US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denotation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connotation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25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516"/>
            <a:ext cx="10515600" cy="453072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literal, explicit or direct meaning of a word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is the standardized meaning of a word within the language 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the meaning of a word which everyone agree 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036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Proud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Denotation: “having or showing self-respect or self-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exteeme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Vintage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Denotation: “produced in the past and typical of the period in which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it was made”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5607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969"/>
            <a:ext cx="10515600" cy="43803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 AND DENOTATION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ords can have more than one meaning and even change their meaning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can more accurately be pictured as having a spread of signifieds</a:t>
            </a:r>
            <a:endParaRPr lang="it-IT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3890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 refers to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emotions a word evokes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ideas which you think when you hear or read a word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an indirect or implied meaning or feeling</a:t>
            </a:r>
            <a:endParaRPr lang="en-US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much more subjective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It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emphasises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plurality of meanings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2915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566"/>
            <a:ext cx="10515600" cy="459478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Proud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“having or showing self-respect or self-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exteeme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arrogant, immodest, overbearing, vainglorious (negative meaning);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Self-confidence, glorious, honored, satisfied (positive meaning)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Vintage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“produced in the past and typical of the period in which it was made”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old style which is making a come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back; a nostalgic quality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590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635"/>
            <a:ext cx="10515600" cy="4231714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in this way, connotation </a:t>
            </a:r>
            <a:r>
              <a:rPr lang="en-US" sz="5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emphasises</a:t>
            </a: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plurality of the signified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Connotations are a way of generating a spread of signifieds around a given signifier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Mutt</a:t>
            </a: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mixed-breed dog</a:t>
            </a:r>
            <a:endParaRPr lang="it-IT" sz="5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51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Since he is a mix of beagle and terrier, he's a mutt.</a:t>
            </a:r>
            <a:endParaRPr lang="it-IT" sz="5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51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</a:t>
            </a:r>
            <a:r>
              <a:rPr lang="en-US" sz="5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That mutt is always barking</a:t>
            </a:r>
            <a:endParaRPr lang="it-IT" sz="5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444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9106"/>
            <a:ext cx="10515600" cy="4097243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verb </a:t>
            </a:r>
            <a:r>
              <a:rPr lang="en-US" sz="2400" b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denote</a:t>
            </a:r>
            <a:r>
              <a:rPr lang="en-US" sz="240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means: “to indicate” or “to mean”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1000" dirty="0">
              <a:solidFill>
                <a:srgbClr val="21212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verb </a:t>
            </a:r>
            <a:r>
              <a:rPr lang="en-US" sz="2400" b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connote</a:t>
            </a:r>
            <a:r>
              <a:rPr lang="en-US" sz="240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means “to signify or suggest </a:t>
            </a:r>
            <a:r>
              <a:rPr lang="en-US" sz="240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(certain meanings, ideas, etc.)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4A4A4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4A4A4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addition to the explicit or primary meaning”</a:t>
            </a:r>
            <a:endParaRPr lang="it-I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21212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standard definition of a word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onnotation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feeling evoked by a word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8643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b="1" dirty="0">
              <a:solidFill>
                <a:srgbClr val="21212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Denotation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</a:t>
            </a:r>
            <a:r>
              <a:rPr lang="en-US" sz="2400" spc="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plain and direct meaning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definition of a word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onnotation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feelings associated with a word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While the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denotation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a word is pretty cut and dry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one word can have many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connotations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 different people, and those connotations could be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neutral, positive, or negative</a:t>
            </a:r>
            <a:endParaRPr lang="it-IT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694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969"/>
            <a:ext cx="10515600" cy="438038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Grin</a:t>
            </a:r>
            <a:r>
              <a:rPr lang="it-I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Beam</a:t>
            </a:r>
            <a:r>
              <a:rPr lang="it-I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Sneer</a:t>
            </a:r>
            <a:r>
              <a:rPr lang="it-IT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Simper</a:t>
            </a:r>
            <a:endParaRPr lang="it-IT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t-IT" sz="1700" b="1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Denotation: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These are all synonyms for smile</a:t>
            </a:r>
            <a:endParaRPr lang="it-IT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Connotation: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Both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grin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beam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have positive connotations and 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generally associated with someone who is genuinely happy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		   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Sneer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negative connotation and is usually associated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someone being cruel or scornful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imper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also has a negative connotation but is usually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associated with someone weak or unintelligent</a:t>
            </a:r>
            <a:endParaRPr lang="it-IT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978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420"/>
            <a:ext cx="10515600" cy="447492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Connotation of a sign are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set of its possible signified</a:t>
            </a: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sz="3200" u="sng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6476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420"/>
            <a:ext cx="10515600" cy="447492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Exercises: write a few sentences with the suggested words</a:t>
            </a: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Chicken</a:t>
            </a:r>
            <a:endParaRPr lang="it-IT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Childlike</a:t>
            </a: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abble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Home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Jabber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Smile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winkle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Wave</a:t>
            </a:r>
          </a:p>
          <a:p>
            <a:pPr marL="0" lv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75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671"/>
            <a:ext cx="10515600" cy="4621678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Cheap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to cost very little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this shirt is cheap enough for me to afford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that t-shirt was so cheap, it pilled in a matter of weeks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Dabble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to show a superficial interest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 dabble in painting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Connotation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You should never dabble in drugs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8914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635"/>
            <a:ext cx="10515600" cy="42317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DENOTATION AND CONNOTATION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Note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0" indent="0" fontAlgn="base">
              <a:lnSpc>
                <a:spcPct val="100000"/>
              </a:lnSpc>
              <a:spcBef>
                <a:spcPts val="0"/>
              </a:spcBef>
              <a:buNone/>
            </a:pPr>
            <a:endParaRPr lang="en-US" sz="1600" spc="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denotation is not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definition you would find in the dictionary, but a word’s primary meaning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2000" spc="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word's connotations may not be commonly held; sometimes a word will have a particular connotation only for a culture, for group of people, for a family, or even for a single person</a:t>
            </a:r>
            <a:endParaRPr lang="it-IT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5933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92F63F-EF76-4539-B80D-F84157E3BE2B}"/>
</file>

<file path=customXml/itemProps2.xml><?xml version="1.0" encoding="utf-8"?>
<ds:datastoreItem xmlns:ds="http://schemas.openxmlformats.org/officeDocument/2006/customXml" ds:itemID="{4E246896-FF82-4CB4-A627-5D68D6DCA531}"/>
</file>

<file path=customXml/itemProps3.xml><?xml version="1.0" encoding="utf-8"?>
<ds:datastoreItem xmlns:ds="http://schemas.openxmlformats.org/officeDocument/2006/customXml" ds:itemID="{4B8948D0-0DFB-4526-96D9-139711ED919A}"/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916</Words>
  <Application>Microsoft Office PowerPoint</Application>
  <PresentationFormat>Widescreen</PresentationFormat>
  <Paragraphs>225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MARIA RITA BARTOLOMEI</dc:creator>
  <cp:lastModifiedBy>MARIA RITA BARTOLOMEI</cp:lastModifiedBy>
  <cp:revision>28</cp:revision>
  <dcterms:created xsi:type="dcterms:W3CDTF">2023-03-24T16:13:32Z</dcterms:created>
  <dcterms:modified xsi:type="dcterms:W3CDTF">2023-03-28T22:16:15Z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