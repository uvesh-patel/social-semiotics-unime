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8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11" r:id="rId14"/>
    <p:sldId id="312" r:id="rId15"/>
    <p:sldId id="306" r:id="rId16"/>
    <p:sldId id="313" r:id="rId17"/>
    <p:sldId id="314" r:id="rId18"/>
    <p:sldId id="315" r:id="rId19"/>
    <p:sldId id="321" r:id="rId20"/>
    <p:sldId id="322" r:id="rId21"/>
    <p:sldId id="323" r:id="rId22"/>
    <p:sldId id="324" r:id="rId23"/>
    <p:sldId id="325" r:id="rId2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99895B-6A79-8A47-B7DF-F0EFCE7BD11A}" v="3" dt="2023-07-02T14:29:54.9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0"/>
  </p:normalViewPr>
  <p:slideViewPr>
    <p:cSldViewPr snapToGrid="0">
      <p:cViewPr varScale="1">
        <p:scale>
          <a:sx n="120" d="100"/>
          <a:sy n="120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customXml" Target="../customXml/item3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LGIZAR ÖZTÜRK 544954" userId="449b61d1-2b08-4d2b-ac76-8e3bbeee3292" providerId="ADAL" clId="{9A99895B-6A79-8A47-B7DF-F0EFCE7BD11A}"/>
    <pc:docChg chg="modSld">
      <pc:chgData name="BELGIZAR ÖZTÜRK 544954" userId="449b61d1-2b08-4d2b-ac76-8e3bbeee3292" providerId="ADAL" clId="{9A99895B-6A79-8A47-B7DF-F0EFCE7BD11A}" dt="2023-07-02T14:29:58.116" v="8"/>
      <pc:docMkLst>
        <pc:docMk/>
      </pc:docMkLst>
      <pc:sldChg chg="addSp delSp modSp mod">
        <pc:chgData name="BELGIZAR ÖZTÜRK 544954" userId="449b61d1-2b08-4d2b-ac76-8e3bbeee3292" providerId="ADAL" clId="{9A99895B-6A79-8A47-B7DF-F0EFCE7BD11A}" dt="2023-07-02T14:29:58.116" v="8"/>
        <pc:sldMkLst>
          <pc:docMk/>
          <pc:sldMk cId="2184315569" sldId="298"/>
        </pc:sldMkLst>
        <pc:spChg chg="add del mod">
          <ac:chgData name="BELGIZAR ÖZTÜRK 544954" userId="449b61d1-2b08-4d2b-ac76-8e3bbeee3292" providerId="ADAL" clId="{9A99895B-6A79-8A47-B7DF-F0EFCE7BD11A}" dt="2023-07-02T14:29:56.301" v="4"/>
          <ac:spMkLst>
            <pc:docMk/>
            <pc:sldMk cId="2184315569" sldId="298"/>
            <ac:spMk id="7" creationId="{7248542B-B444-CFFB-AD26-41F477C8DB44}"/>
          </ac:spMkLst>
        </pc:spChg>
        <pc:spChg chg="add del mod">
          <ac:chgData name="BELGIZAR ÖZTÜRK 544954" userId="449b61d1-2b08-4d2b-ac76-8e3bbeee3292" providerId="ADAL" clId="{9A99895B-6A79-8A47-B7DF-F0EFCE7BD11A}" dt="2023-07-02T14:29:57.060" v="6"/>
          <ac:spMkLst>
            <pc:docMk/>
            <pc:sldMk cId="2184315569" sldId="298"/>
            <ac:spMk id="8" creationId="{6EA074D0-8CF2-96E8-4B6A-EFADD3CCFAEA}"/>
          </ac:spMkLst>
        </pc:spChg>
        <pc:spChg chg="add del mod">
          <ac:chgData name="BELGIZAR ÖZTÜRK 544954" userId="449b61d1-2b08-4d2b-ac76-8e3bbeee3292" providerId="ADAL" clId="{9A99895B-6A79-8A47-B7DF-F0EFCE7BD11A}" dt="2023-07-02T14:29:58.116" v="8"/>
          <ac:spMkLst>
            <pc:docMk/>
            <pc:sldMk cId="2184315569" sldId="298"/>
            <ac:spMk id="9" creationId="{90F9C128-7DB5-C172-31F5-FC0C51C7F77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C36A44-8CCF-5925-165E-CE559A1FAA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A62FF0F-1AC8-EACE-7D63-996BF20CFF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BC53F08-D56F-E731-BBEC-B9577B0F0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C4C69-E5E7-402A-ABCC-CD2A069B47B5}" type="datetimeFigureOut">
              <a:rPr lang="it-IT" smtClean="0"/>
              <a:t>02/07/23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344982F-E2D6-AB94-3136-48FDE0A53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53C30F8-7BDD-40C0-418F-D3C8BF536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1205D-7406-470D-BDE5-B7CFA3A9367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9025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9C5E31-D052-C1F8-A0FB-FC953E11B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EB1173-D4F0-8894-E210-F9334C50B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EE29084-B8E8-119E-7CC0-15D297E16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C4C69-E5E7-402A-ABCC-CD2A069B47B5}" type="datetimeFigureOut">
              <a:rPr lang="it-IT" smtClean="0"/>
              <a:t>02/07/23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1256DC9-4C43-3B36-64AA-2BCE5D601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8AFF342-4B18-BC1C-A619-0D1C5186F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1205D-7406-470D-BDE5-B7CFA3A9367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9085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F40E1F-FC51-FAA7-7A20-341BB9C98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7991892-F097-A043-7325-AE3188B51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3BADC4E-70F7-25C4-5690-AACC280BA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C4C69-E5E7-402A-ABCC-CD2A069B47B5}" type="datetimeFigureOut">
              <a:rPr lang="it-IT" smtClean="0"/>
              <a:t>02/07/23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F11216-306C-9F03-152A-0E4E8548C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6282031-7DED-17E4-8CC5-2CBBD8055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1205D-7406-470D-BDE5-B7CFA3A9367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51031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80171C-0E87-6680-76AA-DA6C19BF7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A907309-A0D6-FB8A-1821-E95356B947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92CD3B1-7EB1-6588-B6DE-1AD6DDD736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999F2DA-9FC0-0B5D-899A-945227BC2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C4C69-E5E7-402A-ABCC-CD2A069B47B5}" type="datetimeFigureOut">
              <a:rPr lang="it-IT" smtClean="0"/>
              <a:t>02/07/23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C7CCA6B-CBBD-79D3-75B7-8B058B4FE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9FFB05D-3ECD-A359-4790-0E775C72E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1205D-7406-470D-BDE5-B7CFA3A9367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30851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925E51-11C1-A0F4-195D-377A15ECD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435A34B-CB9D-7EE6-44C8-C172BC86D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D95C88C-6FA3-C080-D8FE-4F9E3FB570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1AB6819-DD21-ED87-6AC7-85EFBC0AEB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186065E-C2AA-11CA-BE83-3835472601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7E0119A-C589-35E9-6BDA-D4ABCE307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C4C69-E5E7-402A-ABCC-CD2A069B47B5}" type="datetimeFigureOut">
              <a:rPr lang="it-IT" smtClean="0"/>
              <a:t>02/07/23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EE4AD4C-92A3-4375-E593-4EA2C0B15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12839E5-0FB0-1CE1-A9B4-54B348311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1205D-7406-470D-BDE5-B7CFA3A9367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320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834CC6-41D8-F93C-1862-7574F9029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7E0E484-FE6F-A555-C961-3FD3F6CCC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C4C69-E5E7-402A-ABCC-CD2A069B47B5}" type="datetimeFigureOut">
              <a:rPr lang="it-IT" smtClean="0"/>
              <a:t>02/07/23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56D7117-4198-34FC-1B7D-FFBE5B21E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776FDB6-700D-ECEC-64E3-2D3EF48EF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1205D-7406-470D-BDE5-B7CFA3A9367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026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2519E39-FF28-5932-139A-BAA5A8922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C4C69-E5E7-402A-ABCC-CD2A069B47B5}" type="datetimeFigureOut">
              <a:rPr lang="it-IT" smtClean="0"/>
              <a:t>02/07/23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2BD2E23-6BAA-0CB1-5B3C-ECA8A965E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E21AF78-8BBC-FC94-0E97-D5D610B92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1205D-7406-470D-BDE5-B7CFA3A9367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0105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A48928-BB3F-84E0-FE70-01965D3B0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F449C9A-E720-F055-5BE4-47991DA8E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7D74ADC-8EED-E6A9-5C61-A1E76A5D9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CD642D6-F7A5-5F4B-DFEF-75456BC76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C4C69-E5E7-402A-ABCC-CD2A069B47B5}" type="datetimeFigureOut">
              <a:rPr lang="it-IT" smtClean="0"/>
              <a:t>02/07/23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791A2E1-C6C9-651D-8743-37D37FACD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289B8F4-C450-65A5-EAED-1F7B53EBB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1205D-7406-470D-BDE5-B7CFA3A9367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4919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9B0518-08C1-E8AF-D6BB-359719D4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5BD7536-698D-5CB4-6890-49CAC42EF4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E0D23FE-7C59-FDA4-EAEB-799662FC3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FFA97EC-0407-C8A5-BE35-F8F36AC2B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C4C69-E5E7-402A-ABCC-CD2A069B47B5}" type="datetimeFigureOut">
              <a:rPr lang="it-IT" smtClean="0"/>
              <a:t>02/07/23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2285E75-2A94-0A9D-FEF8-A734188F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D3E612B-6F3E-4702-352F-D780AF22E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1205D-7406-470D-BDE5-B7CFA3A9367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0131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6F86FD-E7D6-6FA0-4758-35030BCFB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CB3C6E5-A2C0-3F76-B35C-5E16691EC8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E29055D-F1A2-9400-0230-C8957FE84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C4C69-E5E7-402A-ABCC-CD2A069B47B5}" type="datetimeFigureOut">
              <a:rPr lang="it-IT" smtClean="0"/>
              <a:t>02/07/23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0A23C1D-0459-5AF4-921F-15D05E1C9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54AF3F4-E586-DE0C-F568-00A8F6E18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1205D-7406-470D-BDE5-B7CFA3A9367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7105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85E23F6-DC54-4E27-95DB-8BDD9CCAD0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37D1503-5A3E-01EA-F31A-C4D9EE359D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D9AB0DA-ED9B-C914-E7D4-9680744F6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C4C69-E5E7-402A-ABCC-CD2A069B47B5}" type="datetimeFigureOut">
              <a:rPr lang="it-IT" smtClean="0"/>
              <a:t>02/07/23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CC32453-4BFA-3978-2942-634E4AF22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779DB87-BA17-3F84-6683-EB2E7637E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1205D-7406-470D-BDE5-B7CFA3A9367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42574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3C0D942-8133-A938-0D16-9804A5AF1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5E1A11A-B71C-C260-9D6A-9D94C8CF6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7E51BEE-CD32-B757-E3B3-409EDC419F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C4C69-E5E7-402A-ABCC-CD2A069B47B5}" type="datetimeFigureOut">
              <a:rPr lang="it-IT" smtClean="0"/>
              <a:t>02/07/23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1F2F737-3B3A-7192-E264-0D2113FBE7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A7456CC-A53D-90A2-39BC-3C4D94877F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F1205D-7406-470D-BDE5-B7CFA3A9367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5860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C6E8C581-25A3-E33E-D7DD-A2B2A41FF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>
                <a:latin typeface="Britannic Bold" panose="020B0903060703020204" pitchFamily="34" charset="0"/>
              </a:rPr>
              <a:t>UNIVERSITY OF MESSINA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A3F7D7EE-8FE9-90F4-02E6-6CD1AF821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306" y="1948003"/>
            <a:ext cx="11403106" cy="4291432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</a:t>
            </a:r>
          </a:p>
          <a:p>
            <a:pPr marL="0" indent="0" algn="ctr">
              <a:buNone/>
            </a:pPr>
            <a:r>
              <a:rPr lang="it-IT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Science and Theory of </a:t>
            </a:r>
            <a:r>
              <a:rPr lang="it-IT" sz="4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lang="it-IT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4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LM-55</a:t>
            </a:r>
          </a:p>
          <a:p>
            <a:pPr marL="0" indent="0" algn="ctr">
              <a:buNone/>
            </a:pPr>
            <a:endParaRPr lang="it-IT"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it-IT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Course Title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it-IT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5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SEMIOTICS</a:t>
            </a:r>
          </a:p>
          <a:p>
            <a:pPr marL="0" indent="0" algn="ctr">
              <a:buNone/>
            </a:pPr>
            <a:endParaRPr lang="it-IT" sz="33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3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Teacher</a:t>
            </a:r>
            <a:endParaRPr lang="it-IT" sz="3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3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Maria Rita Bartolomei</a:t>
            </a:r>
            <a:endParaRPr lang="it-IT" sz="3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Mail: mabartolomei@unime.it</a:t>
            </a:r>
          </a:p>
        </p:txBody>
      </p:sp>
      <p:pic>
        <p:nvPicPr>
          <p:cNvPr id="6" name="Segnaposto contenuto 4" descr="Immagine che contiene testo, contenitore, scatola&#10;&#10;Descrizione generata automaticamente">
            <a:extLst>
              <a:ext uri="{FF2B5EF4-FFF2-40B4-BE49-F238E27FC236}">
                <a16:creationId xmlns:a16="http://schemas.microsoft.com/office/drawing/2014/main" id="{DDD7C24D-9569-D55D-FAB3-A977C76C5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8508" y="309515"/>
            <a:ext cx="1638487" cy="1638487"/>
          </a:xfrm>
          <a:prstGeom prst="rect">
            <a:avLst/>
          </a:prstGeom>
        </p:spPr>
      </p:pic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A636110D-77B9-3AB4-BE50-9B93911F2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Maria Rita Bartolomei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CCFFF47F-2082-A8BD-E214-32F787B2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2558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25624"/>
            <a:ext cx="10737102" cy="453072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balance between the social and the individual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mbodiment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Is the learning and acquiring of a set of knowledge and competences which can be routinely reproduced as practice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produces a certain identity, or a set of multiple, intersecting identities</a:t>
            </a: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5322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25624"/>
            <a:ext cx="10737102" cy="453072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balance between the social and the individual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mbodiment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same person can embody many other, quite different competences: as worker, parent, sportsman, etc.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All forms of social identity depend upon the embodiment of discourse and its display in public interactions</a:t>
            </a:r>
            <a:endParaRPr lang="it-IT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4315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25624"/>
            <a:ext cx="10737102" cy="453072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balance between the social and the individual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Mass media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institutions whose business is the widespread dissemination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    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of texts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2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have relevant cultural effects on social identity</a:t>
            </a:r>
            <a:endParaRPr lang="it-IT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31969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25624"/>
            <a:ext cx="10737102" cy="453072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balance between the social and the individual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Medium </a:t>
            </a:r>
            <a:endParaRPr lang="en-US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institutional and social dimension of the material contexts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in which texts are produced and read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Every text has its medium</a:t>
            </a: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9854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25624"/>
            <a:ext cx="10737102" cy="453072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balance between the social and the individual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Mediation</a:t>
            </a:r>
            <a:endParaRPr lang="en-US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occurs when one party acts between two others, bringing them into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    a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recognisable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relationship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involves discourse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produces a relationship between parties based on social identity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and cultural values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is one of the ways in which media discourse works</a:t>
            </a: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11253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25624"/>
            <a:ext cx="10737102" cy="453072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balance between the social and the individual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An imagined community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is made up of individuals who do not interact face-to-face, but who nevertheless identify as a community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Nations are imagined communities</a:t>
            </a: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22569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7" y="1734671"/>
            <a:ext cx="10853643" cy="462167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balance between the social and the individual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Media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play a significant role in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reproducing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the imagined communities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   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of nations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mediate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between individual audience members to create a sense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of communal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belonging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have the power to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maintain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the relationship between audiences and social institutions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have the power to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change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 the relationship between audiences and social institutions</a:t>
            </a:r>
            <a:endParaRPr lang="it-IT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4119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25624"/>
            <a:ext cx="10737102" cy="453072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balance between the social and the individual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Mediation and self-effacement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Mediation sets up relationship between parties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whose interests may not be coincidental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where there is considerable risk involved in negotiation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The mediator cannot be seen to act on the basis of self-interest</a:t>
            </a: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30251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25624"/>
            <a:ext cx="10737102" cy="453072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balance between the social and the individual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Mediation and self-effacement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Media discourse is also subject to this kind of self-effacement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The self-effacing function is one of the central features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  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of media discourse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 The media must offer certain guarantees to their audience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Media discourse includes claims to objectivity and truth </a:t>
            </a: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4037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533386"/>
            <a:ext cx="10737102" cy="4822964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balance between the social and the individual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2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Habitus and disposition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2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Habitus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is a set of acquired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dispositions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of thought, perception, feeling and action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400" kern="0" spc="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is a product of early childhood experience, and in particular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kern="0" spc="1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2400" kern="0" spc="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kern="0" spc="1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socialisation</a:t>
            </a:r>
            <a:r>
              <a:rPr lang="en-US" sz="2400" kern="0" spc="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within the family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400" kern="0" spc="1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conditioned by one’s position in the social structure: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gender, class, culture, age, language, ethnicity, etc.</a:t>
            </a:r>
            <a:endParaRPr lang="it-IT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1118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533386"/>
            <a:ext cx="10737102" cy="4822964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balance between the social and the individual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2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Habitus and disposition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2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Habitus is a form of embodiment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does not only function at the level of explicit, discursive consciousness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social agents operate according to implicit practical logics and bodily dispositions</a:t>
            </a:r>
            <a:endParaRPr lang="en-US" sz="2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2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3473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25624"/>
            <a:ext cx="10737102" cy="453072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balance between the social and the individual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Habitus and disposition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2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Habitus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is the way in which people perceive and respond to the social world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is a lively network of objective social relationships and situations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The habitus of a person </a:t>
            </a:r>
            <a:r>
              <a:rPr lang="en-US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influences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and </a:t>
            </a:r>
            <a:r>
              <a:rPr lang="en-US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shapes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his/her social actions</a:t>
            </a: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7297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25624"/>
            <a:ext cx="10737102" cy="453072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balance between the social and the individual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Habitus and disposition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2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Disposition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en-US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sense of the game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practical sense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 partly rational but partly intuitive </a:t>
            </a:r>
            <a:r>
              <a:rPr lang="en-US" sz="2800" b="1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understanding</a:t>
            </a:r>
            <a:r>
              <a:rPr lang="en-US" sz="280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of social fields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and of social order in general</a:t>
            </a: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1661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753" y="1680882"/>
            <a:ext cx="10910047" cy="4675467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balance between the social and the individual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Habitus and disposition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Dispositions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20212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constitute the </a:t>
            </a:r>
            <a:r>
              <a:rPr lang="en-US" sz="2800" b="1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habitus</a:t>
            </a:r>
            <a:r>
              <a:rPr lang="en-US" sz="280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of an individual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the habitus will typify his/her </a:t>
            </a:r>
            <a:r>
              <a:rPr lang="en-US" b="1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position</a:t>
            </a: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in the social space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often </a:t>
            </a:r>
            <a:r>
              <a:rPr lang="en-US" i="1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acknowledge</a:t>
            </a: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 </a:t>
            </a:r>
            <a:r>
              <a:rPr lang="en-US" i="1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legitimate</a:t>
            </a: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and </a:t>
            </a:r>
            <a:r>
              <a:rPr lang="en-US" i="1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reproduce</a:t>
            </a: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the social forms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20212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</a:t>
            </a: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of domination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000" dirty="0">
              <a:solidFill>
                <a:srgbClr val="202122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rgbClr val="20212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relationship between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individual predispositions and social structure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 not a perfect match and </a:t>
            </a:r>
            <a:r>
              <a:rPr lang="en-US" sz="240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social change is always possible</a:t>
            </a:r>
            <a:endParaRPr lang="it-IT" sz="2400" u="sng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23726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752" y="1680882"/>
            <a:ext cx="11367247" cy="4675467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balance between the social and the individual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Representation and interest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Habitus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disposes individuals towards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certain </a:t>
            </a: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practices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certain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representations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of these practices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it-IT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Habitus </a:t>
            </a:r>
            <a:r>
              <a:rPr lang="it-IT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presents certain practices as natural and commonsensical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76361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753" y="1680882"/>
            <a:ext cx="10910047" cy="4675467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balance between the social and the individual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Representation and interest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representations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are practices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representations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are practices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 essential to the reproduction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    of habitus</a:t>
            </a:r>
            <a:endParaRPr lang="it-IT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9438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753" y="1680882"/>
            <a:ext cx="10910047" cy="4675467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balance between the social and the individual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Representation and interest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habitus is not coercion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it-IT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it-IT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representations</a:t>
            </a:r>
            <a:r>
              <a:rPr lang="it-IT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may</a:t>
            </a:r>
            <a:r>
              <a:rPr lang="it-IT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be </a:t>
            </a:r>
            <a:r>
              <a:rPr lang="it-IT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contested</a:t>
            </a:r>
            <a:endParaRPr lang="it-IT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34470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753" y="1680882"/>
            <a:ext cx="10910047" cy="4675467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balance between the social and the individual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Representation and interest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representation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a product or a contestation of habitus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u="sng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representation</a:t>
            </a:r>
            <a:r>
              <a:rPr lang="it-IT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u="sng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it-IT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u="sng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always</a:t>
            </a:r>
            <a:r>
              <a:rPr lang="it-IT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u="sng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interested</a:t>
            </a:r>
            <a:endParaRPr lang="it-IT" u="sng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it-IT" sz="1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interest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something which disposes agents to act in certain ways</a:t>
            </a: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288031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753" y="1680882"/>
            <a:ext cx="10910047" cy="4675467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balance between the social and the individual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Representation and interest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ll representations are interested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interest does not mean truth or falsehood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ruth is not opposed to interest </a:t>
            </a: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685503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753" y="1680882"/>
            <a:ext cx="10910047" cy="4675467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balance between the social and the individual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Representation and interest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interest is not an option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interest is the mode in which a discourse exists as practice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even in a single representation or practice, there can be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several conflicting interests at work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meaning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always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contextual</a:t>
            </a: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03313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55790047DD8148ABBA2789AA47C320" ma:contentTypeVersion="9" ma:contentTypeDescription="Create a new document." ma:contentTypeScope="" ma:versionID="98086a916431a8e183077b15f42af6f4">
  <xsd:schema xmlns:xsd="http://www.w3.org/2001/XMLSchema" xmlns:xs="http://www.w3.org/2001/XMLSchema" xmlns:p="http://schemas.microsoft.com/office/2006/metadata/properties" xmlns:ns2="4c1e1bc0-20d7-4915-b349-ec50805d4704" xmlns:ns3="17b4f9ba-5d33-4440-816d-df83934b65a5" targetNamespace="http://schemas.microsoft.com/office/2006/metadata/properties" ma:root="true" ma:fieldsID="9fefe5fa148b4c4f793265d39efa4f41" ns2:_="" ns3:_="">
    <xsd:import namespace="4c1e1bc0-20d7-4915-b349-ec50805d4704"/>
    <xsd:import namespace="17b4f9ba-5d33-4440-816d-df83934b65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1e1bc0-20d7-4915-b349-ec50805d47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35712a47-566f-4e2f-ac2c-6a691c9ee4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b4f9ba-5d33-4440-816d-df83934b65a5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a00fc7f-b5c3-40ce-a31d-e4a375ba7a0b}" ma:internalName="TaxCatchAll" ma:showField="CatchAllData" ma:web="17b4f9ba-5d33-4440-816d-df83934b65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7b4f9ba-5d33-4440-816d-df83934b65a5" xsi:nil="true"/>
    <lcf76f155ced4ddcb4097134ff3c332f xmlns="4c1e1bc0-20d7-4915-b349-ec50805d470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5D79699-2184-4143-912D-A96E22D622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A23E807-1537-4D46-AB14-D9D0D284CA12}"/>
</file>

<file path=customXml/itemProps3.xml><?xml version="1.0" encoding="utf-8"?>
<ds:datastoreItem xmlns:ds="http://schemas.openxmlformats.org/officeDocument/2006/customXml" ds:itemID="{F19E7856-D26F-4113-A60B-558268A9EE57}"/>
</file>

<file path=docProps/app.xml><?xml version="1.0" encoding="utf-8"?>
<Properties xmlns="http://schemas.openxmlformats.org/officeDocument/2006/extended-properties" xmlns:vt="http://schemas.openxmlformats.org/officeDocument/2006/docPropsVTypes">
  <TotalTime>894</TotalTime>
  <Words>1023</Words>
  <Application>Microsoft Macintosh PowerPoint</Application>
  <PresentationFormat>Geniş ekran</PresentationFormat>
  <Paragraphs>251</Paragraphs>
  <Slides>21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21</vt:i4>
      </vt:variant>
    </vt:vector>
  </HeadingPairs>
  <TitlesOfParts>
    <vt:vector size="28" baseType="lpstr">
      <vt:lpstr>Arial</vt:lpstr>
      <vt:lpstr>Britannic Bold</vt:lpstr>
      <vt:lpstr>Calibri</vt:lpstr>
      <vt:lpstr>Calibri Light</vt:lpstr>
      <vt:lpstr>Times New Roman</vt:lpstr>
      <vt:lpstr>Wingdings</vt:lpstr>
      <vt:lpstr>Tema di Office</vt:lpstr>
      <vt:lpstr>UNIVERSITY OF MESSINA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OF MESSINA</dc:title>
  <dc:creator>MARIA RITA BARTOLOMEI</dc:creator>
  <cp:lastModifiedBy>BELGIZAR ÖZTÜRK 544954</cp:lastModifiedBy>
  <cp:revision>15</cp:revision>
  <dcterms:created xsi:type="dcterms:W3CDTF">2023-05-04T13:43:39Z</dcterms:created>
  <dcterms:modified xsi:type="dcterms:W3CDTF">2023-07-02T14:30:03Z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0x010100FB55790047DD8148ABBA2789AA47C320</vt:lpwstr>
  </property>
</Properties>
</file>