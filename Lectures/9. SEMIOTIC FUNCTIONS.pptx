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97" r:id="rId3"/>
    <p:sldId id="302" r:id="rId4"/>
    <p:sldId id="330" r:id="rId5"/>
    <p:sldId id="333" r:id="rId6"/>
    <p:sldId id="332" r:id="rId7"/>
    <p:sldId id="325" r:id="rId8"/>
    <p:sldId id="334" r:id="rId9"/>
    <p:sldId id="321" r:id="rId10"/>
    <p:sldId id="320" r:id="rId11"/>
    <p:sldId id="335" r:id="rId12"/>
    <p:sldId id="336" r:id="rId13"/>
    <p:sldId id="337" r:id="rId14"/>
    <p:sldId id="338" r:id="rId15"/>
    <p:sldId id="298" r:id="rId16"/>
    <p:sldId id="340" r:id="rId17"/>
    <p:sldId id="339" r:id="rId18"/>
    <p:sldId id="299" r:id="rId19"/>
    <p:sldId id="341" r:id="rId20"/>
    <p:sldId id="300" r:id="rId21"/>
    <p:sldId id="301" r:id="rId22"/>
    <p:sldId id="342" r:id="rId23"/>
    <p:sldId id="343" r:id="rId24"/>
    <p:sldId id="345" r:id="rId25"/>
    <p:sldId id="348" r:id="rId26"/>
    <p:sldId id="349" r:id="rId27"/>
    <p:sldId id="344" r:id="rId28"/>
    <p:sldId id="350" r:id="rId29"/>
    <p:sldId id="351" r:id="rId30"/>
    <p:sldId id="346" r:id="rId31"/>
    <p:sldId id="354" r:id="rId32"/>
    <p:sldId id="353" r:id="rId33"/>
    <p:sldId id="352" r:id="rId34"/>
    <p:sldId id="355" r:id="rId35"/>
    <p:sldId id="356" r:id="rId36"/>
    <p:sldId id="357" r:id="rId3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7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9ACB08-1B96-0AE6-79E1-EBDA81557D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BC664FC-C231-63A3-49DE-2D869858A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203CCD0-47E1-2A61-3100-D0225085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1B1B-D1E0-485F-9ED6-8610732926F8}" type="datetimeFigureOut">
              <a:rPr lang="it-IT" smtClean="0"/>
              <a:t>04/05/2023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E7C8D85-60EA-7FF6-288D-12611779D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C756AE8-CF52-16F9-C779-3E3299AC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29CDC-7970-4FDB-8578-B6D2632569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8119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FF1E8C-E039-F57D-E19C-9500E5225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C0921B-9ED6-5586-C1E4-295E3B071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5B6288-C220-AE04-4AD7-45BD2A991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1B1B-D1E0-485F-9ED6-8610732926F8}" type="datetimeFigureOut">
              <a:rPr lang="it-IT" smtClean="0"/>
              <a:t>04/05/2023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BECE1B-DA12-D219-814E-76B10AD54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E1C6D81-E71B-2D69-B31E-ADB4D0949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29CDC-7970-4FDB-8578-B6D2632569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355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F03146-A3FF-FA63-BCC4-B9217A023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799C2FE-7776-0133-1FA4-B1FF733DB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BEABB3-850D-25EA-7870-7075600FA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1B1B-D1E0-485F-9ED6-8610732926F8}" type="datetimeFigureOut">
              <a:rPr lang="it-IT" smtClean="0"/>
              <a:t>04/05/2023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0D8E85A-31EA-C471-6748-30A18EB66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D8C8310-17F5-ED5A-30EA-EB2037EAE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29CDC-7970-4FDB-8578-B6D2632569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00768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0D9DAF-F58A-CFB8-4516-19E07149A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B80A9D-0F67-B7AB-A962-B63689894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C4F2AE6-BC00-34E1-4509-E74E91A3E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2D88F91-DF01-007A-C845-06F99302C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1B1B-D1E0-485F-9ED6-8610732926F8}" type="datetimeFigureOut">
              <a:rPr lang="it-IT" smtClean="0"/>
              <a:t>04/05/2023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D731B9E-8A82-409E-9B37-B913B32D5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0745F0A-DA12-0275-C44D-EBCA07B4F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29CDC-7970-4FDB-8578-B6D2632569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5765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D34959-7713-3165-CAC1-63A18F296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954EB02-D2DF-FF13-D598-E153A32F5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D511DB-9878-7C99-BD93-07A39B41A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63308E2-4FCA-D4E6-7A74-1195AF2F54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2B00544-1BF0-6BA1-BE3F-64F3BD75B1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2B1104D-0A03-BEDA-08D4-3EC7DABC6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1B1B-D1E0-485F-9ED6-8610732926F8}" type="datetimeFigureOut">
              <a:rPr lang="it-IT" smtClean="0"/>
              <a:t>04/05/2023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C9BBD0A-F7E0-861F-1041-32C3179A8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9DEDB62-027C-BC32-6854-E1BFCDE78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29CDC-7970-4FDB-8578-B6D2632569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335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16E699-BE79-1B4E-87CB-78F53FD6D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D5F5FCB-9B61-BD8C-59AB-A86E1A123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1B1B-D1E0-485F-9ED6-8610732926F8}" type="datetimeFigureOut">
              <a:rPr lang="it-IT" smtClean="0"/>
              <a:t>04/05/2023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1241560-5A66-8700-E1FF-86EA6380D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5A23193-C576-18C4-56EA-9899490B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29CDC-7970-4FDB-8578-B6D2632569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2281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23C7741-1676-89B1-D305-525046F25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1B1B-D1E0-485F-9ED6-8610732926F8}" type="datetimeFigureOut">
              <a:rPr lang="it-IT" smtClean="0"/>
              <a:t>04/05/2023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0116DEF-7BA7-C176-9EF6-9ECBD61C0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B55358E-575A-5DFB-FC95-46C20B1B4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29CDC-7970-4FDB-8578-B6D2632569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0676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1EAA09-C532-64D6-73D1-94A05AA0F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AEB150A-6A8A-CA46-CAB4-34301F94B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7FE1C29-8E9F-D0A1-6C4D-1A4A32513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3EF21FC-225D-2599-0C8B-0D36DD6C0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1B1B-D1E0-485F-9ED6-8610732926F8}" type="datetimeFigureOut">
              <a:rPr lang="it-IT" smtClean="0"/>
              <a:t>04/05/2023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4D6C8F8-3F1E-F8F1-E06A-745ED359C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CE12227-B523-7E4C-2C05-8B6FD2733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29CDC-7970-4FDB-8578-B6D2632569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5251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A856D9-71AF-27BF-CD40-372D2F3F8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19C0B00-B29B-C102-2E97-29A0E68534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BEE2729-00F1-F3E9-AA6B-FD46BF22D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8C0AE43-6C6A-874A-3EAA-5F83DB1E2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1B1B-D1E0-485F-9ED6-8610732926F8}" type="datetimeFigureOut">
              <a:rPr lang="it-IT" smtClean="0"/>
              <a:t>04/05/2023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6A5EC8A-FC69-AD59-2309-8DFC7754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368A6FD-40A8-7EE9-6D3B-700359B4A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29CDC-7970-4FDB-8578-B6D2632569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9186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32D8D2-3DC0-43DD-93AE-5FCC4EA9F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DF5D194-B163-91E6-60C4-93C1EB57E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5124974-3CEA-01ED-3037-52DB133DB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1B1B-D1E0-485F-9ED6-8610732926F8}" type="datetimeFigureOut">
              <a:rPr lang="it-IT" smtClean="0"/>
              <a:t>04/05/2023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58A735-96E8-0ED7-A6E9-81F48C01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B2FD9BB-F5A6-6749-8B0C-7013732BC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29CDC-7970-4FDB-8578-B6D2632569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4368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DC96342-10A8-100A-226C-F0AD50122B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53C661A-11C5-48E4-DFD1-6668A60AF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6EFE7A9-7256-91E0-3AC7-F8E894620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1B1B-D1E0-485F-9ED6-8610732926F8}" type="datetimeFigureOut">
              <a:rPr lang="it-IT" smtClean="0"/>
              <a:t>04/05/2023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CAC82DB-AD55-E96B-17F3-3680F04BD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FA688CA-BF3B-16AA-6AF0-5373B7589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29CDC-7970-4FDB-8578-B6D2632569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3609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D13D335-D106-5D21-F19B-4C0144A98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D358FA5-BBAB-EC06-0710-D31E3512D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E17D0F5-AC7B-8056-775C-725BE583B2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C1B1B-D1E0-485F-9ED6-8610732926F8}" type="datetimeFigureOut">
              <a:rPr lang="it-IT" smtClean="0"/>
              <a:t>04/05/2023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38BFA7F-BDB7-B905-5032-4DE91424A8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DCBB7B5-3BA6-6B35-F294-8C71FE0A12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29CDC-7970-4FDB-8578-B6D2632569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2638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image" Target="../media/image1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eg"/><Relationship Id="rId4" Type="http://schemas.openxmlformats.org/officeDocument/2006/relationships/image" Target="../media/image2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g"/><Relationship Id="rId3" Type="http://schemas.openxmlformats.org/officeDocument/2006/relationships/image" Target="../media/image28.jpg"/><Relationship Id="rId7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g"/><Relationship Id="rId5" Type="http://schemas.openxmlformats.org/officeDocument/2006/relationships/image" Target="../media/image30.png"/><Relationship Id="rId4" Type="http://schemas.openxmlformats.org/officeDocument/2006/relationships/image" Target="../media/image29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g"/><Relationship Id="rId5" Type="http://schemas.openxmlformats.org/officeDocument/2006/relationships/image" Target="../media/image42.jpg"/><Relationship Id="rId4" Type="http://schemas.openxmlformats.org/officeDocument/2006/relationships/image" Target="../media/image41.jp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C6E8C581-25A3-E33E-D7DD-A2B2A41F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latin typeface="Britannic Bold" panose="020B0903060703020204" pitchFamily="34" charset="0"/>
              </a:rPr>
              <a:t>UNIVERSITY OF MESSINA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3F7D7EE-8FE9-90F4-02E6-6CD1AF821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06" y="1948003"/>
            <a:ext cx="11403106" cy="4291432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</a:p>
          <a:p>
            <a:pPr marL="0" indent="0" algn="ctr">
              <a:buNone/>
            </a:pP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Science and Theory of </a:t>
            </a:r>
            <a:r>
              <a:rPr lang="it-IT" sz="4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4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LM-55</a:t>
            </a:r>
          </a:p>
          <a:p>
            <a:pPr marL="0" indent="0" algn="ctr">
              <a:buNone/>
            </a:pPr>
            <a:endParaRPr lang="it-IT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it-IT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 Title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it-IT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5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SEMIOTICS</a:t>
            </a:r>
          </a:p>
          <a:p>
            <a:pPr marL="0" indent="0" algn="ctr">
              <a:buNone/>
            </a:pPr>
            <a:endParaRPr lang="it-IT" sz="33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Teacher</a:t>
            </a:r>
            <a:endParaRPr lang="it-IT" sz="3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Maria Rita Bartolomei</a:t>
            </a:r>
            <a:endParaRPr lang="it-IT" sz="3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Mail: mabartolomei@unime.it</a:t>
            </a:r>
          </a:p>
        </p:txBody>
      </p:sp>
      <p:pic>
        <p:nvPicPr>
          <p:cNvPr id="6" name="Segnaposto contenuto 4" descr="Immagine che contiene testo, contenitore, scatola&#10;&#10;Descrizione generata automaticamente">
            <a:extLst>
              <a:ext uri="{FF2B5EF4-FFF2-40B4-BE49-F238E27FC236}">
                <a16:creationId xmlns:a16="http://schemas.microsoft.com/office/drawing/2014/main" id="{DDD7C24D-9569-D55D-FAB3-A977C76C5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508" y="309515"/>
            <a:ext cx="1638487" cy="1638487"/>
          </a:xfrm>
          <a:prstGeom prst="rect">
            <a:avLst/>
          </a:prstGeom>
        </p:spPr>
      </p:pic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A636110D-77B9-3AB4-BE50-9B93911F2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CCFFF47F-2082-A8BD-E214-32F787B2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255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 function 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the ability to create symbols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language, picture, or gesture – to represent actions or objects mentally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kern="0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i</a:t>
            </a:r>
            <a:r>
              <a:rPr lang="en-US" sz="3200" kern="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 based on the use of signs and symbols which have distinct signifieds and signifiers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800" kern="0" spc="25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b="1" kern="0" spc="25" dirty="0">
                <a:solidFill>
                  <a:srgbClr val="4141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is one of </a:t>
            </a:r>
            <a:r>
              <a:rPr lang="en-US" sz="3200" b="1" kern="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3200" b="1" kern="0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most important human abilities</a:t>
            </a:r>
            <a:endParaRPr lang="it-IT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5322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 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union of a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signifier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a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signified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it-IT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Signifier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observable form of the sign, such as a sound, a word or a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colour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communication; the sensory impression of the sign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it-IT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Signified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concept that a signifier refers to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depends on who you are and where you are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2102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082187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774210"/>
            <a:ext cx="10958604" cy="458214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Symbol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sign, shape, person or object which is used to represent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something else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en-US" sz="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something which is used to represent a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quality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idea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4</a:t>
            </a:fld>
            <a:endParaRPr lang="it-IT"/>
          </a:p>
        </p:txBody>
      </p:sp>
      <p:pic>
        <p:nvPicPr>
          <p:cNvPr id="7" name="Immagine 6" descr="Immagine che contiene clipart&#10;&#10;Descrizione generata automaticamente">
            <a:extLst>
              <a:ext uri="{FF2B5EF4-FFF2-40B4-BE49-F238E27FC236}">
                <a16:creationId xmlns:a16="http://schemas.microsoft.com/office/drawing/2014/main" id="{4399316E-D52B-830B-5DFA-3CB8DCF45E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94" y="4065280"/>
            <a:ext cx="2574101" cy="2498073"/>
          </a:xfrm>
          <a:prstGeom prst="rect">
            <a:avLst/>
          </a:prstGeom>
        </p:spPr>
      </p:pic>
      <p:pic>
        <p:nvPicPr>
          <p:cNvPr id="9" name="Immagine 8" descr="Immagine che contiene diagramma&#10;&#10;Descrizione generata automaticamente">
            <a:extLst>
              <a:ext uri="{FF2B5EF4-FFF2-40B4-BE49-F238E27FC236}">
                <a16:creationId xmlns:a16="http://schemas.microsoft.com/office/drawing/2014/main" id="{8A4D9503-5737-408F-9D59-98107081E2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1841" y="3423478"/>
            <a:ext cx="2374212" cy="3355954"/>
          </a:xfrm>
          <a:prstGeom prst="rect">
            <a:avLst/>
          </a:prstGeom>
        </p:spPr>
      </p:pic>
      <p:pic>
        <p:nvPicPr>
          <p:cNvPr id="11" name="Immagine 10" descr="Immagine che contiene testo, clipart&#10;&#10;Descrizione generata automaticamente">
            <a:extLst>
              <a:ext uri="{FF2B5EF4-FFF2-40B4-BE49-F238E27FC236}">
                <a16:creationId xmlns:a16="http://schemas.microsoft.com/office/drawing/2014/main" id="{370811D8-92E8-FF51-273B-44A2CCA52E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761" y="3904169"/>
            <a:ext cx="1979513" cy="239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90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94" y="1662097"/>
            <a:ext cx="11012606" cy="4470992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Traffic </a:t>
            </a:r>
            <a:r>
              <a:rPr lang="it-IT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signs</a:t>
            </a:r>
            <a:endParaRPr lang="en-US" sz="10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5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3ED00E5-957A-B0B6-E82E-99D046113A7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15" b="5474"/>
          <a:stretch/>
        </p:blipFill>
        <p:spPr>
          <a:xfrm>
            <a:off x="3258343" y="2554598"/>
            <a:ext cx="5675314" cy="38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911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082187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759432"/>
            <a:ext cx="10958604" cy="458214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Even a person can have a symbolic meaning</a:t>
            </a: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6</a:t>
            </a:fld>
            <a:endParaRPr lang="it-IT"/>
          </a:p>
        </p:txBody>
      </p:sp>
      <p:pic>
        <p:nvPicPr>
          <p:cNvPr id="10" name="Immagine 9" descr="Immagine che contiene persona, uomo, aria aperta, telefono cellulare&#10;&#10;Descrizione generata automaticamente">
            <a:extLst>
              <a:ext uri="{FF2B5EF4-FFF2-40B4-BE49-F238E27FC236}">
                <a16:creationId xmlns:a16="http://schemas.microsoft.com/office/drawing/2014/main" id="{4AE46C69-67E0-1AEA-7AEE-965DEAB5445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054"/>
          <a:stretch/>
        </p:blipFill>
        <p:spPr>
          <a:xfrm>
            <a:off x="137054" y="2936168"/>
            <a:ext cx="3804005" cy="3736975"/>
          </a:xfrm>
          <a:prstGeom prst="rect">
            <a:avLst/>
          </a:prstGeom>
        </p:spPr>
      </p:pic>
      <p:pic>
        <p:nvPicPr>
          <p:cNvPr id="13" name="Immagine 12" descr="Immagine che contiene persona, muro, uomo, interno&#10;&#10;Descrizione generata automaticamente">
            <a:extLst>
              <a:ext uri="{FF2B5EF4-FFF2-40B4-BE49-F238E27FC236}">
                <a16:creationId xmlns:a16="http://schemas.microsoft.com/office/drawing/2014/main" id="{FE43865F-D885-009C-E6A2-90DA065837D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77" r="16695"/>
          <a:stretch/>
        </p:blipFill>
        <p:spPr>
          <a:xfrm>
            <a:off x="4171674" y="2788505"/>
            <a:ext cx="4079267" cy="3884638"/>
          </a:xfrm>
          <a:prstGeom prst="rect">
            <a:avLst/>
          </a:prstGeom>
        </p:spPr>
      </p:pic>
      <p:pic>
        <p:nvPicPr>
          <p:cNvPr id="15" name="Immagine 14" descr="Immagine che contiene persona, uomo, stanza d'ospedale, stanza&#10;&#10;Descrizione generata automaticamente">
            <a:extLst>
              <a:ext uri="{FF2B5EF4-FFF2-40B4-BE49-F238E27FC236}">
                <a16:creationId xmlns:a16="http://schemas.microsoft.com/office/drawing/2014/main" id="{8E56147E-CA67-899A-7054-5E5EE386DB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7511" y="2459617"/>
            <a:ext cx="3457435" cy="439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438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7</a:t>
            </a:fld>
            <a:endParaRPr lang="it-IT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E2E03899-8F57-2A7D-4BE4-EAEF628425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878" y="3186952"/>
            <a:ext cx="11082243" cy="3169397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4329"/>
            <a:ext cx="10515600" cy="4662021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symbol has a strong meaning potential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Red </a:t>
            </a:r>
            <a:r>
              <a:rPr kumimoji="0" lang="en-US" sz="4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colour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36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danger, passion, murder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371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385"/>
            <a:ext cx="10515600" cy="464357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6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Blood, murder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8</a:t>
            </a:fld>
            <a:endParaRPr lang="it-IT"/>
          </a:p>
        </p:txBody>
      </p:sp>
      <p:pic>
        <p:nvPicPr>
          <p:cNvPr id="9" name="Immagine 8" descr="Immagine che contiene persona, interno&#10;&#10;Descrizione generata automaticamente">
            <a:extLst>
              <a:ext uri="{FF2B5EF4-FFF2-40B4-BE49-F238E27FC236}">
                <a16:creationId xmlns:a16="http://schemas.microsoft.com/office/drawing/2014/main" id="{AD83E98C-033D-C3D2-B8ED-E5AF0251523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57"/>
          <a:stretch/>
        </p:blipFill>
        <p:spPr>
          <a:xfrm>
            <a:off x="3550711" y="2552167"/>
            <a:ext cx="5084365" cy="3678001"/>
          </a:xfrm>
          <a:prstGeom prst="rect">
            <a:avLst/>
          </a:prstGeom>
        </p:spPr>
      </p:pic>
      <p:pic>
        <p:nvPicPr>
          <p:cNvPr id="13" name="Immagine 12" descr="Immagine che contiene chiusura&#10;&#10;Descrizione generata automaticamente">
            <a:extLst>
              <a:ext uri="{FF2B5EF4-FFF2-40B4-BE49-F238E27FC236}">
                <a16:creationId xmlns:a16="http://schemas.microsoft.com/office/drawing/2014/main" id="{A1901CC0-92CE-1C20-6BD2-23FBB14368A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6" r="17399" b="9474"/>
          <a:stretch/>
        </p:blipFill>
        <p:spPr>
          <a:xfrm>
            <a:off x="8505449" y="4058655"/>
            <a:ext cx="3686551" cy="2799345"/>
          </a:xfrm>
          <a:prstGeom prst="rect">
            <a:avLst/>
          </a:prstGeom>
        </p:spPr>
      </p:pic>
      <p:pic>
        <p:nvPicPr>
          <p:cNvPr id="15" name="Immagine 14" descr="Immagine che contiene diagramma&#10;&#10;Descrizione generata automaticamente">
            <a:extLst>
              <a:ext uri="{FF2B5EF4-FFF2-40B4-BE49-F238E27FC236}">
                <a16:creationId xmlns:a16="http://schemas.microsoft.com/office/drawing/2014/main" id="{827CDFE1-E722-BCBB-1C7B-422DD000889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3" r="5332" b="15965"/>
          <a:stretch/>
        </p:blipFill>
        <p:spPr>
          <a:xfrm>
            <a:off x="0" y="4195504"/>
            <a:ext cx="4274107" cy="265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828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737102" cy="397164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 term “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meaning potential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focuses on meanings which have already been introduced into society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term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“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affordance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also brings in meanings which have not been recognized,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which are waiting to be discovered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0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The meaning potential – affordance of a semiotic resource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consists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all their past, present and future uses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1691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081" y="1665027"/>
            <a:ext cx="11289307" cy="469132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rules</a:t>
            </a: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Symbol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the relation between signifier and signified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is arbitrary, wholly conventional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10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920017D0-30CB-C3B7-1068-51664B2DB6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496" y="2804670"/>
            <a:ext cx="3419289" cy="296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57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081" y="1665027"/>
            <a:ext cx="11289307" cy="469132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4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4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endParaRPr lang="it-IT" sz="4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3600" kern="0" spc="25" dirty="0">
                <a:solidFill>
                  <a:srgbClr val="4141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kern="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Jean Piaget elaborated the theory of semiotic function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kern="0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3600" kern="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for early children to early elementary age students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kern="0" spc="25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so called pre-operational stage begins around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a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 two and lasts until approximately age seven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During this period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children cannot use logic or transform,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combine, or separate ideas, but there is a marked increase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the use of the symbolic function</a:t>
            </a:r>
            <a:endParaRPr lang="it-IT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5482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081" y="1665027"/>
            <a:ext cx="11289307" cy="469132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4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4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endParaRPr lang="it-IT" sz="4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retend or symbolic play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happens when a child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starts to use objects to represent other objects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assigns impossible functions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invents an imaginary playmat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4383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081" y="1533385"/>
            <a:ext cx="11289307" cy="482296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13</a:t>
            </a:fld>
            <a:endParaRPr lang="it-IT"/>
          </a:p>
        </p:txBody>
      </p:sp>
      <p:pic>
        <p:nvPicPr>
          <p:cNvPr id="8" name="Immagine 7" descr="Immagine che contiene bambino, servizi igienici, giovane, ragazzo&#10;&#10;Descrizione generata automaticamente">
            <a:extLst>
              <a:ext uri="{FF2B5EF4-FFF2-40B4-BE49-F238E27FC236}">
                <a16:creationId xmlns:a16="http://schemas.microsoft.com/office/drawing/2014/main" id="{6DB1F9CE-31BB-708F-F159-BAEA4A72FD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8"/>
          <a:stretch/>
        </p:blipFill>
        <p:spPr>
          <a:xfrm>
            <a:off x="249641" y="4811423"/>
            <a:ext cx="4038600" cy="2000250"/>
          </a:xfrm>
          <a:prstGeom prst="rect">
            <a:avLst/>
          </a:prstGeom>
        </p:spPr>
      </p:pic>
      <p:pic>
        <p:nvPicPr>
          <p:cNvPr id="10" name="Immagine 9" descr="Immagine che contiene interno, bambino, persona, bebè&#10;&#10;Descrizione generata automaticamente">
            <a:extLst>
              <a:ext uri="{FF2B5EF4-FFF2-40B4-BE49-F238E27FC236}">
                <a16:creationId xmlns:a16="http://schemas.microsoft.com/office/drawing/2014/main" id="{9DB798C6-116A-C631-519A-E5917F8906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563" y="1412876"/>
            <a:ext cx="4038600" cy="3254737"/>
          </a:xfrm>
          <a:prstGeom prst="rect">
            <a:avLst/>
          </a:prstGeom>
        </p:spPr>
      </p:pic>
      <p:pic>
        <p:nvPicPr>
          <p:cNvPr id="14" name="Immagine 13" descr="Immagine che contiene testo, aria aperta, erba, persona&#10;&#10;Descrizione generata automaticamente">
            <a:extLst>
              <a:ext uri="{FF2B5EF4-FFF2-40B4-BE49-F238E27FC236}">
                <a16:creationId xmlns:a16="http://schemas.microsoft.com/office/drawing/2014/main" id="{EF294759-0BA6-7E57-9340-196413B21A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639" y="4023499"/>
            <a:ext cx="5519522" cy="2921274"/>
          </a:xfrm>
          <a:prstGeom prst="rect">
            <a:avLst/>
          </a:prstGeom>
        </p:spPr>
      </p:pic>
      <p:pic>
        <p:nvPicPr>
          <p:cNvPr id="16" name="Immagine 15" descr="Immagine che contiene testo, muro, interno, persona&#10;&#10;Descrizione generata automaticamente">
            <a:extLst>
              <a:ext uri="{FF2B5EF4-FFF2-40B4-BE49-F238E27FC236}">
                <a16:creationId xmlns:a16="http://schemas.microsoft.com/office/drawing/2014/main" id="{A6F01D34-4372-8AE4-0E82-0B276173A31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40" r="25414" b="27666"/>
          <a:stretch/>
        </p:blipFill>
        <p:spPr>
          <a:xfrm>
            <a:off x="8524066" y="1828589"/>
            <a:ext cx="2688415" cy="1908465"/>
          </a:xfrm>
          <a:prstGeom prst="rect">
            <a:avLst/>
          </a:prstGeom>
        </p:spPr>
      </p:pic>
      <p:pic>
        <p:nvPicPr>
          <p:cNvPr id="20" name="Immagine 19" descr="Immagine che contiene acqua, persona&#10;&#10;Descrizione generata automaticamente">
            <a:extLst>
              <a:ext uri="{FF2B5EF4-FFF2-40B4-BE49-F238E27FC236}">
                <a16:creationId xmlns:a16="http://schemas.microsoft.com/office/drawing/2014/main" id="{2017679B-8014-7253-449F-B9C3CC1B7F3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454"/>
          <a:stretch/>
        </p:blipFill>
        <p:spPr>
          <a:xfrm>
            <a:off x="5144437" y="1516144"/>
            <a:ext cx="2688415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124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081" y="1665027"/>
            <a:ext cx="11289307" cy="469132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4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4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endParaRPr lang="it-IT" sz="4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When a child engages in pretend play, t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 following areas are streng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thened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Cognitive skills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kern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Social skills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kern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Self-esteem</a:t>
            </a:r>
            <a:endParaRPr lang="en-US" kern="0" dirty="0">
              <a:solidFill>
                <a:srgbClr val="231F2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kern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Language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kern="0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Drawing </a:t>
            </a:r>
            <a:endParaRPr lang="en-US" kern="0" dirty="0">
              <a:solidFill>
                <a:srgbClr val="231F2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kern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Motor skills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6367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1175252" cy="453072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4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4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4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This is not a pipe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15</a:t>
            </a:fld>
            <a:endParaRPr lang="it-IT"/>
          </a:p>
        </p:txBody>
      </p:sp>
      <p:pic>
        <p:nvPicPr>
          <p:cNvPr id="7" name="Immagine 6" descr="Magritte's painting of the semiotic function.">
            <a:extLst>
              <a:ext uri="{FF2B5EF4-FFF2-40B4-BE49-F238E27FC236}">
                <a16:creationId xmlns:a16="http://schemas.microsoft.com/office/drawing/2014/main" id="{F2C3DC8F-28F8-1F71-C683-33D264288D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787" y="1361958"/>
            <a:ext cx="7373563" cy="49943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3339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081" y="1665027"/>
            <a:ext cx="11289307" cy="469132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4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4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endParaRPr lang="it-IT" sz="4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kern="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semiotic function doesn’t develop suddenly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kern="0" spc="25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kern="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Thanks to the semiotic function, we have been able to communicate,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create meanings and produce culture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it-IT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Man </a:t>
            </a: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 cultural </a:t>
            </a: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being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creator and </a:t>
            </a: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bearer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of culture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5647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081" y="1665027"/>
            <a:ext cx="11289307" cy="469132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2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endParaRPr lang="it-IT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t-IT" sz="1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ability to create symbols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t-IT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2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functions</a:t>
            </a:r>
            <a:endParaRPr lang="it-IT" sz="3200" b="1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t-IT" sz="3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all imaginative and depictive actions of the human mind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not components of the thought process itself, but rather help represent knowledge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9277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5028"/>
            <a:ext cx="10515600" cy="469132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The formal function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tied closely to the material support of the semiotic resources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 d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ifferent supports can produce different sort of formal function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en-US" sz="1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18483"/>
            <a:ext cx="2743200" cy="365125"/>
          </a:xfrm>
        </p:spPr>
        <p:txBody>
          <a:bodyPr/>
          <a:lstStyle/>
          <a:p>
            <a:fld id="{A943B825-0FCC-4E24-9AB0-B3A36126D33D}" type="slidenum">
              <a:rPr lang="it-IT" smtClean="0"/>
              <a:t>18</a:t>
            </a:fld>
            <a:endParaRPr lang="it-IT"/>
          </a:p>
        </p:txBody>
      </p:sp>
      <p:pic>
        <p:nvPicPr>
          <p:cNvPr id="8" name="Immagine 7" descr="Immagine che contiene testo, schermo, elettronica, schermata&#10;&#10;Descrizione generata automaticamente">
            <a:extLst>
              <a:ext uri="{FF2B5EF4-FFF2-40B4-BE49-F238E27FC236}">
                <a16:creationId xmlns:a16="http://schemas.microsoft.com/office/drawing/2014/main" id="{6E59405E-1269-82E3-C367-C69858E925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6" t="6283" r="4885" b="2272"/>
          <a:stretch/>
        </p:blipFill>
        <p:spPr>
          <a:xfrm>
            <a:off x="8333103" y="3710846"/>
            <a:ext cx="3508933" cy="2607636"/>
          </a:xfrm>
          <a:prstGeom prst="rect">
            <a:avLst/>
          </a:prstGeom>
        </p:spPr>
      </p:pic>
      <p:pic>
        <p:nvPicPr>
          <p:cNvPr id="12" name="Immagine 11" descr="Immagine che contiene testo, contenitore, lattina&#10;&#10;Descrizione generata automaticamente">
            <a:extLst>
              <a:ext uri="{FF2B5EF4-FFF2-40B4-BE49-F238E27FC236}">
                <a16:creationId xmlns:a16="http://schemas.microsoft.com/office/drawing/2014/main" id="{508EAB0C-90F4-5FFF-0325-FCEEE6B1F21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46" r="1484"/>
          <a:stretch/>
        </p:blipFill>
        <p:spPr>
          <a:xfrm>
            <a:off x="214957" y="3507692"/>
            <a:ext cx="2743200" cy="3175917"/>
          </a:xfrm>
          <a:prstGeom prst="rect">
            <a:avLst/>
          </a:prstGeom>
        </p:spPr>
      </p:pic>
      <p:pic>
        <p:nvPicPr>
          <p:cNvPr id="14" name="Immagine 13" descr="Immagine che contiene testo, cesto, contenitore, tessuto&#10;&#10;Descrizione generata automaticamente">
            <a:extLst>
              <a:ext uri="{FF2B5EF4-FFF2-40B4-BE49-F238E27FC236}">
                <a16:creationId xmlns:a16="http://schemas.microsoft.com/office/drawing/2014/main" id="{E9FF3AD6-2935-F7A7-3E85-E9BEA8A7E4A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57" t="5909" r="50050" b="7059"/>
          <a:stretch/>
        </p:blipFill>
        <p:spPr>
          <a:xfrm rot="5400000">
            <a:off x="4377530" y="2675178"/>
            <a:ext cx="2811438" cy="447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845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69" y="1825624"/>
            <a:ext cx="10856231" cy="45307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formal function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Romans said: </a:t>
            </a:r>
            <a:r>
              <a:rPr lang="en-US" sz="2400" i="1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 </a:t>
            </a:r>
            <a:r>
              <a:rPr lang="en-US" sz="2400" i="1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</a:t>
            </a:r>
            <a:r>
              <a:rPr lang="en-US" sz="2400" i="1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esse</a:t>
            </a:r>
            <a:r>
              <a:rPr lang="en-US" sz="2400" i="1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rei</a:t>
            </a:r>
            <a:r>
              <a:rPr lang="en-US" sz="2400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it-IT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it-IT" sz="2400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it-IT" sz="2400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helps to </a:t>
            </a:r>
            <a:r>
              <a:rPr lang="it-IT" sz="2400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give</a:t>
            </a:r>
            <a:r>
              <a:rPr lang="it-IT" sz="2400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400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substance</a:t>
            </a:r>
            <a:r>
              <a:rPr lang="it-IT" sz="2400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it-IT" sz="2400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thing</a:t>
            </a:r>
            <a:endParaRPr lang="it-IT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en-US" sz="1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18483"/>
            <a:ext cx="2743200" cy="365125"/>
          </a:xfrm>
        </p:spPr>
        <p:txBody>
          <a:bodyPr/>
          <a:lstStyle/>
          <a:p>
            <a:fld id="{A943B825-0FCC-4E24-9AB0-B3A36126D33D}" type="slidenum">
              <a:rPr lang="it-IT" smtClean="0"/>
              <a:t>19</a:t>
            </a:fld>
            <a:endParaRPr lang="it-IT"/>
          </a:p>
        </p:txBody>
      </p:sp>
      <p:pic>
        <p:nvPicPr>
          <p:cNvPr id="7" name="Immagine 6" descr="Immagine che contiene bottiglia&#10;&#10;Descrizione generata automaticamente">
            <a:extLst>
              <a:ext uri="{FF2B5EF4-FFF2-40B4-BE49-F238E27FC236}">
                <a16:creationId xmlns:a16="http://schemas.microsoft.com/office/drawing/2014/main" id="{D8BB2D9D-09FF-9C05-54CD-742C626508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5" t="6543" r="34624"/>
          <a:stretch/>
        </p:blipFill>
        <p:spPr>
          <a:xfrm>
            <a:off x="3341964" y="3572398"/>
            <a:ext cx="950267" cy="3241197"/>
          </a:xfrm>
          <a:prstGeom prst="rect">
            <a:avLst/>
          </a:prstGeom>
        </p:spPr>
      </p:pic>
      <p:pic>
        <p:nvPicPr>
          <p:cNvPr id="11" name="Immagine 10" descr="Immagine che contiene tazza, contenitore, vetro, miscelatore&#10;&#10;Descrizione generata automaticamente">
            <a:extLst>
              <a:ext uri="{FF2B5EF4-FFF2-40B4-BE49-F238E27FC236}">
                <a16:creationId xmlns:a16="http://schemas.microsoft.com/office/drawing/2014/main" id="{5C97C18D-C8C1-26D6-1549-AA19862DB10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38" t="16622" r="20507" b="10002"/>
          <a:stretch/>
        </p:blipFill>
        <p:spPr>
          <a:xfrm>
            <a:off x="272605" y="5192997"/>
            <a:ext cx="795120" cy="1490611"/>
          </a:xfrm>
          <a:prstGeom prst="rect">
            <a:avLst/>
          </a:prstGeom>
        </p:spPr>
      </p:pic>
      <p:pic>
        <p:nvPicPr>
          <p:cNvPr id="13" name="Immagine 12" descr="Immagine che contiene interno, bottiglia, sporco&#10;&#10;Descrizione generata automaticamente">
            <a:extLst>
              <a:ext uri="{FF2B5EF4-FFF2-40B4-BE49-F238E27FC236}">
                <a16:creationId xmlns:a16="http://schemas.microsoft.com/office/drawing/2014/main" id="{DE1E4A8F-8F73-5F7E-6547-1A2FEF7D380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3" t="13830" r="7127" b="15368"/>
          <a:stretch/>
        </p:blipFill>
        <p:spPr>
          <a:xfrm>
            <a:off x="1178831" y="4339028"/>
            <a:ext cx="2005009" cy="2404109"/>
          </a:xfrm>
          <a:prstGeom prst="rect">
            <a:avLst/>
          </a:prstGeom>
        </p:spPr>
      </p:pic>
      <p:pic>
        <p:nvPicPr>
          <p:cNvPr id="15" name="Immagine 14" descr="Immagine che contiene disegno al tratto, clipart&#10;&#10;Descrizione generata automaticamente">
            <a:extLst>
              <a:ext uri="{FF2B5EF4-FFF2-40B4-BE49-F238E27FC236}">
                <a16:creationId xmlns:a16="http://schemas.microsoft.com/office/drawing/2014/main" id="{9EBDC2DA-C66B-74D5-2E14-A9E329EA039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4" t="8712" r="6970" b="8342"/>
          <a:stretch/>
        </p:blipFill>
        <p:spPr>
          <a:xfrm>
            <a:off x="6066896" y="2282870"/>
            <a:ext cx="5704869" cy="454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929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3344"/>
            <a:ext cx="10515600" cy="462300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Circle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20</a:t>
            </a:fld>
            <a:endParaRPr lang="it-IT"/>
          </a:p>
        </p:txBody>
      </p:sp>
      <p:pic>
        <p:nvPicPr>
          <p:cNvPr id="8" name="Immagine 7" descr="Immagine che contiene clipart&#10;&#10;Descrizione generata automaticamente">
            <a:extLst>
              <a:ext uri="{FF2B5EF4-FFF2-40B4-BE49-F238E27FC236}">
                <a16:creationId xmlns:a16="http://schemas.microsoft.com/office/drawing/2014/main" id="{D055E307-F96C-438D-5AC1-B2619C8DF7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975" y="1483207"/>
            <a:ext cx="3074083" cy="3074083"/>
          </a:xfrm>
          <a:prstGeom prst="rect">
            <a:avLst/>
          </a:prstGeom>
        </p:spPr>
      </p:pic>
      <p:pic>
        <p:nvPicPr>
          <p:cNvPr id="12" name="Immagine 11" descr="Immagine che contiene diagramma&#10;&#10;Descrizione generata automaticamente">
            <a:extLst>
              <a:ext uri="{FF2B5EF4-FFF2-40B4-BE49-F238E27FC236}">
                <a16:creationId xmlns:a16="http://schemas.microsoft.com/office/drawing/2014/main" id="{B8643260-12F3-4026-C08C-77181F3C3E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552" y="1521629"/>
            <a:ext cx="3100013" cy="2982291"/>
          </a:xfrm>
          <a:prstGeom prst="rect">
            <a:avLst/>
          </a:prstGeom>
        </p:spPr>
      </p:pic>
      <p:pic>
        <p:nvPicPr>
          <p:cNvPr id="14" name="Immagine 13" descr="Immagine che contiene cerchio&#10;&#10;Descrizione generata automaticamente">
            <a:extLst>
              <a:ext uri="{FF2B5EF4-FFF2-40B4-BE49-F238E27FC236}">
                <a16:creationId xmlns:a16="http://schemas.microsoft.com/office/drawing/2014/main" id="{D2B3AF55-3FC8-3CB5-50B4-A87A6C02CDD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0" t="4426" r="4115" b="2966"/>
          <a:stretch/>
        </p:blipFill>
        <p:spPr>
          <a:xfrm>
            <a:off x="298972" y="2890350"/>
            <a:ext cx="2504170" cy="2565779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29995006-E19E-1FAC-3559-F8FD81CAF1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510" y="4998866"/>
            <a:ext cx="1859134" cy="1859134"/>
          </a:xfrm>
          <a:prstGeom prst="rect">
            <a:avLst/>
          </a:prstGeom>
        </p:spPr>
      </p:pic>
      <p:pic>
        <p:nvPicPr>
          <p:cNvPr id="20" name="Immagine 19" descr="Immagine che contiene cupola&#10;&#10;Descrizione generata automaticamente">
            <a:extLst>
              <a:ext uri="{FF2B5EF4-FFF2-40B4-BE49-F238E27FC236}">
                <a16:creationId xmlns:a16="http://schemas.microsoft.com/office/drawing/2014/main" id="{86633F3D-31BF-5227-318F-534DBAC567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823" y="4819656"/>
            <a:ext cx="2217554" cy="2217554"/>
          </a:xfrm>
          <a:prstGeom prst="rect">
            <a:avLst/>
          </a:prstGeom>
        </p:spPr>
      </p:pic>
      <p:pic>
        <p:nvPicPr>
          <p:cNvPr id="22" name="Immagine 21" descr="Immagine che contiene logo&#10;&#10;Descrizione generata automaticamente">
            <a:extLst>
              <a:ext uri="{FF2B5EF4-FFF2-40B4-BE49-F238E27FC236}">
                <a16:creationId xmlns:a16="http://schemas.microsoft.com/office/drawing/2014/main" id="{BA88DBC7-D119-F01E-816A-47ED2DCE9CA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23" t="13418" r="13647" b="12346"/>
          <a:stretch/>
        </p:blipFill>
        <p:spPr>
          <a:xfrm>
            <a:off x="9498690" y="4131422"/>
            <a:ext cx="2693309" cy="272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932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The expressive function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capacity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construct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 </a:t>
            </a:r>
            <a:r>
              <a:rPr lang="it-IT" b="1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addresser</a:t>
            </a:r>
            <a:endParaRPr lang="it-IT" b="1" kern="0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it-IT" kern="0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200" b="1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 The conative</a:t>
            </a:r>
            <a:r>
              <a:rPr lang="it-IT" sz="3200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t-IT" sz="3200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function</a:t>
            </a:r>
            <a:r>
              <a:rPr lang="it-IT" sz="3200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1000" kern="0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capacity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construct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 </a:t>
            </a:r>
            <a:r>
              <a:rPr lang="it-IT" b="1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addressee</a:t>
            </a:r>
            <a:endParaRPr lang="it-IT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2159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it-IT" b="1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sender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actual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source of the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endParaRPr lang="it-IT" kern="0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it-IT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it-IT" b="1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addresser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a text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position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constructs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source: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says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from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it-IT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it-IT" b="1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receiver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actual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destination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endParaRPr lang="it-IT" kern="0" dirty="0">
              <a:solidFill>
                <a:srgbClr val="202124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it-IT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it-IT" b="1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addressee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a text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position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constructs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destination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says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going</a:t>
            </a:r>
            <a:endParaRPr lang="it-IT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64318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5969"/>
            <a:ext cx="10515600" cy="438038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it-IT" sz="1600" b="1" kern="0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it-IT" b="1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it-IT" b="1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b="1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senders</a:t>
            </a:r>
            <a:r>
              <a:rPr lang="it-IT" b="1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share the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addresser</a:t>
            </a:r>
            <a:endParaRPr lang="it-IT" kern="0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it-IT" sz="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it-IT" b="1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it-IT" b="1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b="1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receivers</a:t>
            </a:r>
            <a:r>
              <a:rPr lang="it-IT" b="1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share the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addressee</a:t>
            </a:r>
            <a:endParaRPr lang="it-IT" kern="0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it-IT" sz="2400" kern="0" dirty="0">
              <a:solidFill>
                <a:srgbClr val="202124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it-IT" b="1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One </a:t>
            </a:r>
            <a:r>
              <a:rPr lang="it-IT" b="1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sender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may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produce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several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different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addressers</a:t>
            </a:r>
            <a:endParaRPr lang="it-IT" kern="0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it-IT" sz="800" b="1" kern="0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it-IT" b="1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One </a:t>
            </a:r>
            <a:r>
              <a:rPr lang="it-IT" b="1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receiver</a:t>
            </a:r>
            <a:r>
              <a:rPr lang="it-IT" b="1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may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be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addressed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number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of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different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addressee</a:t>
            </a:r>
            <a:endParaRPr lang="it-IT" kern="0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it-IT" sz="2400" kern="0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it-IT" b="1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Sender</a:t>
            </a:r>
            <a:r>
              <a:rPr lang="it-IT" b="1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it-IT" b="1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receiver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actual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people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it-IT" sz="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it-IT" b="1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Addresser</a:t>
            </a:r>
            <a:r>
              <a:rPr lang="it-IT" b="1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it-IT" b="1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addressee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people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endParaRPr lang="it-IT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64225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The expressive function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capacity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construct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 </a:t>
            </a:r>
            <a:r>
              <a:rPr lang="it-IT" b="1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addresser</a:t>
            </a:r>
            <a:endParaRPr lang="it-IT" b="1" kern="0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it-IT" kern="0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200" b="1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 The conative</a:t>
            </a:r>
            <a:r>
              <a:rPr lang="it-IT" sz="3200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t-IT" sz="3200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function</a:t>
            </a:r>
            <a:r>
              <a:rPr lang="it-IT" sz="3200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1000" kern="0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capacity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construct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 </a:t>
            </a:r>
            <a:r>
              <a:rPr lang="it-IT" b="1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addressee</a:t>
            </a:r>
            <a:endParaRPr lang="it-IT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00599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The expressive function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capacity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construct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 </a:t>
            </a:r>
            <a:r>
              <a:rPr lang="it-IT" b="1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addresser</a:t>
            </a:r>
            <a:endParaRPr lang="it-IT" b="1" kern="0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b="1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 oriented towards the addresser and serving to express feelings or attitudes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en-US" kern="0" dirty="0">
              <a:solidFill>
                <a:srgbClr val="202124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Expression can be conveyed using various linguistic elements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Interjections</a:t>
            </a:r>
            <a:endParaRPr lang="it-IT" kern="0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it-IT" kern="0" dirty="0">
                <a:solidFill>
                  <a:srgbClr val="20212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Using the imperative and </a:t>
            </a:r>
            <a:r>
              <a:rPr lang="it-IT" kern="0" dirty="0" err="1">
                <a:solidFill>
                  <a:srgbClr val="20212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subjunctive</a:t>
            </a:r>
            <a:r>
              <a:rPr lang="it-IT" kern="0" dirty="0">
                <a:solidFill>
                  <a:srgbClr val="20212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moods of </a:t>
            </a:r>
            <a:r>
              <a:rPr lang="it-IT" kern="0" dirty="0" err="1">
                <a:solidFill>
                  <a:srgbClr val="20212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verbs</a:t>
            </a:r>
            <a:endParaRPr lang="it-IT" kern="0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it-IT" kern="0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59950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expressive function</a:t>
            </a:r>
            <a:endParaRPr lang="en-US" sz="4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 fontAlgn="t">
              <a:spcBef>
                <a:spcPts val="0"/>
              </a:spcBef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Examples of the expressive functions are:</a:t>
            </a:r>
          </a:p>
          <a:p>
            <a:pPr marL="0" indent="0" algn="just" fontAlgn="t">
              <a:spcBef>
                <a:spcPts val="0"/>
              </a:spcBef>
              <a:buNone/>
            </a:pPr>
            <a:endParaRPr lang="it-I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fontAlgn="t"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Today I feel happy!</a:t>
            </a:r>
            <a:endParaRPr lang="it-IT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</a:pPr>
            <a:r>
              <a:rPr lang="it-IT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</a:t>
            </a:r>
            <a:r>
              <a:rPr lang="it-IT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beautiful </a:t>
            </a:r>
            <a:r>
              <a:rPr lang="it-IT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sunset</a:t>
            </a:r>
            <a:r>
              <a:rPr lang="it-IT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</a:pPr>
            <a:r>
              <a:rPr lang="en-US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 like to walk on the beach.</a:t>
            </a:r>
            <a:endParaRPr lang="it-IT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</a:pPr>
            <a:r>
              <a:rPr lang="en-US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 am very grateful to my family.</a:t>
            </a:r>
            <a:endParaRPr lang="it-IT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</a:pPr>
            <a:r>
              <a:rPr lang="it-IT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Leave</a:t>
            </a:r>
            <a:r>
              <a:rPr lang="it-IT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 alone!</a:t>
            </a:r>
            <a:endParaRPr lang="it-IT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</a:pPr>
            <a:r>
              <a:rPr lang="en-US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 long are you going to bother me with your impertinent questions?</a:t>
            </a:r>
            <a:endParaRPr lang="it-IT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</a:pPr>
            <a:r>
              <a:rPr lang="en-US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 do not care.</a:t>
            </a:r>
            <a:endParaRPr lang="it-IT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</a:pPr>
            <a:r>
              <a:rPr lang="en-US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Nice to meet you!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it-IT" kern="0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50341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0542"/>
            <a:ext cx="10515600" cy="471580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it-IT" sz="3200" b="1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conative </a:t>
            </a:r>
            <a:r>
              <a:rPr lang="it-IT" sz="3200" b="1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it-IT" sz="3200" b="1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1800" kern="0" dirty="0">
              <a:solidFill>
                <a:srgbClr val="202124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capacity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construct</a:t>
            </a:r>
            <a:r>
              <a:rPr lang="it-IT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it-IT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addressee</a:t>
            </a:r>
            <a:endParaRPr lang="it-IT" kern="0" dirty="0">
              <a:solidFill>
                <a:srgbClr val="202124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refers to those aspects of language which aim to create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 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 certain response in the addressee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We can use different 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linguistic resources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to appeal to the interlocutor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 to call his/her attention 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Verbs are used in the infinitive and imperative mode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r>
              <a:rPr lang="it-IT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Use of interrogative </a:t>
            </a:r>
            <a:r>
              <a:rPr lang="it-IT" sz="24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sentences</a:t>
            </a:r>
            <a:endParaRPr lang="it-IT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r>
              <a:rPr lang="it-IT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Use of </a:t>
            </a:r>
            <a:r>
              <a:rPr lang="it-IT" sz="24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exhortative</a:t>
            </a:r>
            <a:r>
              <a:rPr lang="it-IT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24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sentences</a:t>
            </a:r>
            <a:endParaRPr lang="it-IT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4425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4330"/>
            <a:ext cx="10515600" cy="466202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it-IT" sz="3200" b="1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conative </a:t>
            </a:r>
            <a:r>
              <a:rPr lang="it-IT" sz="3200" b="1" kern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it-IT" sz="3200" b="1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Examples</a:t>
            </a:r>
            <a:r>
              <a:rPr lang="it-IT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it-IT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 you have the book which Bob left you?</a:t>
            </a:r>
            <a:endParaRPr lang="it-IT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Could you close the door to the terrace? It starts to get cold here..</a:t>
            </a:r>
            <a:endParaRPr lang="it-IT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24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Please</a:t>
            </a:r>
            <a:r>
              <a:rPr lang="it-IT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24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behave</a:t>
            </a:r>
            <a:r>
              <a:rPr lang="it-IT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24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yourself</a:t>
            </a:r>
            <a:r>
              <a:rPr lang="it-IT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24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correctly</a:t>
            </a:r>
            <a:r>
              <a:rPr lang="it-IT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Would you like to come with me to Sofia’s birthday party?</a:t>
            </a:r>
            <a:endParaRPr lang="it-IT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 </a:t>
            </a:r>
            <a:r>
              <a:rPr lang="it-IT" sz="24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it-IT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24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now</a:t>
            </a:r>
            <a:r>
              <a:rPr lang="it-IT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  <a:endParaRPr lang="it-IT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Stop </a:t>
            </a:r>
            <a:r>
              <a:rPr lang="it-IT" sz="24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immediately</a:t>
            </a:r>
            <a:r>
              <a:rPr lang="it-IT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  <a:endParaRPr lang="it-IT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 you answer the phone?</a:t>
            </a:r>
            <a:endParaRPr lang="it-IT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Bring us two plates of pasta Bolognese and a bottle of wine, please.</a:t>
            </a:r>
            <a:endParaRPr lang="it-IT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Laura, could you help me with these boxes?</a:t>
            </a:r>
            <a:endParaRPr lang="it-IT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03125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The phatic function 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ways in which a social resource constructs a relationship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between addresser and addressee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bind addresser and addressee together in the act of the exchange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 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of signs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excludes those who are not part of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communication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may bind a group together and give it an immediately recognizable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 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identity, to itself and others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45356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Advertising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 communication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has a specific language structure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contains more than one semiotic resource</a:t>
            </a:r>
            <a:endParaRPr lang="en-US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multimodal</a:t>
            </a:r>
            <a:endParaRPr lang="it-IT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87737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it-IT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31</a:t>
            </a:fld>
            <a:endParaRPr lang="it-IT"/>
          </a:p>
        </p:txBody>
      </p:sp>
      <p:pic>
        <p:nvPicPr>
          <p:cNvPr id="8" name="Immagine 7" descr="Immagine che contiene calendario&#10;&#10;Descrizione generata automaticamente">
            <a:extLst>
              <a:ext uri="{FF2B5EF4-FFF2-40B4-BE49-F238E27FC236}">
                <a16:creationId xmlns:a16="http://schemas.microsoft.com/office/drawing/2014/main" id="{F8D82003-EC02-0089-DD2F-E1D10520F2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557" y="1438836"/>
            <a:ext cx="4129717" cy="5419164"/>
          </a:xfrm>
          <a:prstGeom prst="rect">
            <a:avLst/>
          </a:prstGeom>
        </p:spPr>
      </p:pic>
      <p:pic>
        <p:nvPicPr>
          <p:cNvPr id="10" name="Immagine 9" descr="Immagine che contiene testo&#10;&#10;Descrizione generata automaticamente">
            <a:extLst>
              <a:ext uri="{FF2B5EF4-FFF2-40B4-BE49-F238E27FC236}">
                <a16:creationId xmlns:a16="http://schemas.microsoft.com/office/drawing/2014/main" id="{0C39AD93-DD85-E592-1C9D-0474ACCEE9E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6" t="8478" r="4092" b="8840"/>
          <a:stretch/>
        </p:blipFill>
        <p:spPr>
          <a:xfrm>
            <a:off x="137163" y="1533385"/>
            <a:ext cx="5483586" cy="2165158"/>
          </a:xfrm>
          <a:prstGeom prst="rect">
            <a:avLst/>
          </a:prstGeom>
        </p:spPr>
      </p:pic>
      <p:pic>
        <p:nvPicPr>
          <p:cNvPr id="12" name="Immagine 11" descr="Immagine che contiene testo&#10;&#10;Descrizione generata automaticamente">
            <a:extLst>
              <a:ext uri="{FF2B5EF4-FFF2-40B4-BE49-F238E27FC236}">
                <a16:creationId xmlns:a16="http://schemas.microsoft.com/office/drawing/2014/main" id="{68005E10-C980-74EC-487F-DD57E4536F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29" y="3891777"/>
            <a:ext cx="451485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4339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32</a:t>
            </a:fld>
            <a:endParaRPr lang="it-IT"/>
          </a:p>
        </p:txBody>
      </p:sp>
      <p:pic>
        <p:nvPicPr>
          <p:cNvPr id="8" name="Immagine 7" descr="Immagine che contiene testo&#10;&#10;Descrizione generata automaticamente">
            <a:extLst>
              <a:ext uri="{FF2B5EF4-FFF2-40B4-BE49-F238E27FC236}">
                <a16:creationId xmlns:a16="http://schemas.microsoft.com/office/drawing/2014/main" id="{F50F3BB3-B25B-B1CB-04C3-269C15ED48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199068"/>
            <a:ext cx="3716064" cy="4829315"/>
          </a:xfrm>
          <a:prstGeom prst="rect">
            <a:avLst/>
          </a:prstGeom>
        </p:spPr>
      </p:pic>
      <p:pic>
        <p:nvPicPr>
          <p:cNvPr id="10" name="Immagine 9" descr="Immagine che contiene testo, piatto, zuppa&#10;&#10;Descrizione generata automaticamente">
            <a:extLst>
              <a:ext uri="{FF2B5EF4-FFF2-40B4-BE49-F238E27FC236}">
                <a16:creationId xmlns:a16="http://schemas.microsoft.com/office/drawing/2014/main" id="{DF41F43A-9512-5C28-03D4-EC0588753B0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11" r="23331"/>
          <a:stretch/>
        </p:blipFill>
        <p:spPr>
          <a:xfrm>
            <a:off x="109181" y="1199068"/>
            <a:ext cx="3732941" cy="4055319"/>
          </a:xfrm>
          <a:prstGeom prst="rect">
            <a:avLst/>
          </a:prstGeom>
        </p:spPr>
      </p:pic>
      <p:pic>
        <p:nvPicPr>
          <p:cNvPr id="12" name="Immagine 11" descr="Immagine che contiene testo&#10;&#10;Descrizione generata automaticamente">
            <a:extLst>
              <a:ext uri="{FF2B5EF4-FFF2-40B4-BE49-F238E27FC236}">
                <a16:creationId xmlns:a16="http://schemas.microsoft.com/office/drawing/2014/main" id="{35B9E2BE-C828-266E-AF29-99D6460495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506" y="2368963"/>
            <a:ext cx="4050313" cy="398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4299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33</a:t>
            </a:fld>
            <a:endParaRPr lang="it-IT"/>
          </a:p>
        </p:txBody>
      </p:sp>
      <p:pic>
        <p:nvPicPr>
          <p:cNvPr id="8" name="Immagine 7" descr="Immagine che contiene testo, cibo, snack&#10;&#10;Descrizione generata automaticamente">
            <a:extLst>
              <a:ext uri="{FF2B5EF4-FFF2-40B4-BE49-F238E27FC236}">
                <a16:creationId xmlns:a16="http://schemas.microsoft.com/office/drawing/2014/main" id="{3C3508BA-5AA3-04FA-AE23-2867C22A32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39" y="1438836"/>
            <a:ext cx="4514850" cy="2095500"/>
          </a:xfrm>
          <a:prstGeom prst="rect">
            <a:avLst/>
          </a:prstGeom>
        </p:spPr>
      </p:pic>
      <p:pic>
        <p:nvPicPr>
          <p:cNvPr id="10" name="Immagine 9" descr="Immagine che contiene testo, acqua, spiaggia&#10;&#10;Descrizione generata automaticamente">
            <a:extLst>
              <a:ext uri="{FF2B5EF4-FFF2-40B4-BE49-F238E27FC236}">
                <a16:creationId xmlns:a16="http://schemas.microsoft.com/office/drawing/2014/main" id="{331298FE-495C-314B-4965-0A3A78C21B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628" y="1269799"/>
            <a:ext cx="4114800" cy="5451676"/>
          </a:xfrm>
          <a:prstGeom prst="rect">
            <a:avLst/>
          </a:prstGeom>
        </p:spPr>
      </p:pic>
      <p:pic>
        <p:nvPicPr>
          <p:cNvPr id="12" name="Immagine 11" descr="Immagine che contiene testo, giocatore&#10;&#10;Descrizione generata automaticamente">
            <a:extLst>
              <a:ext uri="{FF2B5EF4-FFF2-40B4-BE49-F238E27FC236}">
                <a16:creationId xmlns:a16="http://schemas.microsoft.com/office/drawing/2014/main" id="{8BAA6391-CAEE-CC07-422F-C1FB7C774F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25" y="3905154"/>
            <a:ext cx="4514850" cy="2495550"/>
          </a:xfrm>
          <a:prstGeom prst="rect">
            <a:avLst/>
          </a:prstGeom>
        </p:spPr>
      </p:pic>
      <p:pic>
        <p:nvPicPr>
          <p:cNvPr id="14" name="Immagine 13" descr="Immagine che contiene testo, interno, calzature, rosso&#10;&#10;Descrizione generata automaticamente">
            <a:extLst>
              <a:ext uri="{FF2B5EF4-FFF2-40B4-BE49-F238E27FC236}">
                <a16:creationId xmlns:a16="http://schemas.microsoft.com/office/drawing/2014/main" id="{FC5FE8E6-0BD0-7A15-0B04-F7E7BB13874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9" r="5776"/>
          <a:stretch/>
        </p:blipFill>
        <p:spPr>
          <a:xfrm>
            <a:off x="9429930" y="2327275"/>
            <a:ext cx="2743200" cy="453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8739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5969"/>
            <a:ext cx="10515600" cy="438038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The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metalingual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function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oriented towards the code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it-IT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suggests the codes by which the semiotic resource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might ne understood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indicates that a sign meaning is far from a given fact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42576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5969"/>
            <a:ext cx="10515600" cy="438038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The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referential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function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provide information about certain topics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it-IT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describes a situation, object or mental state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indicates that a sign meaning is far from a given fact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31999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5969"/>
            <a:ext cx="10515600" cy="438038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The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contextual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function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indicate the context in which the sign or social resources operate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social situation in which a sign or a plurality of signs are used may determine the appropriate content, type of sign and coding, who is being addressed, by whom and how, and the phatic community it constructs</a:t>
            </a:r>
            <a:endParaRPr lang="it-IT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71835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B55790047DD8148ABBA2789AA47C320" ma:contentTypeVersion="9" ma:contentTypeDescription="Creare un nuovo documento." ma:contentTypeScope="" ma:versionID="f5d0184f3c0a15a1e0d0131ea4b30a13">
  <xsd:schema xmlns:xsd="http://www.w3.org/2001/XMLSchema" xmlns:xs="http://www.w3.org/2001/XMLSchema" xmlns:p="http://schemas.microsoft.com/office/2006/metadata/properties" xmlns:ns2="4c1e1bc0-20d7-4915-b349-ec50805d4704" xmlns:ns3="17b4f9ba-5d33-4440-816d-df83934b65a5" targetNamespace="http://schemas.microsoft.com/office/2006/metadata/properties" ma:root="true" ma:fieldsID="7198817151beefd45f5913d772bfde97" ns2:_="" ns3:_="">
    <xsd:import namespace="4c1e1bc0-20d7-4915-b349-ec50805d4704"/>
    <xsd:import namespace="17b4f9ba-5d33-4440-816d-df83934b65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e1bc0-20d7-4915-b349-ec50805d47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Tag immagine" ma:readOnly="false" ma:fieldId="{5cf76f15-5ced-4ddc-b409-7134ff3c332f}" ma:taxonomyMulti="true" ma:sspId="35712a47-566f-4e2f-ac2c-6a691c9ee4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b4f9ba-5d33-4440-816d-df83934b65a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a00fc7f-b5c3-40ce-a31d-e4a375ba7a0b}" ma:internalName="TaxCatchAll" ma:showField="CatchAllData" ma:web="17b4f9ba-5d33-4440-816d-df83934b65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b4f9ba-5d33-4440-816d-df83934b65a5" xsi:nil="true"/>
    <lcf76f155ced4ddcb4097134ff3c332f xmlns="4c1e1bc0-20d7-4915-b349-ec50805d470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6FF3A19-B2B2-4EE1-B9AE-9C580967B813}"/>
</file>

<file path=customXml/itemProps2.xml><?xml version="1.0" encoding="utf-8"?>
<ds:datastoreItem xmlns:ds="http://schemas.openxmlformats.org/officeDocument/2006/customXml" ds:itemID="{312C98F7-D3D1-4B58-AA3D-C02D3C4F13D2}"/>
</file>

<file path=customXml/itemProps3.xml><?xml version="1.0" encoding="utf-8"?>
<ds:datastoreItem xmlns:ds="http://schemas.openxmlformats.org/officeDocument/2006/customXml" ds:itemID="{85A74074-35D1-4DE8-BCC4-FC1AC23E82E5}"/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Words>1365</Words>
  <Application>Microsoft Office PowerPoint</Application>
  <PresentationFormat>Widescreen</PresentationFormat>
  <Paragraphs>342</Paragraphs>
  <Slides>36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36</vt:i4>
      </vt:variant>
    </vt:vector>
  </HeadingPairs>
  <TitlesOfParts>
    <vt:vector size="44" baseType="lpstr">
      <vt:lpstr>Arial</vt:lpstr>
      <vt:lpstr>Britannic Bold</vt:lpstr>
      <vt:lpstr>Calibri</vt:lpstr>
      <vt:lpstr>Calibri Light</vt:lpstr>
      <vt:lpstr>Symbol</vt:lpstr>
      <vt:lpstr>Times New Roman</vt:lpstr>
      <vt:lpstr>Wingdings</vt:lpstr>
      <vt:lpstr>Tema di Office</vt:lpstr>
      <vt:lpstr>UNIVERSITY OF MESSINA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OF MESSINA</dc:title>
  <dc:creator>MARIA RITA BARTOLOMEI</dc:creator>
  <cp:lastModifiedBy>MARIA RITA BARTOLOMEI</cp:lastModifiedBy>
  <cp:revision>24</cp:revision>
  <dcterms:created xsi:type="dcterms:W3CDTF">2023-04-30T16:20:26Z</dcterms:created>
  <dcterms:modified xsi:type="dcterms:W3CDTF">2023-05-04T15:11:29Z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0x010100FB55790047DD8148ABBA2789AA47C320</vt:lpwstr>
  </property>
</Properties>
</file>